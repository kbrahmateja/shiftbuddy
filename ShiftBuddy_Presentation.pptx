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3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4915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ShiftBuddy — a purpose-built shift operations platform that replaces Excel sheets, email chains, and Slack threads with one structured, role-aware workspace.
Today we'll walk through every module: what it does, who uses it, and how it improves on the status quo.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ShiftBuddy, distributed support teams managed shifts across three broken tools: Excel for rosters, email for handovers, and Slack for incident updates.
The result: version confusion, missed escalations, and zero management visibility.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ShiftBuddy organizes operations into 8 tightly integrated modules. Every module is role-aware — contractors see their own shift, leads see the full team, managers and client stakeholders get analytics and cross-project visibility.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the first screen every team member sees at login.
1 Sidebar — navigation, active project indicator, and logged-in user context at the bottom.
2 Dual Timezone — live clock showing both Chicago and PST so offshore and onshore are always aligned.
3 Role Badge — shows the user's current role (Contractor, Lead, Manager) so they know what they can see and do.
4 Quick Actions — one-click shortcuts to the most common tasks. Red badge on Handover means a submission is due.
5 Stat Cards — live counts: total logs, unresolved items, pending validation, and swap requests. Color-coded by urgency.
6 Shift Handover Protocol — shows the incoming handover from the previous shift lead, with an Acknowledge button.
7 Shift Swap Requests — pending swap cards with Approve / Reject controls.
8 All Updates / Team Roster — tabbed feed of all shift logs, with a Team Roster view showing current attendance.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 Update form replaces the informal "dropped a note in Slack" approach to incident logging.
Every log is structured: source, severity, project, timeline (incident time, acknowledgement, resolution), and linked ticket IDs. The Blocking Dependency checkbox flags items that are actively blocking other teams or delivery milestones — these surface immediately on the lead's dashboard.
All logs feed into the Daily Feed and Analytics pages automatically.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Feed is a unified incident log aggregating signals from PagerDuty, ServiceNow, Slack, and Microsoft Teams into one chronological view.
1 Source Filter — pills at the top show count per source. Click any to filter.
2 Severity Filter — toggle P1/P2/P3 to narrow by urgency.
3 Incident Cards — each card shows full context: ID, title, source system, severity, timestamp, tags, linked ticket, and real-time status.
5 Status Badge — shows Escalated to Corp, In Progress, Blocking, or Resolved. Updated in real time.
6 Tags + Tickets — structured #tags and clickable ServiceNow / PagerDuty ticket links for one-click navigation.
This replaces the chaotic Slack channel where P1 alerts would often be missed during shift handover.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 Hub is real-time handover coordination for Shift Leads.
1 Tab Bar — switch between Handovers (who submitted, who acknowledged) and Live Shifts (who is online right now).
2 Compile Handover button — the lead uses this to compile all team updates into the outgoing handover note.
3 Today's Shift Cycle — a visual timeline of S3→S1, S1→S2, and S2→S3 transitions. Green = done, clock = upcoming.
4/5 Cycle Nodes — clicking a node shows the handover detail for that shift bracket.
6 Live Shifts Stats — at-a-glance: how many are on shift, how many are active, who is starting soon.
7 Member Cards — each card shows a team member's logs, open items, and KT progress for this shift.
8 KT Progress Bar — tracks Knowledge Transfer completion across the entire team.
This single screen replaces the email threads where leads used to forward handover summaries and wait for acknowledgement replies.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Analytics page gives managers and client stakeholders a period-based view into operational health — something that was previously available only as a manual monthly Excel report.
1 Period Tabs — Daily, Weekly, Monthly, Quarterly, Half-Yearly, Yearly. One click to switch.
2 Date Picker — select any custom date range.
3 Export CSV — download all data for leadership reporting.
4 Top KPIs — Total Logs (52), Resolved (47), Resolution Rate (91%), SLA Compliance (96%).
5 Bottom KPIs — P1 Incidents (3), P2 Incidents (8), Average Resolution Time (3.1h), Handover Ack Rate (95%).
7/8 Charts — Logs by Source and by Severity, showing which integrations and which priority levels dominate.
9 Project Breakdown table — SLA rate per project with a progress bar, so management can see which project needs attention.
For the first time, leadership can answer "Did we meet SLA this week?" in under 10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Diary replaces the informal "end-of-shift email" that leads and contractors used to send at shift change.
Every diary entry is structured: incidents logged with source + severity + ticket links, KT progress slider, KTLO task completion, new tasks created, and a blockers section specifically for the incoming shift.
The Save Draft feature lets contractors build the diary throughout the shift, not just at the end.
Submit to Lead delivers the completed diary to the shift lead, who sees it in the Shift Hub compilation 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Roster Planner is the visual shift calendar that replaces the shared Excel roster.
1 View Tabs — Calendar (visual), Manage Shifts (edit assignments), and Live Shifts (who is active right now).
2 Project Tabs — switch between all projects instantly. Each project has its own roster.
3 Active Count — shows how many staff are on shift right now, pulled from clock-in data.
5 Holiday Overlays — India and US public holidays are overlaid on the calendar in amber, so managers immediately see staffing gaps on holiday weeks.
8 Roster Cells — each day-shift cell shows the assigned member's name and shift bracket (MORNING/AFTERNOON/NIGHT).
9 On-Call Indicator — a red dot marks who is on-call for escalations that shift.
This replaces the Excel roster that required manual copy-paste every week and often had stale or conflicting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PT Coverage page is the accountability grid that Corp leadership uses to verify that every project-shift combination has a named YCI SPOC and a named Corp SME.
Each project is listed as a section, with three rows for S1 (Morning), S2 (Afternoon), and S3 (Night). Each row shows the YCI SPOC's name and email on the left, and the Corp SME on the right.
A "Not assigned" in the Client SME column is an immediate action item for the account manager — it means a shift has no Corp contact, which is a governance gap.
This matrix was previously maintained as a separate Excel tab that was always out of date. Now it's updated automatically whenever roster assignments change.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shows the before-and-after across every key capability.
The pattern is consistent: Excel and email require manual effort, produce stale data, and leave accountability gaps. ShiftBuddy automates the structure, surfaces data in real time, and creates an audit trail automatically.
The goal is not to replace people — it's to give them a tool that matches the complexity and speed of the work they're already doing.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next steps to get ShiftBuddy live.
Step 1 Pilot — we recommend Discovery &amp; Profiles as the first project: it has the largest team and the most active shift cycle.
Step 2 Roles — user accounts can be imported from Active Directory or created manually. Role assignment takes under an hour.
Step 3 Migration — the Excel roster imports in under an hour. SNOW incidents can be bulk-loaded via CSV to populate historical Analytics.
Step 4 Baseline — the first real leadership deliverable: a side-by-side comparison of ShiftBuddy analytics vs last month's manual Excel report.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39"/>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4F46E5"/>
          </a:solidFill>
          <a:ln w="12700">
            <a:solidFill>
              <a:srgbClr val="4F46E5"/>
            </a:solidFill>
            <a:prstDash val="solid"/>
          </a:ln>
        </p:spPr>
        <p:txBody>
          <a:bodyPr/>
          <a:lstStyle/>
          <a:p>
            <a:endParaRPr lang="en-US"/>
          </a:p>
        </p:txBody>
      </p:sp>
      <p:sp>
        <p:nvSpPr>
          <p:cNvPr id="3" name="Shape 1"/>
          <p:cNvSpPr/>
          <p:nvPr/>
        </p:nvSpPr>
        <p:spPr>
          <a:xfrm>
            <a:off x="6217920" y="-1097280"/>
            <a:ext cx="4114800" cy="4114800"/>
          </a:xfrm>
          <a:prstGeom prst="ellipse">
            <a:avLst/>
          </a:prstGeom>
          <a:solidFill>
            <a:srgbClr val="162840"/>
          </a:solidFill>
          <a:ln w="12700">
            <a:solidFill>
              <a:srgbClr val="162840"/>
            </a:solidFill>
            <a:prstDash val="solid"/>
          </a:ln>
        </p:spPr>
        <p:txBody>
          <a:bodyPr/>
          <a:lstStyle/>
          <a:p>
            <a:endParaRPr lang="en-US"/>
          </a:p>
        </p:txBody>
      </p:sp>
      <p:sp>
        <p:nvSpPr>
          <p:cNvPr id="4" name="Shape 2"/>
          <p:cNvSpPr/>
          <p:nvPr/>
        </p:nvSpPr>
        <p:spPr>
          <a:xfrm>
            <a:off x="7132320" y="2926080"/>
            <a:ext cx="2286000" cy="2286000"/>
          </a:xfrm>
          <a:prstGeom prst="ellipse">
            <a:avLst/>
          </a:prstGeom>
          <a:solidFill>
            <a:srgbClr val="111E2F"/>
          </a:solidFill>
          <a:ln w="12700">
            <a:solidFill>
              <a:srgbClr val="111E2F"/>
            </a:solidFill>
            <a:prstDash val="solid"/>
          </a:ln>
        </p:spPr>
        <p:txBody>
          <a:bodyPr/>
          <a:lstStyle/>
          <a:p>
            <a:endParaRPr lang="en-US"/>
          </a:p>
        </p:txBody>
      </p:sp>
      <p:sp>
        <p:nvSpPr>
          <p:cNvPr id="5" name="Text 3"/>
          <p:cNvSpPr/>
          <p:nvPr/>
        </p:nvSpPr>
        <p:spPr>
          <a:xfrm>
            <a:off x="365760" y="502920"/>
            <a:ext cx="640080" cy="640080"/>
          </a:xfrm>
          <a:prstGeom prst="rect">
            <a:avLst/>
          </a:prstGeom>
          <a:solidFill>
            <a:srgbClr val="4F46E5"/>
          </a:solidFill>
          <a:ln/>
        </p:spPr>
        <p:txBody>
          <a:bodyPr wrap="square" rtlCol="0" anchor="ctr"/>
          <a:lstStyle/>
          <a:p>
            <a:pPr marL="0" indent="0" algn="ctr">
              <a:buNone/>
            </a:pPr>
            <a:r>
              <a:rPr lang="en-US" sz="2000" b="1" dirty="0">
                <a:solidFill>
                  <a:srgbClr val="FFFFFF"/>
                </a:solidFill>
              </a:rPr>
              <a:t>SB</a:t>
            </a:r>
            <a:endParaRPr lang="en-US" sz="2000" dirty="0"/>
          </a:p>
        </p:txBody>
      </p:sp>
      <p:sp>
        <p:nvSpPr>
          <p:cNvPr id="6" name="Text 4"/>
          <p:cNvSpPr/>
          <p:nvPr/>
        </p:nvSpPr>
        <p:spPr>
          <a:xfrm>
            <a:off x="320040" y="1234440"/>
            <a:ext cx="6400800" cy="1005840"/>
          </a:xfrm>
          <a:prstGeom prst="rect">
            <a:avLst/>
          </a:prstGeom>
          <a:noFill/>
          <a:ln/>
        </p:spPr>
        <p:txBody>
          <a:bodyPr wrap="square"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ShiftBuddy</a:t>
            </a:r>
            <a:endParaRPr lang="en-US" sz="5600" dirty="0"/>
          </a:p>
        </p:txBody>
      </p:sp>
      <p:sp>
        <p:nvSpPr>
          <p:cNvPr id="7" name="Text 5"/>
          <p:cNvSpPr/>
          <p:nvPr/>
        </p:nvSpPr>
        <p:spPr>
          <a:xfrm>
            <a:off x="320040" y="2240280"/>
            <a:ext cx="6400800" cy="457200"/>
          </a:xfrm>
          <a:prstGeom prst="rect">
            <a:avLst/>
          </a:prstGeom>
          <a:noFill/>
          <a:ln/>
        </p:spPr>
        <p:txBody>
          <a:bodyPr wrap="square" rtlCol="0" anchor="ctr"/>
          <a:lstStyle/>
          <a:p>
            <a:pPr marL="0" indent="0">
              <a:buNone/>
            </a:pPr>
            <a:r>
              <a:rPr lang="en-US" sz="1900" dirty="0">
                <a:solidFill>
                  <a:srgbClr val="93C5FD"/>
                </a:solidFill>
                <a:latin typeface="Calibri" pitchFamily="34" charset="0"/>
                <a:ea typeface="Calibri" pitchFamily="34" charset="-122"/>
                <a:cs typeface="Calibri" pitchFamily="34" charset="-120"/>
              </a:rPr>
              <a:t>Modern Shift Operations Platform</a:t>
            </a:r>
            <a:endParaRPr lang="en-US" sz="1900" dirty="0"/>
          </a:p>
        </p:txBody>
      </p:sp>
      <p:sp>
        <p:nvSpPr>
          <p:cNvPr id="8" name="Text 6"/>
          <p:cNvSpPr/>
          <p:nvPr/>
        </p:nvSpPr>
        <p:spPr>
          <a:xfrm>
            <a:off x="320040" y="2697480"/>
            <a:ext cx="6400800" cy="365760"/>
          </a:xfrm>
          <a:prstGeom prst="rect">
            <a:avLst/>
          </a:prstGeom>
          <a:noFill/>
          <a:ln/>
        </p:spPr>
        <p:txBody>
          <a:bodyPr wrap="square" rtlCol="0" anchor="ctr"/>
          <a:lstStyle/>
          <a:p>
            <a:pPr marL="0" indent="0">
              <a:buNone/>
            </a:pPr>
            <a:r>
              <a:rPr lang="en-US" sz="1300" i="1" dirty="0">
                <a:solidFill>
                  <a:srgbClr val="94A3B8"/>
                </a:solidFill>
              </a:rPr>
              <a:t>Built for Distributed Support Teams — Corp x YCI</a:t>
            </a:r>
            <a:endParaRPr lang="en-US" sz="1300" dirty="0"/>
          </a:p>
        </p:txBody>
      </p:sp>
      <p:sp>
        <p:nvSpPr>
          <p:cNvPr id="9" name="Shape 7"/>
          <p:cNvSpPr/>
          <p:nvPr/>
        </p:nvSpPr>
        <p:spPr>
          <a:xfrm>
            <a:off x="320040" y="3154680"/>
            <a:ext cx="5486400" cy="0"/>
          </a:xfrm>
          <a:prstGeom prst="line">
            <a:avLst/>
          </a:prstGeom>
          <a:noFill/>
          <a:ln w="25400">
            <a:solidFill>
              <a:srgbClr val="4F46E5"/>
            </a:solidFill>
            <a:prstDash val="solid"/>
          </a:ln>
        </p:spPr>
        <p:txBody>
          <a:bodyPr/>
          <a:lstStyle/>
          <a:p>
            <a:endParaRPr lang="en-US"/>
          </a:p>
        </p:txBody>
      </p:sp>
      <p:sp>
        <p:nvSpPr>
          <p:cNvPr id="10" name="Text 8"/>
          <p:cNvSpPr/>
          <p:nvPr/>
        </p:nvSpPr>
        <p:spPr>
          <a:xfrm>
            <a:off x="320040" y="3246120"/>
            <a:ext cx="5486400" cy="320040"/>
          </a:xfrm>
          <a:prstGeom prst="rect">
            <a:avLst/>
          </a:prstGeom>
          <a:noFill/>
          <a:ln/>
        </p:spPr>
        <p:txBody>
          <a:bodyPr wrap="square" rtlCol="0" anchor="ctr"/>
          <a:lstStyle/>
          <a:p>
            <a:pPr marL="0" indent="0">
              <a:buNone/>
            </a:pPr>
            <a:r>
              <a:rPr lang="en-US" sz="1200" dirty="0">
                <a:solidFill>
                  <a:srgbClr val="94A3B8"/>
                </a:solidFill>
              </a:rPr>
              <a:t>Management &amp; Leadership Briefing</a:t>
            </a:r>
            <a:endParaRPr lang="en-US" sz="1200" dirty="0"/>
          </a:p>
        </p:txBody>
      </p:sp>
      <p:sp>
        <p:nvSpPr>
          <p:cNvPr id="11" name="Shape 9"/>
          <p:cNvSpPr/>
          <p:nvPr/>
        </p:nvSpPr>
        <p:spPr>
          <a:xfrm>
            <a:off x="320040" y="3749040"/>
            <a:ext cx="2651760" cy="402336"/>
          </a:xfrm>
          <a:prstGeom prst="roundRect">
            <a:avLst/>
          </a:prstGeom>
          <a:solidFill>
            <a:srgbClr val="1A2E4A"/>
          </a:solidFill>
          <a:ln w="12700">
            <a:solidFill>
              <a:srgbClr val="3730A3"/>
            </a:solidFill>
            <a:prstDash val="solid"/>
          </a:ln>
        </p:spPr>
        <p:txBody>
          <a:bodyPr/>
          <a:lstStyle/>
          <a:p>
            <a:endParaRPr lang="en-US"/>
          </a:p>
        </p:txBody>
      </p:sp>
      <p:sp>
        <p:nvSpPr>
          <p:cNvPr id="12" name="Text 10"/>
          <p:cNvSpPr/>
          <p:nvPr/>
        </p:nvSpPr>
        <p:spPr>
          <a:xfrm>
            <a:off x="320040" y="3767328"/>
            <a:ext cx="2651760" cy="365760"/>
          </a:xfrm>
          <a:prstGeom prst="rect">
            <a:avLst/>
          </a:prstGeom>
          <a:noFill/>
          <a:ln/>
        </p:spPr>
        <p:txBody>
          <a:bodyPr wrap="square" rtlCol="0" anchor="ctr"/>
          <a:lstStyle/>
          <a:p>
            <a:pPr marL="0" indent="0" algn="ctr">
              <a:buNone/>
            </a:pPr>
            <a:r>
              <a:rPr lang="en-US" sz="1000" dirty="0">
                <a:solidFill>
                  <a:srgbClr val="FFFFFF"/>
                </a:solidFill>
              </a:rPr>
              <a:t>Shift Handover</a:t>
            </a:r>
            <a:endParaRPr lang="en-US" sz="1000" dirty="0"/>
          </a:p>
        </p:txBody>
      </p:sp>
      <p:sp>
        <p:nvSpPr>
          <p:cNvPr id="13" name="Shape 11"/>
          <p:cNvSpPr/>
          <p:nvPr/>
        </p:nvSpPr>
        <p:spPr>
          <a:xfrm>
            <a:off x="3154680" y="3749040"/>
            <a:ext cx="2651760" cy="402336"/>
          </a:xfrm>
          <a:prstGeom prst="roundRect">
            <a:avLst/>
          </a:prstGeom>
          <a:solidFill>
            <a:srgbClr val="1A2E4A"/>
          </a:solidFill>
          <a:ln w="12700">
            <a:solidFill>
              <a:srgbClr val="3730A3"/>
            </a:solidFill>
            <a:prstDash val="solid"/>
          </a:ln>
        </p:spPr>
        <p:txBody>
          <a:bodyPr/>
          <a:lstStyle/>
          <a:p>
            <a:endParaRPr lang="en-US"/>
          </a:p>
        </p:txBody>
      </p:sp>
      <p:sp>
        <p:nvSpPr>
          <p:cNvPr id="14" name="Text 12"/>
          <p:cNvSpPr/>
          <p:nvPr/>
        </p:nvSpPr>
        <p:spPr>
          <a:xfrm>
            <a:off x="3154680" y="3767328"/>
            <a:ext cx="2651760" cy="365760"/>
          </a:xfrm>
          <a:prstGeom prst="rect">
            <a:avLst/>
          </a:prstGeom>
          <a:noFill/>
          <a:ln/>
        </p:spPr>
        <p:txBody>
          <a:bodyPr wrap="square" rtlCol="0" anchor="ctr"/>
          <a:lstStyle/>
          <a:p>
            <a:pPr marL="0" indent="0" algn="ctr">
              <a:buNone/>
            </a:pPr>
            <a:r>
              <a:rPr lang="en-US" sz="1000" dirty="0">
                <a:solidFill>
                  <a:srgbClr val="FFFFFF"/>
                </a:solidFill>
              </a:rPr>
              <a:t>Incident Log</a:t>
            </a:r>
            <a:endParaRPr lang="en-US" sz="1000" dirty="0"/>
          </a:p>
        </p:txBody>
      </p:sp>
      <p:sp>
        <p:nvSpPr>
          <p:cNvPr id="15" name="Shape 13"/>
          <p:cNvSpPr/>
          <p:nvPr/>
        </p:nvSpPr>
        <p:spPr>
          <a:xfrm>
            <a:off x="5989320" y="3749040"/>
            <a:ext cx="2651760" cy="402336"/>
          </a:xfrm>
          <a:prstGeom prst="roundRect">
            <a:avLst/>
          </a:prstGeom>
          <a:solidFill>
            <a:srgbClr val="1A2E4A"/>
          </a:solidFill>
          <a:ln w="12700">
            <a:solidFill>
              <a:srgbClr val="3730A3"/>
            </a:solidFill>
            <a:prstDash val="solid"/>
          </a:ln>
        </p:spPr>
        <p:txBody>
          <a:bodyPr/>
          <a:lstStyle/>
          <a:p>
            <a:endParaRPr lang="en-US"/>
          </a:p>
        </p:txBody>
      </p:sp>
      <p:sp>
        <p:nvSpPr>
          <p:cNvPr id="16" name="Text 14"/>
          <p:cNvSpPr/>
          <p:nvPr/>
        </p:nvSpPr>
        <p:spPr>
          <a:xfrm>
            <a:off x="5989320" y="3767328"/>
            <a:ext cx="2651760" cy="365760"/>
          </a:xfrm>
          <a:prstGeom prst="rect">
            <a:avLst/>
          </a:prstGeom>
          <a:noFill/>
          <a:ln/>
        </p:spPr>
        <p:txBody>
          <a:bodyPr wrap="square" rtlCol="0" anchor="ctr"/>
          <a:lstStyle/>
          <a:p>
            <a:pPr marL="0" indent="0" algn="ctr">
              <a:buNone/>
            </a:pPr>
            <a:r>
              <a:rPr lang="en-US" sz="1000" dirty="0">
                <a:solidFill>
                  <a:srgbClr val="FFFFFF"/>
                </a:solidFill>
              </a:rPr>
              <a:t>Analytics</a:t>
            </a:r>
            <a:endParaRPr lang="en-US" sz="1000" dirty="0"/>
          </a:p>
        </p:txBody>
      </p:sp>
      <p:sp>
        <p:nvSpPr>
          <p:cNvPr id="17" name="Shape 15"/>
          <p:cNvSpPr/>
          <p:nvPr/>
        </p:nvSpPr>
        <p:spPr>
          <a:xfrm>
            <a:off x="320040" y="4297680"/>
            <a:ext cx="2651760" cy="402336"/>
          </a:xfrm>
          <a:prstGeom prst="roundRect">
            <a:avLst/>
          </a:prstGeom>
          <a:solidFill>
            <a:srgbClr val="1A2E4A"/>
          </a:solidFill>
          <a:ln w="12700">
            <a:solidFill>
              <a:srgbClr val="3730A3"/>
            </a:solidFill>
            <a:prstDash val="solid"/>
          </a:ln>
        </p:spPr>
        <p:txBody>
          <a:bodyPr/>
          <a:lstStyle/>
          <a:p>
            <a:endParaRPr lang="en-US"/>
          </a:p>
        </p:txBody>
      </p:sp>
      <p:sp>
        <p:nvSpPr>
          <p:cNvPr id="18" name="Text 16"/>
          <p:cNvSpPr/>
          <p:nvPr/>
        </p:nvSpPr>
        <p:spPr>
          <a:xfrm>
            <a:off x="320040" y="4315968"/>
            <a:ext cx="2651760" cy="365760"/>
          </a:xfrm>
          <a:prstGeom prst="rect">
            <a:avLst/>
          </a:prstGeom>
          <a:noFill/>
          <a:ln/>
        </p:spPr>
        <p:txBody>
          <a:bodyPr wrap="square" rtlCol="0" anchor="ctr"/>
          <a:lstStyle/>
          <a:p>
            <a:pPr marL="0" indent="0" algn="ctr">
              <a:buNone/>
            </a:pPr>
            <a:r>
              <a:rPr lang="en-US" sz="1000" dirty="0">
                <a:solidFill>
                  <a:srgbClr val="FFFFFF"/>
                </a:solidFill>
              </a:rPr>
              <a:t>Roster Planner</a:t>
            </a:r>
            <a:endParaRPr lang="en-US" sz="1000" dirty="0"/>
          </a:p>
        </p:txBody>
      </p:sp>
      <p:sp>
        <p:nvSpPr>
          <p:cNvPr id="19" name="Shape 17"/>
          <p:cNvSpPr/>
          <p:nvPr/>
        </p:nvSpPr>
        <p:spPr>
          <a:xfrm>
            <a:off x="3154680" y="4297680"/>
            <a:ext cx="2651760" cy="402336"/>
          </a:xfrm>
          <a:prstGeom prst="roundRect">
            <a:avLst/>
          </a:prstGeom>
          <a:solidFill>
            <a:srgbClr val="1A2E4A"/>
          </a:solidFill>
          <a:ln w="12700">
            <a:solidFill>
              <a:srgbClr val="3730A3"/>
            </a:solidFill>
            <a:prstDash val="solid"/>
          </a:ln>
        </p:spPr>
        <p:txBody>
          <a:bodyPr/>
          <a:lstStyle/>
          <a:p>
            <a:endParaRPr lang="en-US"/>
          </a:p>
        </p:txBody>
      </p:sp>
      <p:sp>
        <p:nvSpPr>
          <p:cNvPr id="20" name="Text 18"/>
          <p:cNvSpPr/>
          <p:nvPr/>
        </p:nvSpPr>
        <p:spPr>
          <a:xfrm>
            <a:off x="3154680" y="4315968"/>
            <a:ext cx="2651760" cy="365760"/>
          </a:xfrm>
          <a:prstGeom prst="rect">
            <a:avLst/>
          </a:prstGeom>
          <a:noFill/>
          <a:ln/>
        </p:spPr>
        <p:txBody>
          <a:bodyPr wrap="square" rtlCol="0" anchor="ctr"/>
          <a:lstStyle/>
          <a:p>
            <a:pPr marL="0" indent="0" algn="ctr">
              <a:buNone/>
            </a:pPr>
            <a:r>
              <a:rPr lang="en-US" sz="1000" dirty="0">
                <a:solidFill>
                  <a:srgbClr val="FFFFFF"/>
                </a:solidFill>
              </a:rPr>
              <a:t>Daily Diary</a:t>
            </a:r>
            <a:endParaRPr lang="en-US" sz="1000" dirty="0"/>
          </a:p>
        </p:txBody>
      </p:sp>
      <p:sp>
        <p:nvSpPr>
          <p:cNvPr id="21" name="Shape 19"/>
          <p:cNvSpPr/>
          <p:nvPr/>
        </p:nvSpPr>
        <p:spPr>
          <a:xfrm>
            <a:off x="5989320" y="4297680"/>
            <a:ext cx="2651760" cy="402336"/>
          </a:xfrm>
          <a:prstGeom prst="roundRect">
            <a:avLst/>
          </a:prstGeom>
          <a:solidFill>
            <a:srgbClr val="1A2E4A"/>
          </a:solidFill>
          <a:ln w="12700">
            <a:solidFill>
              <a:srgbClr val="3730A3"/>
            </a:solidFill>
            <a:prstDash val="solid"/>
          </a:ln>
        </p:spPr>
        <p:txBody>
          <a:bodyPr/>
          <a:lstStyle/>
          <a:p>
            <a:endParaRPr lang="en-US"/>
          </a:p>
        </p:txBody>
      </p:sp>
      <p:sp>
        <p:nvSpPr>
          <p:cNvPr id="22" name="Text 20"/>
          <p:cNvSpPr/>
          <p:nvPr/>
        </p:nvSpPr>
        <p:spPr>
          <a:xfrm>
            <a:off x="5989320" y="4315968"/>
            <a:ext cx="2651760" cy="365760"/>
          </a:xfrm>
          <a:prstGeom prst="rect">
            <a:avLst/>
          </a:prstGeom>
          <a:noFill/>
          <a:ln/>
        </p:spPr>
        <p:txBody>
          <a:bodyPr wrap="square" rtlCol="0" anchor="ctr"/>
          <a:lstStyle/>
          <a:p>
            <a:pPr marL="0" indent="0" algn="ctr">
              <a:buNone/>
            </a:pPr>
            <a:r>
              <a:rPr lang="en-US" sz="1000" dirty="0">
                <a:solidFill>
                  <a:srgbClr val="FFFFFF"/>
                </a:solidFill>
              </a:rPr>
              <a:t>Coverage Matrix</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64008"/>
            <a:ext cx="6400800" cy="310896"/>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The Problem with Excel-Based Shift Management</a:t>
            </a:r>
            <a:endParaRPr lang="en-US" sz="1800" dirty="0"/>
          </a:p>
        </p:txBody>
      </p:sp>
      <p:sp>
        <p:nvSpPr>
          <p:cNvPr id="4" name="Shape 2"/>
          <p:cNvSpPr/>
          <p:nvPr/>
        </p:nvSpPr>
        <p:spPr>
          <a:xfrm>
            <a:off x="274320" y="685800"/>
            <a:ext cx="2834640" cy="3931920"/>
          </a:xfrm>
          <a:prstGeom prst="roundRect">
            <a:avLst/>
          </a:prstGeom>
          <a:solidFill>
            <a:srgbClr val="F8FAFC"/>
          </a:solidFill>
          <a:ln w="12700">
            <a:solidFill>
              <a:srgbClr val="E2E8F0"/>
            </a:solidFill>
            <a:prstDash val="solid"/>
          </a:ln>
        </p:spPr>
        <p:txBody>
          <a:bodyPr/>
          <a:lstStyle/>
          <a:p>
            <a:endParaRPr lang="en-US"/>
          </a:p>
        </p:txBody>
      </p:sp>
      <p:sp>
        <p:nvSpPr>
          <p:cNvPr id="5" name="Shape 3"/>
          <p:cNvSpPr/>
          <p:nvPr/>
        </p:nvSpPr>
        <p:spPr>
          <a:xfrm>
            <a:off x="274320" y="685800"/>
            <a:ext cx="2834640" cy="640080"/>
          </a:xfrm>
          <a:prstGeom prst="roundRect">
            <a:avLst/>
          </a:prstGeom>
          <a:solidFill>
            <a:srgbClr val="DC2626"/>
          </a:solidFill>
          <a:ln w="12700">
            <a:solidFill>
              <a:srgbClr val="DC2626"/>
            </a:solidFill>
            <a:prstDash val="solid"/>
          </a:ln>
        </p:spPr>
        <p:txBody>
          <a:bodyPr/>
          <a:lstStyle/>
          <a:p>
            <a:endParaRPr lang="en-US"/>
          </a:p>
        </p:txBody>
      </p:sp>
      <p:sp>
        <p:nvSpPr>
          <p:cNvPr id="6" name="Shape 4"/>
          <p:cNvSpPr/>
          <p:nvPr/>
        </p:nvSpPr>
        <p:spPr>
          <a:xfrm>
            <a:off x="274320" y="1005840"/>
            <a:ext cx="2834640" cy="320040"/>
          </a:xfrm>
          <a:prstGeom prst="rect">
            <a:avLst/>
          </a:prstGeom>
          <a:solidFill>
            <a:srgbClr val="DC2626"/>
          </a:solidFill>
          <a:ln w="12700">
            <a:solidFill>
              <a:srgbClr val="DC2626"/>
            </a:solidFill>
            <a:prstDash val="solid"/>
          </a:ln>
        </p:spPr>
        <p:txBody>
          <a:bodyPr/>
          <a:lstStyle/>
          <a:p>
            <a:endParaRPr lang="en-US"/>
          </a:p>
        </p:txBody>
      </p:sp>
      <p:sp>
        <p:nvSpPr>
          <p:cNvPr id="7" name="Text 5"/>
          <p:cNvSpPr/>
          <p:nvPr/>
        </p:nvSpPr>
        <p:spPr>
          <a:xfrm>
            <a:off x="274320" y="749808"/>
            <a:ext cx="2834640" cy="502920"/>
          </a:xfrm>
          <a:prstGeom prst="rect">
            <a:avLst/>
          </a:prstGeom>
          <a:noFill/>
          <a:ln/>
        </p:spPr>
        <p:txBody>
          <a:bodyPr wrap="square" rtlCol="0" anchor="ctr"/>
          <a:lstStyle/>
          <a:p>
            <a:pPr marL="0" indent="0" algn="ctr">
              <a:buNone/>
            </a:pPr>
            <a:r>
              <a:rPr lang="en-US" sz="1300" b="1" dirty="0">
                <a:solidFill>
                  <a:srgbClr val="FFFFFF"/>
                </a:solidFill>
              </a:rPr>
              <a:t>Excel Sprawl</a:t>
            </a:r>
            <a:endParaRPr lang="en-US" sz="1300" dirty="0"/>
          </a:p>
        </p:txBody>
      </p:sp>
      <p:sp>
        <p:nvSpPr>
          <p:cNvPr id="8" name="Shape 6"/>
          <p:cNvSpPr/>
          <p:nvPr/>
        </p:nvSpPr>
        <p:spPr>
          <a:xfrm>
            <a:off x="438912" y="1426464"/>
            <a:ext cx="109728" cy="109728"/>
          </a:xfrm>
          <a:prstGeom prst="ellipse">
            <a:avLst/>
          </a:prstGeom>
          <a:solidFill>
            <a:srgbClr val="DC2626"/>
          </a:solidFill>
          <a:ln w="12700">
            <a:solidFill>
              <a:srgbClr val="DC2626"/>
            </a:solidFill>
            <a:prstDash val="solid"/>
          </a:ln>
        </p:spPr>
        <p:txBody>
          <a:bodyPr/>
          <a:lstStyle/>
          <a:p>
            <a:endParaRPr lang="en-US"/>
          </a:p>
        </p:txBody>
      </p:sp>
      <p:sp>
        <p:nvSpPr>
          <p:cNvPr id="9" name="Text 7"/>
          <p:cNvSpPr/>
          <p:nvPr/>
        </p:nvSpPr>
        <p:spPr>
          <a:xfrm>
            <a:off x="621792" y="1371600"/>
            <a:ext cx="2377440" cy="475488"/>
          </a:xfrm>
          <a:prstGeom prst="rect">
            <a:avLst/>
          </a:prstGeom>
          <a:noFill/>
          <a:ln/>
        </p:spPr>
        <p:txBody>
          <a:bodyPr wrap="square" rtlCol="0" anchor="ctr"/>
          <a:lstStyle/>
          <a:p>
            <a:pPr marL="0" indent="0">
              <a:buNone/>
            </a:pPr>
            <a:r>
              <a:rPr lang="en-US" sz="1000" dirty="0">
                <a:solidFill>
                  <a:srgbClr val="334155"/>
                </a:solidFill>
              </a:rPr>
              <a:t>One file per week, per project</a:t>
            </a:r>
            <a:endParaRPr lang="en-US" sz="1000" dirty="0"/>
          </a:p>
        </p:txBody>
      </p:sp>
      <p:sp>
        <p:nvSpPr>
          <p:cNvPr id="10" name="Shape 8"/>
          <p:cNvSpPr/>
          <p:nvPr/>
        </p:nvSpPr>
        <p:spPr>
          <a:xfrm>
            <a:off x="438912" y="2020824"/>
            <a:ext cx="109728" cy="109728"/>
          </a:xfrm>
          <a:prstGeom prst="ellipse">
            <a:avLst/>
          </a:prstGeom>
          <a:solidFill>
            <a:srgbClr val="DC2626"/>
          </a:solidFill>
          <a:ln w="12700">
            <a:solidFill>
              <a:srgbClr val="DC2626"/>
            </a:solidFill>
            <a:prstDash val="solid"/>
          </a:ln>
        </p:spPr>
        <p:txBody>
          <a:bodyPr/>
          <a:lstStyle/>
          <a:p>
            <a:endParaRPr lang="en-US"/>
          </a:p>
        </p:txBody>
      </p:sp>
      <p:sp>
        <p:nvSpPr>
          <p:cNvPr id="11" name="Text 9"/>
          <p:cNvSpPr/>
          <p:nvPr/>
        </p:nvSpPr>
        <p:spPr>
          <a:xfrm>
            <a:off x="621792" y="1965960"/>
            <a:ext cx="2377440" cy="475488"/>
          </a:xfrm>
          <a:prstGeom prst="rect">
            <a:avLst/>
          </a:prstGeom>
          <a:noFill/>
          <a:ln/>
        </p:spPr>
        <p:txBody>
          <a:bodyPr wrap="square" rtlCol="0" anchor="ctr"/>
          <a:lstStyle/>
          <a:p>
            <a:pPr marL="0" indent="0">
              <a:buNone/>
            </a:pPr>
            <a:r>
              <a:rPr lang="en-US" sz="1000" dirty="0">
                <a:solidFill>
                  <a:srgbClr val="334155"/>
                </a:solidFill>
              </a:rPr>
              <a:t>No version control or audit trail</a:t>
            </a:r>
            <a:endParaRPr lang="en-US" sz="1000" dirty="0"/>
          </a:p>
        </p:txBody>
      </p:sp>
      <p:sp>
        <p:nvSpPr>
          <p:cNvPr id="12" name="Shape 10"/>
          <p:cNvSpPr/>
          <p:nvPr/>
        </p:nvSpPr>
        <p:spPr>
          <a:xfrm>
            <a:off x="438912" y="2615184"/>
            <a:ext cx="109728" cy="109728"/>
          </a:xfrm>
          <a:prstGeom prst="ellipse">
            <a:avLst/>
          </a:prstGeom>
          <a:solidFill>
            <a:srgbClr val="DC2626"/>
          </a:solidFill>
          <a:ln w="12700">
            <a:solidFill>
              <a:srgbClr val="DC2626"/>
            </a:solidFill>
            <a:prstDash val="solid"/>
          </a:ln>
        </p:spPr>
        <p:txBody>
          <a:bodyPr/>
          <a:lstStyle/>
          <a:p>
            <a:endParaRPr lang="en-US"/>
          </a:p>
        </p:txBody>
      </p:sp>
      <p:sp>
        <p:nvSpPr>
          <p:cNvPr id="13" name="Text 11"/>
          <p:cNvSpPr/>
          <p:nvPr/>
        </p:nvSpPr>
        <p:spPr>
          <a:xfrm>
            <a:off x="621792" y="2560320"/>
            <a:ext cx="2377440" cy="475488"/>
          </a:xfrm>
          <a:prstGeom prst="rect">
            <a:avLst/>
          </a:prstGeom>
          <a:noFill/>
          <a:ln/>
        </p:spPr>
        <p:txBody>
          <a:bodyPr wrap="square" rtlCol="0" anchor="ctr"/>
          <a:lstStyle/>
          <a:p>
            <a:pPr marL="0" indent="0">
              <a:buNone/>
            </a:pPr>
            <a:r>
              <a:rPr lang="en-US" sz="1000" dirty="0">
                <a:solidFill>
                  <a:srgbClr val="334155"/>
                </a:solidFill>
              </a:rPr>
              <a:t>Formulas break silently</a:t>
            </a:r>
            <a:endParaRPr lang="en-US" sz="1000" dirty="0"/>
          </a:p>
        </p:txBody>
      </p:sp>
      <p:sp>
        <p:nvSpPr>
          <p:cNvPr id="14" name="Shape 12"/>
          <p:cNvSpPr/>
          <p:nvPr/>
        </p:nvSpPr>
        <p:spPr>
          <a:xfrm>
            <a:off x="438912" y="3209544"/>
            <a:ext cx="109728" cy="109728"/>
          </a:xfrm>
          <a:prstGeom prst="ellipse">
            <a:avLst/>
          </a:prstGeom>
          <a:solidFill>
            <a:srgbClr val="DC2626"/>
          </a:solidFill>
          <a:ln w="12700">
            <a:solidFill>
              <a:srgbClr val="DC2626"/>
            </a:solidFill>
            <a:prstDash val="solid"/>
          </a:ln>
        </p:spPr>
        <p:txBody>
          <a:bodyPr/>
          <a:lstStyle/>
          <a:p>
            <a:endParaRPr lang="en-US"/>
          </a:p>
        </p:txBody>
      </p:sp>
      <p:sp>
        <p:nvSpPr>
          <p:cNvPr id="15" name="Text 13"/>
          <p:cNvSpPr/>
          <p:nvPr/>
        </p:nvSpPr>
        <p:spPr>
          <a:xfrm>
            <a:off x="621792" y="3154680"/>
            <a:ext cx="2377440" cy="475488"/>
          </a:xfrm>
          <a:prstGeom prst="rect">
            <a:avLst/>
          </a:prstGeom>
          <a:noFill/>
          <a:ln/>
        </p:spPr>
        <p:txBody>
          <a:bodyPr wrap="square" rtlCol="0" anchor="ctr"/>
          <a:lstStyle/>
          <a:p>
            <a:pPr marL="0" indent="0">
              <a:buNone/>
            </a:pPr>
            <a:r>
              <a:rPr lang="en-US" sz="1000" dirty="0">
                <a:solidFill>
                  <a:srgbClr val="334155"/>
                </a:solidFill>
              </a:rPr>
              <a:t>No real-time collaboration</a:t>
            </a:r>
            <a:endParaRPr lang="en-US" sz="1000" dirty="0"/>
          </a:p>
        </p:txBody>
      </p:sp>
      <p:sp>
        <p:nvSpPr>
          <p:cNvPr id="16" name="Shape 14"/>
          <p:cNvSpPr/>
          <p:nvPr/>
        </p:nvSpPr>
        <p:spPr>
          <a:xfrm>
            <a:off x="3246120" y="685800"/>
            <a:ext cx="2834640" cy="3931920"/>
          </a:xfrm>
          <a:prstGeom prst="roundRect">
            <a:avLst/>
          </a:prstGeom>
          <a:solidFill>
            <a:srgbClr val="F8FAFC"/>
          </a:solidFill>
          <a:ln w="12700">
            <a:solidFill>
              <a:srgbClr val="E2E8F0"/>
            </a:solidFill>
            <a:prstDash val="solid"/>
          </a:ln>
        </p:spPr>
        <p:txBody>
          <a:bodyPr/>
          <a:lstStyle/>
          <a:p>
            <a:endParaRPr lang="en-US"/>
          </a:p>
        </p:txBody>
      </p:sp>
      <p:sp>
        <p:nvSpPr>
          <p:cNvPr id="17" name="Shape 15"/>
          <p:cNvSpPr/>
          <p:nvPr/>
        </p:nvSpPr>
        <p:spPr>
          <a:xfrm>
            <a:off x="3246120" y="685800"/>
            <a:ext cx="2834640" cy="640080"/>
          </a:xfrm>
          <a:prstGeom prst="roundRect">
            <a:avLst/>
          </a:prstGeom>
          <a:solidFill>
            <a:srgbClr val="D97706"/>
          </a:solidFill>
          <a:ln w="12700">
            <a:solidFill>
              <a:srgbClr val="D97706"/>
            </a:solidFill>
            <a:prstDash val="solid"/>
          </a:ln>
        </p:spPr>
        <p:txBody>
          <a:bodyPr/>
          <a:lstStyle/>
          <a:p>
            <a:endParaRPr lang="en-US"/>
          </a:p>
        </p:txBody>
      </p:sp>
      <p:sp>
        <p:nvSpPr>
          <p:cNvPr id="18" name="Shape 16"/>
          <p:cNvSpPr/>
          <p:nvPr/>
        </p:nvSpPr>
        <p:spPr>
          <a:xfrm>
            <a:off x="3246120" y="1005840"/>
            <a:ext cx="2834640" cy="320040"/>
          </a:xfrm>
          <a:prstGeom prst="rect">
            <a:avLst/>
          </a:prstGeom>
          <a:solidFill>
            <a:srgbClr val="D97706"/>
          </a:solidFill>
          <a:ln w="12700">
            <a:solidFill>
              <a:srgbClr val="D97706"/>
            </a:solidFill>
            <a:prstDash val="solid"/>
          </a:ln>
        </p:spPr>
        <p:txBody>
          <a:bodyPr/>
          <a:lstStyle/>
          <a:p>
            <a:endParaRPr lang="en-US"/>
          </a:p>
        </p:txBody>
      </p:sp>
      <p:sp>
        <p:nvSpPr>
          <p:cNvPr id="19" name="Text 17"/>
          <p:cNvSpPr/>
          <p:nvPr/>
        </p:nvSpPr>
        <p:spPr>
          <a:xfrm>
            <a:off x="3246120" y="749808"/>
            <a:ext cx="2834640" cy="502920"/>
          </a:xfrm>
          <a:prstGeom prst="rect">
            <a:avLst/>
          </a:prstGeom>
          <a:noFill/>
          <a:ln/>
        </p:spPr>
        <p:txBody>
          <a:bodyPr wrap="square" rtlCol="0" anchor="ctr"/>
          <a:lstStyle/>
          <a:p>
            <a:pPr marL="0" indent="0" algn="ctr">
              <a:buNone/>
            </a:pPr>
            <a:r>
              <a:rPr lang="en-US" sz="1300" b="1" dirty="0">
                <a:solidFill>
                  <a:srgbClr val="FFFFFF"/>
                </a:solidFill>
              </a:rPr>
              <a:t>Email &amp; Slack Chaos</a:t>
            </a:r>
            <a:endParaRPr lang="en-US" sz="1300" dirty="0"/>
          </a:p>
        </p:txBody>
      </p:sp>
      <p:sp>
        <p:nvSpPr>
          <p:cNvPr id="20" name="Shape 18"/>
          <p:cNvSpPr/>
          <p:nvPr/>
        </p:nvSpPr>
        <p:spPr>
          <a:xfrm>
            <a:off x="3410712" y="1426464"/>
            <a:ext cx="109728" cy="109728"/>
          </a:xfrm>
          <a:prstGeom prst="ellipse">
            <a:avLst/>
          </a:prstGeom>
          <a:solidFill>
            <a:srgbClr val="D97706"/>
          </a:solidFill>
          <a:ln w="12700">
            <a:solidFill>
              <a:srgbClr val="D97706"/>
            </a:solidFill>
            <a:prstDash val="solid"/>
          </a:ln>
        </p:spPr>
        <p:txBody>
          <a:bodyPr/>
          <a:lstStyle/>
          <a:p>
            <a:endParaRPr lang="en-US"/>
          </a:p>
        </p:txBody>
      </p:sp>
      <p:sp>
        <p:nvSpPr>
          <p:cNvPr id="21" name="Text 19"/>
          <p:cNvSpPr/>
          <p:nvPr/>
        </p:nvSpPr>
        <p:spPr>
          <a:xfrm>
            <a:off x="3593592" y="1371600"/>
            <a:ext cx="2377440" cy="475488"/>
          </a:xfrm>
          <a:prstGeom prst="rect">
            <a:avLst/>
          </a:prstGeom>
          <a:noFill/>
          <a:ln/>
        </p:spPr>
        <p:txBody>
          <a:bodyPr wrap="square" rtlCol="0" anchor="ctr"/>
          <a:lstStyle/>
          <a:p>
            <a:pPr marL="0" indent="0">
              <a:buNone/>
            </a:pPr>
            <a:r>
              <a:rPr lang="en-US" sz="1000" dirty="0">
                <a:solidFill>
                  <a:srgbClr val="334155"/>
                </a:solidFill>
              </a:rPr>
              <a:t>Handovers buried in threads</a:t>
            </a:r>
            <a:endParaRPr lang="en-US" sz="1000" dirty="0"/>
          </a:p>
        </p:txBody>
      </p:sp>
      <p:sp>
        <p:nvSpPr>
          <p:cNvPr id="22" name="Shape 20"/>
          <p:cNvSpPr/>
          <p:nvPr/>
        </p:nvSpPr>
        <p:spPr>
          <a:xfrm>
            <a:off x="3410712" y="2020824"/>
            <a:ext cx="109728" cy="109728"/>
          </a:xfrm>
          <a:prstGeom prst="ellipse">
            <a:avLst/>
          </a:prstGeom>
          <a:solidFill>
            <a:srgbClr val="D97706"/>
          </a:solidFill>
          <a:ln w="12700">
            <a:solidFill>
              <a:srgbClr val="D97706"/>
            </a:solidFill>
            <a:prstDash val="solid"/>
          </a:ln>
        </p:spPr>
        <p:txBody>
          <a:bodyPr/>
          <a:lstStyle/>
          <a:p>
            <a:endParaRPr lang="en-US"/>
          </a:p>
        </p:txBody>
      </p:sp>
      <p:sp>
        <p:nvSpPr>
          <p:cNvPr id="23" name="Text 21"/>
          <p:cNvSpPr/>
          <p:nvPr/>
        </p:nvSpPr>
        <p:spPr>
          <a:xfrm>
            <a:off x="3593592" y="1965960"/>
            <a:ext cx="2377440" cy="475488"/>
          </a:xfrm>
          <a:prstGeom prst="rect">
            <a:avLst/>
          </a:prstGeom>
          <a:noFill/>
          <a:ln/>
        </p:spPr>
        <p:txBody>
          <a:bodyPr wrap="square" rtlCol="0" anchor="ctr"/>
          <a:lstStyle/>
          <a:p>
            <a:pPr marL="0" indent="0">
              <a:buNone/>
            </a:pPr>
            <a:r>
              <a:rPr lang="en-US" sz="1000" dirty="0">
                <a:solidFill>
                  <a:srgbClr val="334155"/>
                </a:solidFill>
              </a:rPr>
              <a:t>No acknowledgement tracking</a:t>
            </a:r>
            <a:endParaRPr lang="en-US" sz="1000" dirty="0"/>
          </a:p>
        </p:txBody>
      </p:sp>
      <p:sp>
        <p:nvSpPr>
          <p:cNvPr id="24" name="Shape 22"/>
          <p:cNvSpPr/>
          <p:nvPr/>
        </p:nvSpPr>
        <p:spPr>
          <a:xfrm>
            <a:off x="3410712" y="2615184"/>
            <a:ext cx="109728" cy="109728"/>
          </a:xfrm>
          <a:prstGeom prst="ellipse">
            <a:avLst/>
          </a:prstGeom>
          <a:solidFill>
            <a:srgbClr val="D97706"/>
          </a:solidFill>
          <a:ln w="12700">
            <a:solidFill>
              <a:srgbClr val="D97706"/>
            </a:solidFill>
            <a:prstDash val="solid"/>
          </a:ln>
        </p:spPr>
        <p:txBody>
          <a:bodyPr/>
          <a:lstStyle/>
          <a:p>
            <a:endParaRPr lang="en-US"/>
          </a:p>
        </p:txBody>
      </p:sp>
      <p:sp>
        <p:nvSpPr>
          <p:cNvPr id="25" name="Text 23"/>
          <p:cNvSpPr/>
          <p:nvPr/>
        </p:nvSpPr>
        <p:spPr>
          <a:xfrm>
            <a:off x="3593592" y="2560320"/>
            <a:ext cx="2377440" cy="475488"/>
          </a:xfrm>
          <a:prstGeom prst="rect">
            <a:avLst/>
          </a:prstGeom>
          <a:noFill/>
          <a:ln/>
        </p:spPr>
        <p:txBody>
          <a:bodyPr wrap="square" rtlCol="0" anchor="ctr"/>
          <a:lstStyle/>
          <a:p>
            <a:pPr marL="0" indent="0">
              <a:buNone/>
            </a:pPr>
            <a:r>
              <a:rPr lang="en-US" sz="1000" dirty="0">
                <a:solidFill>
                  <a:srgbClr val="334155"/>
                </a:solidFill>
              </a:rPr>
              <a:t>Critical items missed at shift change</a:t>
            </a:r>
            <a:endParaRPr lang="en-US" sz="1000" dirty="0"/>
          </a:p>
        </p:txBody>
      </p:sp>
      <p:sp>
        <p:nvSpPr>
          <p:cNvPr id="26" name="Shape 24"/>
          <p:cNvSpPr/>
          <p:nvPr/>
        </p:nvSpPr>
        <p:spPr>
          <a:xfrm>
            <a:off x="3410712" y="3209544"/>
            <a:ext cx="109728" cy="109728"/>
          </a:xfrm>
          <a:prstGeom prst="ellipse">
            <a:avLst/>
          </a:prstGeom>
          <a:solidFill>
            <a:srgbClr val="D97706"/>
          </a:solidFill>
          <a:ln w="12700">
            <a:solidFill>
              <a:srgbClr val="D97706"/>
            </a:solidFill>
            <a:prstDash val="solid"/>
          </a:ln>
        </p:spPr>
        <p:txBody>
          <a:bodyPr/>
          <a:lstStyle/>
          <a:p>
            <a:endParaRPr lang="en-US"/>
          </a:p>
        </p:txBody>
      </p:sp>
      <p:sp>
        <p:nvSpPr>
          <p:cNvPr id="27" name="Text 25"/>
          <p:cNvSpPr/>
          <p:nvPr/>
        </p:nvSpPr>
        <p:spPr>
          <a:xfrm>
            <a:off x="3593592" y="3154680"/>
            <a:ext cx="2377440" cy="475488"/>
          </a:xfrm>
          <a:prstGeom prst="rect">
            <a:avLst/>
          </a:prstGeom>
          <a:noFill/>
          <a:ln/>
        </p:spPr>
        <p:txBody>
          <a:bodyPr wrap="square" rtlCol="0" anchor="ctr"/>
          <a:lstStyle/>
          <a:p>
            <a:pPr marL="0" indent="0">
              <a:buNone/>
            </a:pPr>
            <a:r>
              <a:rPr lang="en-US" sz="1000" dirty="0">
                <a:solidFill>
                  <a:srgbClr val="334155"/>
                </a:solidFill>
              </a:rPr>
              <a:t>No searchable incident history</a:t>
            </a:r>
            <a:endParaRPr lang="en-US" sz="1000" dirty="0"/>
          </a:p>
        </p:txBody>
      </p:sp>
      <p:sp>
        <p:nvSpPr>
          <p:cNvPr id="28" name="Shape 26"/>
          <p:cNvSpPr/>
          <p:nvPr/>
        </p:nvSpPr>
        <p:spPr>
          <a:xfrm>
            <a:off x="6217920" y="685800"/>
            <a:ext cx="2834640" cy="3931920"/>
          </a:xfrm>
          <a:prstGeom prst="roundRect">
            <a:avLst/>
          </a:prstGeom>
          <a:solidFill>
            <a:srgbClr val="F8FAFC"/>
          </a:solidFill>
          <a:ln w="12700">
            <a:solidFill>
              <a:srgbClr val="E2E8F0"/>
            </a:solidFill>
            <a:prstDash val="solid"/>
          </a:ln>
        </p:spPr>
        <p:txBody>
          <a:bodyPr/>
          <a:lstStyle/>
          <a:p>
            <a:endParaRPr lang="en-US"/>
          </a:p>
        </p:txBody>
      </p:sp>
      <p:sp>
        <p:nvSpPr>
          <p:cNvPr id="29" name="Shape 27"/>
          <p:cNvSpPr/>
          <p:nvPr/>
        </p:nvSpPr>
        <p:spPr>
          <a:xfrm>
            <a:off x="6217920" y="685800"/>
            <a:ext cx="2834640" cy="640080"/>
          </a:xfrm>
          <a:prstGeom prst="roundRect">
            <a:avLst/>
          </a:prstGeom>
          <a:solidFill>
            <a:srgbClr val="1E3A5F"/>
          </a:solidFill>
          <a:ln w="12700">
            <a:solidFill>
              <a:srgbClr val="1E3A5F"/>
            </a:solidFill>
            <a:prstDash val="solid"/>
          </a:ln>
        </p:spPr>
        <p:txBody>
          <a:bodyPr/>
          <a:lstStyle/>
          <a:p>
            <a:endParaRPr lang="en-US"/>
          </a:p>
        </p:txBody>
      </p:sp>
      <p:sp>
        <p:nvSpPr>
          <p:cNvPr id="30" name="Shape 28"/>
          <p:cNvSpPr/>
          <p:nvPr/>
        </p:nvSpPr>
        <p:spPr>
          <a:xfrm>
            <a:off x="6217920" y="1005840"/>
            <a:ext cx="2834640" cy="320040"/>
          </a:xfrm>
          <a:prstGeom prst="rect">
            <a:avLst/>
          </a:prstGeom>
          <a:solidFill>
            <a:srgbClr val="1E3A5F"/>
          </a:solidFill>
          <a:ln w="12700">
            <a:solidFill>
              <a:srgbClr val="1E3A5F"/>
            </a:solidFill>
            <a:prstDash val="solid"/>
          </a:ln>
        </p:spPr>
        <p:txBody>
          <a:bodyPr/>
          <a:lstStyle/>
          <a:p>
            <a:endParaRPr lang="en-US"/>
          </a:p>
        </p:txBody>
      </p:sp>
      <p:sp>
        <p:nvSpPr>
          <p:cNvPr id="31" name="Text 29"/>
          <p:cNvSpPr/>
          <p:nvPr/>
        </p:nvSpPr>
        <p:spPr>
          <a:xfrm>
            <a:off x="6217920" y="749808"/>
            <a:ext cx="2834640" cy="502920"/>
          </a:xfrm>
          <a:prstGeom prst="rect">
            <a:avLst/>
          </a:prstGeom>
          <a:noFill/>
          <a:ln/>
        </p:spPr>
        <p:txBody>
          <a:bodyPr wrap="square" rtlCol="0" anchor="ctr"/>
          <a:lstStyle/>
          <a:p>
            <a:pPr marL="0" indent="0" algn="ctr">
              <a:buNone/>
            </a:pPr>
            <a:r>
              <a:rPr lang="en-US" sz="1300" b="1" dirty="0">
                <a:solidFill>
                  <a:srgbClr val="FFFFFF"/>
                </a:solidFill>
              </a:rPr>
              <a:t>Zero Visibility</a:t>
            </a:r>
            <a:endParaRPr lang="en-US" sz="1300" dirty="0"/>
          </a:p>
        </p:txBody>
      </p:sp>
      <p:sp>
        <p:nvSpPr>
          <p:cNvPr id="32" name="Shape 30"/>
          <p:cNvSpPr/>
          <p:nvPr/>
        </p:nvSpPr>
        <p:spPr>
          <a:xfrm>
            <a:off x="6382512" y="1426464"/>
            <a:ext cx="109728" cy="109728"/>
          </a:xfrm>
          <a:prstGeom prst="ellipse">
            <a:avLst/>
          </a:prstGeom>
          <a:solidFill>
            <a:srgbClr val="1E3A5F"/>
          </a:solidFill>
          <a:ln w="12700">
            <a:solidFill>
              <a:srgbClr val="1E3A5F"/>
            </a:solidFill>
            <a:prstDash val="solid"/>
          </a:ln>
        </p:spPr>
        <p:txBody>
          <a:bodyPr/>
          <a:lstStyle/>
          <a:p>
            <a:endParaRPr lang="en-US"/>
          </a:p>
        </p:txBody>
      </p:sp>
      <p:sp>
        <p:nvSpPr>
          <p:cNvPr id="33" name="Text 31"/>
          <p:cNvSpPr/>
          <p:nvPr/>
        </p:nvSpPr>
        <p:spPr>
          <a:xfrm>
            <a:off x="6565392" y="1371600"/>
            <a:ext cx="2377440" cy="475488"/>
          </a:xfrm>
          <a:prstGeom prst="rect">
            <a:avLst/>
          </a:prstGeom>
          <a:noFill/>
          <a:ln/>
        </p:spPr>
        <p:txBody>
          <a:bodyPr wrap="square" rtlCol="0" anchor="ctr"/>
          <a:lstStyle/>
          <a:p>
            <a:pPr marL="0" indent="0">
              <a:buNone/>
            </a:pPr>
            <a:r>
              <a:rPr lang="en-US" sz="1000" dirty="0">
                <a:solidFill>
                  <a:srgbClr val="334155"/>
                </a:solidFill>
              </a:rPr>
              <a:t>Managers can't see SLA compliance</a:t>
            </a:r>
            <a:endParaRPr lang="en-US" sz="1000" dirty="0"/>
          </a:p>
        </p:txBody>
      </p:sp>
      <p:sp>
        <p:nvSpPr>
          <p:cNvPr id="34" name="Shape 32"/>
          <p:cNvSpPr/>
          <p:nvPr/>
        </p:nvSpPr>
        <p:spPr>
          <a:xfrm>
            <a:off x="6382512" y="2020824"/>
            <a:ext cx="109728" cy="109728"/>
          </a:xfrm>
          <a:prstGeom prst="ellipse">
            <a:avLst/>
          </a:prstGeom>
          <a:solidFill>
            <a:srgbClr val="1E3A5F"/>
          </a:solidFill>
          <a:ln w="12700">
            <a:solidFill>
              <a:srgbClr val="1E3A5F"/>
            </a:solidFill>
            <a:prstDash val="solid"/>
          </a:ln>
        </p:spPr>
        <p:txBody>
          <a:bodyPr/>
          <a:lstStyle/>
          <a:p>
            <a:endParaRPr lang="en-US"/>
          </a:p>
        </p:txBody>
      </p:sp>
      <p:sp>
        <p:nvSpPr>
          <p:cNvPr id="35" name="Text 33"/>
          <p:cNvSpPr/>
          <p:nvPr/>
        </p:nvSpPr>
        <p:spPr>
          <a:xfrm>
            <a:off x="6565392" y="1965960"/>
            <a:ext cx="2377440" cy="475488"/>
          </a:xfrm>
          <a:prstGeom prst="rect">
            <a:avLst/>
          </a:prstGeom>
          <a:noFill/>
          <a:ln/>
        </p:spPr>
        <p:txBody>
          <a:bodyPr wrap="square" rtlCol="0" anchor="ctr"/>
          <a:lstStyle/>
          <a:p>
            <a:pPr marL="0" indent="0">
              <a:buNone/>
            </a:pPr>
            <a:r>
              <a:rPr lang="en-US" sz="1000" dirty="0">
                <a:solidFill>
                  <a:srgbClr val="334155"/>
                </a:solidFill>
              </a:rPr>
              <a:t>No attendance or clock-in tracking</a:t>
            </a:r>
            <a:endParaRPr lang="en-US" sz="1000" dirty="0"/>
          </a:p>
        </p:txBody>
      </p:sp>
      <p:sp>
        <p:nvSpPr>
          <p:cNvPr id="36" name="Shape 34"/>
          <p:cNvSpPr/>
          <p:nvPr/>
        </p:nvSpPr>
        <p:spPr>
          <a:xfrm>
            <a:off x="6382512" y="2615184"/>
            <a:ext cx="109728" cy="109728"/>
          </a:xfrm>
          <a:prstGeom prst="ellipse">
            <a:avLst/>
          </a:prstGeom>
          <a:solidFill>
            <a:srgbClr val="1E3A5F"/>
          </a:solidFill>
          <a:ln w="12700">
            <a:solidFill>
              <a:srgbClr val="1E3A5F"/>
            </a:solidFill>
            <a:prstDash val="solid"/>
          </a:ln>
        </p:spPr>
        <p:txBody>
          <a:bodyPr/>
          <a:lstStyle/>
          <a:p>
            <a:endParaRPr lang="en-US"/>
          </a:p>
        </p:txBody>
      </p:sp>
      <p:sp>
        <p:nvSpPr>
          <p:cNvPr id="37" name="Text 35"/>
          <p:cNvSpPr/>
          <p:nvPr/>
        </p:nvSpPr>
        <p:spPr>
          <a:xfrm>
            <a:off x="6565392" y="2560320"/>
            <a:ext cx="2377440" cy="475488"/>
          </a:xfrm>
          <a:prstGeom prst="rect">
            <a:avLst/>
          </a:prstGeom>
          <a:noFill/>
          <a:ln/>
        </p:spPr>
        <p:txBody>
          <a:bodyPr wrap="square" rtlCol="0" anchor="ctr"/>
          <a:lstStyle/>
          <a:p>
            <a:pPr marL="0" indent="0">
              <a:buNone/>
            </a:pPr>
            <a:r>
              <a:rPr lang="en-US" sz="1000" dirty="0">
                <a:solidFill>
                  <a:srgbClr val="334155"/>
                </a:solidFill>
              </a:rPr>
              <a:t>Roster gaps discovered too late</a:t>
            </a:r>
            <a:endParaRPr lang="en-US" sz="1000" dirty="0"/>
          </a:p>
        </p:txBody>
      </p:sp>
      <p:sp>
        <p:nvSpPr>
          <p:cNvPr id="38" name="Shape 36"/>
          <p:cNvSpPr/>
          <p:nvPr/>
        </p:nvSpPr>
        <p:spPr>
          <a:xfrm>
            <a:off x="6382512" y="3209544"/>
            <a:ext cx="109728" cy="109728"/>
          </a:xfrm>
          <a:prstGeom prst="ellipse">
            <a:avLst/>
          </a:prstGeom>
          <a:solidFill>
            <a:srgbClr val="1E3A5F"/>
          </a:solidFill>
          <a:ln w="12700">
            <a:solidFill>
              <a:srgbClr val="1E3A5F"/>
            </a:solidFill>
            <a:prstDash val="solid"/>
          </a:ln>
        </p:spPr>
        <p:txBody>
          <a:bodyPr/>
          <a:lstStyle/>
          <a:p>
            <a:endParaRPr lang="en-US"/>
          </a:p>
        </p:txBody>
      </p:sp>
      <p:sp>
        <p:nvSpPr>
          <p:cNvPr id="39" name="Text 37"/>
          <p:cNvSpPr/>
          <p:nvPr/>
        </p:nvSpPr>
        <p:spPr>
          <a:xfrm>
            <a:off x="6565392" y="3154680"/>
            <a:ext cx="2377440" cy="475488"/>
          </a:xfrm>
          <a:prstGeom prst="rect">
            <a:avLst/>
          </a:prstGeom>
          <a:noFill/>
          <a:ln/>
        </p:spPr>
        <p:txBody>
          <a:bodyPr wrap="square" rtlCol="0" anchor="ctr"/>
          <a:lstStyle/>
          <a:p>
            <a:pPr marL="0" indent="0">
              <a:buNone/>
            </a:pPr>
            <a:r>
              <a:rPr lang="en-US" sz="1000" dirty="0">
                <a:solidFill>
                  <a:srgbClr val="334155"/>
                </a:solidFill>
              </a:rPr>
              <a:t>No cross-project incident view</a:t>
            </a:r>
            <a:endParaRPr lang="en-US" sz="1000" dirty="0"/>
          </a:p>
        </p:txBody>
      </p:sp>
      <p:sp>
        <p:nvSpPr>
          <p:cNvPr id="40" name="Shape 38"/>
          <p:cNvSpPr/>
          <p:nvPr/>
        </p:nvSpPr>
        <p:spPr>
          <a:xfrm>
            <a:off x="274320" y="4709160"/>
            <a:ext cx="8595360" cy="347472"/>
          </a:xfrm>
          <a:prstGeom prst="roundRect">
            <a:avLst/>
          </a:prstGeom>
          <a:solidFill>
            <a:srgbClr val="EEF2FF"/>
          </a:solidFill>
          <a:ln w="12700">
            <a:solidFill>
              <a:srgbClr val="4F46E5"/>
            </a:solidFill>
            <a:prstDash val="solid"/>
          </a:ln>
        </p:spPr>
        <p:txBody>
          <a:bodyPr/>
          <a:lstStyle/>
          <a:p>
            <a:endParaRPr lang="en-US"/>
          </a:p>
        </p:txBody>
      </p:sp>
      <p:sp>
        <p:nvSpPr>
          <p:cNvPr id="41" name="Text 39"/>
          <p:cNvSpPr/>
          <p:nvPr/>
        </p:nvSpPr>
        <p:spPr>
          <a:xfrm>
            <a:off x="274320" y="4736592"/>
            <a:ext cx="8595360" cy="292608"/>
          </a:xfrm>
          <a:prstGeom prst="rect">
            <a:avLst/>
          </a:prstGeom>
          <a:noFill/>
          <a:ln/>
        </p:spPr>
        <p:txBody>
          <a:bodyPr wrap="square" rtlCol="0" anchor="ctr"/>
          <a:lstStyle/>
          <a:p>
            <a:pPr marL="0" indent="0" algn="ctr">
              <a:buNone/>
            </a:pPr>
            <a:r>
              <a:rPr lang="en-US" sz="950" b="1" dirty="0">
                <a:solidFill>
                  <a:srgbClr val="4F46E5"/>
                </a:solidFill>
              </a:rPr>
              <a:t>ShiftBuddy replaces all of this with one structured, role-aware platform — so nothing falls through the cracks at shift change.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64008"/>
            <a:ext cx="6400800" cy="310896"/>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ShiftBuddy — 8 Integrated Modules</a:t>
            </a:r>
            <a:endParaRPr lang="en-US" sz="1800" dirty="0"/>
          </a:p>
        </p:txBody>
      </p:sp>
      <p:sp>
        <p:nvSpPr>
          <p:cNvPr id="4" name="Shape 2"/>
          <p:cNvSpPr/>
          <p:nvPr/>
        </p:nvSpPr>
        <p:spPr>
          <a:xfrm>
            <a:off x="228600" y="731520"/>
            <a:ext cx="2057400" cy="1965960"/>
          </a:xfrm>
          <a:prstGeom prst="roundRect">
            <a:avLst/>
          </a:prstGeom>
          <a:solidFill>
            <a:srgbClr val="FFFFFF"/>
          </a:solidFill>
          <a:ln w="12700">
            <a:solidFill>
              <a:srgbClr val="E2E8F0"/>
            </a:solidFill>
            <a:prstDash val="solid"/>
          </a:ln>
        </p:spPr>
        <p:txBody>
          <a:bodyPr/>
          <a:lstStyle/>
          <a:p>
            <a:endParaRPr lang="en-US"/>
          </a:p>
        </p:txBody>
      </p:sp>
      <p:sp>
        <p:nvSpPr>
          <p:cNvPr id="5" name="Shape 3"/>
          <p:cNvSpPr/>
          <p:nvPr/>
        </p:nvSpPr>
        <p:spPr>
          <a:xfrm>
            <a:off x="914400" y="822960"/>
            <a:ext cx="685800" cy="594360"/>
          </a:xfrm>
          <a:prstGeom prst="roundRect">
            <a:avLst/>
          </a:prstGeom>
          <a:solidFill>
            <a:srgbClr val="EEF2FF"/>
          </a:solidFill>
          <a:ln w="12700">
            <a:solidFill>
              <a:srgbClr val="E2E8F0"/>
            </a:solidFill>
            <a:prstDash val="solid"/>
          </a:ln>
        </p:spPr>
        <p:txBody>
          <a:bodyPr/>
          <a:lstStyle/>
          <a:p>
            <a:endParaRPr lang="en-US"/>
          </a:p>
        </p:txBody>
      </p:sp>
      <p:sp>
        <p:nvSpPr>
          <p:cNvPr id="6" name="Shape 4"/>
          <p:cNvSpPr/>
          <p:nvPr/>
        </p:nvSpPr>
        <p:spPr>
          <a:xfrm>
            <a:off x="228600" y="731520"/>
            <a:ext cx="2057400" cy="457200"/>
          </a:xfrm>
          <a:prstGeom prst="roundRect">
            <a:avLst/>
          </a:prstGeom>
          <a:solidFill>
            <a:srgbClr val="4F46E5"/>
          </a:solidFill>
          <a:ln w="12700">
            <a:solidFill>
              <a:srgbClr val="4F46E5"/>
            </a:solidFill>
            <a:prstDash val="solid"/>
          </a:ln>
        </p:spPr>
        <p:txBody>
          <a:bodyPr/>
          <a:lstStyle/>
          <a:p>
            <a:endParaRPr lang="en-US"/>
          </a:p>
        </p:txBody>
      </p:sp>
      <p:sp>
        <p:nvSpPr>
          <p:cNvPr id="7" name="Shape 5"/>
          <p:cNvSpPr/>
          <p:nvPr/>
        </p:nvSpPr>
        <p:spPr>
          <a:xfrm>
            <a:off x="228600" y="1051560"/>
            <a:ext cx="2057400" cy="137160"/>
          </a:xfrm>
          <a:prstGeom prst="rect">
            <a:avLst/>
          </a:prstGeom>
          <a:solidFill>
            <a:srgbClr val="4F46E5"/>
          </a:solidFill>
          <a:ln w="12700">
            <a:solidFill>
              <a:srgbClr val="4F46E5"/>
            </a:solidFill>
            <a:prstDash val="solid"/>
          </a:ln>
        </p:spPr>
        <p:txBody>
          <a:bodyPr/>
          <a:lstStyle/>
          <a:p>
            <a:endParaRPr lang="en-US"/>
          </a:p>
        </p:txBody>
      </p:sp>
      <p:sp>
        <p:nvSpPr>
          <p:cNvPr id="8" name="Text 6"/>
          <p:cNvSpPr/>
          <p:nvPr/>
        </p:nvSpPr>
        <p:spPr>
          <a:xfrm>
            <a:off x="228600" y="804672"/>
            <a:ext cx="365760" cy="310896"/>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9" name="Text 7"/>
          <p:cNvSpPr/>
          <p:nvPr/>
        </p:nvSpPr>
        <p:spPr>
          <a:xfrm>
            <a:off x="548640" y="822960"/>
            <a:ext cx="1691640" cy="274320"/>
          </a:xfrm>
          <a:prstGeom prst="rect">
            <a:avLst/>
          </a:prstGeom>
          <a:noFill/>
          <a:ln/>
        </p:spPr>
        <p:txBody>
          <a:bodyPr wrap="square" rtlCol="0" anchor="ctr"/>
          <a:lstStyle/>
          <a:p>
            <a:pPr marL="0" indent="0">
              <a:buNone/>
            </a:pPr>
            <a:r>
              <a:rPr lang="en-US" sz="1000" b="1" dirty="0">
                <a:solidFill>
                  <a:srgbClr val="FFFFFF"/>
                </a:solidFill>
              </a:rPr>
              <a:t>Dashboard</a:t>
            </a:r>
            <a:endParaRPr lang="en-US" sz="1000" dirty="0"/>
          </a:p>
        </p:txBody>
      </p:sp>
      <p:sp>
        <p:nvSpPr>
          <p:cNvPr id="10" name="Text 8"/>
          <p:cNvSpPr/>
          <p:nvPr/>
        </p:nvSpPr>
        <p:spPr>
          <a:xfrm>
            <a:off x="320040" y="1280160"/>
            <a:ext cx="1874520" cy="1325880"/>
          </a:xfrm>
          <a:prstGeom prst="rect">
            <a:avLst/>
          </a:prstGeom>
          <a:noFill/>
          <a:ln/>
        </p:spPr>
        <p:txBody>
          <a:bodyPr wrap="square" rtlCol="0" anchor="ctr"/>
          <a:lstStyle/>
          <a:p>
            <a:pPr marL="0" indent="0">
              <a:buNone/>
            </a:pPr>
            <a:r>
              <a:rPr lang="en-US" sz="800" dirty="0">
                <a:solidFill>
                  <a:srgbClr val="64748B"/>
                </a:solidFill>
              </a:rPr>
              <a:t>Live overview: quick actions, stat cards, handovers &amp; swaps</a:t>
            </a:r>
            <a:endParaRPr lang="en-US" sz="800" dirty="0"/>
          </a:p>
        </p:txBody>
      </p:sp>
      <p:sp>
        <p:nvSpPr>
          <p:cNvPr id="11" name="Shape 9"/>
          <p:cNvSpPr/>
          <p:nvPr/>
        </p:nvSpPr>
        <p:spPr>
          <a:xfrm>
            <a:off x="2441448" y="731520"/>
            <a:ext cx="2057400" cy="1965960"/>
          </a:xfrm>
          <a:prstGeom prst="roundRect">
            <a:avLst/>
          </a:prstGeom>
          <a:solidFill>
            <a:srgbClr val="FFFFFF"/>
          </a:solidFill>
          <a:ln w="12700">
            <a:solidFill>
              <a:srgbClr val="E2E8F0"/>
            </a:solidFill>
            <a:prstDash val="solid"/>
          </a:ln>
        </p:spPr>
        <p:txBody>
          <a:bodyPr/>
          <a:lstStyle/>
          <a:p>
            <a:endParaRPr lang="en-US"/>
          </a:p>
        </p:txBody>
      </p:sp>
      <p:sp>
        <p:nvSpPr>
          <p:cNvPr id="12" name="Shape 10"/>
          <p:cNvSpPr/>
          <p:nvPr/>
        </p:nvSpPr>
        <p:spPr>
          <a:xfrm>
            <a:off x="3127248" y="822960"/>
            <a:ext cx="685800" cy="594360"/>
          </a:xfrm>
          <a:prstGeom prst="roundRect">
            <a:avLst/>
          </a:prstGeom>
          <a:solidFill>
            <a:srgbClr val="EEF2FF"/>
          </a:solidFill>
          <a:ln w="12700">
            <a:solidFill>
              <a:srgbClr val="E2E8F0"/>
            </a:solidFill>
            <a:prstDash val="solid"/>
          </a:ln>
        </p:spPr>
        <p:txBody>
          <a:bodyPr/>
          <a:lstStyle/>
          <a:p>
            <a:endParaRPr lang="en-US"/>
          </a:p>
        </p:txBody>
      </p:sp>
      <p:sp>
        <p:nvSpPr>
          <p:cNvPr id="13" name="Shape 11"/>
          <p:cNvSpPr/>
          <p:nvPr/>
        </p:nvSpPr>
        <p:spPr>
          <a:xfrm>
            <a:off x="2441448" y="731520"/>
            <a:ext cx="2057400" cy="457200"/>
          </a:xfrm>
          <a:prstGeom prst="roundRect">
            <a:avLst/>
          </a:prstGeom>
          <a:solidFill>
            <a:srgbClr val="DC2626"/>
          </a:solidFill>
          <a:ln w="12700">
            <a:solidFill>
              <a:srgbClr val="DC2626"/>
            </a:solidFill>
            <a:prstDash val="solid"/>
          </a:ln>
        </p:spPr>
        <p:txBody>
          <a:bodyPr/>
          <a:lstStyle/>
          <a:p>
            <a:endParaRPr lang="en-US"/>
          </a:p>
        </p:txBody>
      </p:sp>
      <p:sp>
        <p:nvSpPr>
          <p:cNvPr id="14" name="Shape 12"/>
          <p:cNvSpPr/>
          <p:nvPr/>
        </p:nvSpPr>
        <p:spPr>
          <a:xfrm>
            <a:off x="2441448" y="1051560"/>
            <a:ext cx="2057400" cy="137160"/>
          </a:xfrm>
          <a:prstGeom prst="rect">
            <a:avLst/>
          </a:prstGeom>
          <a:solidFill>
            <a:srgbClr val="DC2626"/>
          </a:solidFill>
          <a:ln w="12700">
            <a:solidFill>
              <a:srgbClr val="DC2626"/>
            </a:solidFill>
            <a:prstDash val="solid"/>
          </a:ln>
        </p:spPr>
        <p:txBody>
          <a:bodyPr/>
          <a:lstStyle/>
          <a:p>
            <a:endParaRPr lang="en-US"/>
          </a:p>
        </p:txBody>
      </p:sp>
      <p:sp>
        <p:nvSpPr>
          <p:cNvPr id="15" name="Text 13"/>
          <p:cNvSpPr/>
          <p:nvPr/>
        </p:nvSpPr>
        <p:spPr>
          <a:xfrm>
            <a:off x="2441448" y="804672"/>
            <a:ext cx="365760" cy="310896"/>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6" name="Text 14"/>
          <p:cNvSpPr/>
          <p:nvPr/>
        </p:nvSpPr>
        <p:spPr>
          <a:xfrm>
            <a:off x="2761488" y="822960"/>
            <a:ext cx="1691640" cy="274320"/>
          </a:xfrm>
          <a:prstGeom prst="rect">
            <a:avLst/>
          </a:prstGeom>
          <a:noFill/>
          <a:ln/>
        </p:spPr>
        <p:txBody>
          <a:bodyPr wrap="square" rtlCol="0" anchor="ctr"/>
          <a:lstStyle/>
          <a:p>
            <a:pPr marL="0" indent="0">
              <a:buNone/>
            </a:pPr>
            <a:r>
              <a:rPr lang="en-US" sz="1000" b="1" dirty="0">
                <a:solidFill>
                  <a:srgbClr val="FFFFFF"/>
                </a:solidFill>
              </a:rPr>
              <a:t>Log Update</a:t>
            </a:r>
            <a:endParaRPr lang="en-US" sz="1000" dirty="0"/>
          </a:p>
        </p:txBody>
      </p:sp>
      <p:sp>
        <p:nvSpPr>
          <p:cNvPr id="17" name="Text 15"/>
          <p:cNvSpPr/>
          <p:nvPr/>
        </p:nvSpPr>
        <p:spPr>
          <a:xfrm>
            <a:off x="2532888" y="1280160"/>
            <a:ext cx="1874520" cy="1325880"/>
          </a:xfrm>
          <a:prstGeom prst="rect">
            <a:avLst/>
          </a:prstGeom>
          <a:noFill/>
          <a:ln/>
        </p:spPr>
        <p:txBody>
          <a:bodyPr wrap="square" rtlCol="0" anchor="ctr"/>
          <a:lstStyle/>
          <a:p>
            <a:pPr marL="0" indent="0">
              <a:buNone/>
            </a:pPr>
            <a:r>
              <a:rPr lang="en-US" sz="800" dirty="0">
                <a:solidFill>
                  <a:srgbClr val="64748B"/>
                </a:solidFill>
              </a:rPr>
              <a:t>Structured form to log incidents, alerts and activity updates</a:t>
            </a:r>
            <a:endParaRPr lang="en-US" sz="800" dirty="0"/>
          </a:p>
        </p:txBody>
      </p:sp>
      <p:sp>
        <p:nvSpPr>
          <p:cNvPr id="18" name="Shape 16"/>
          <p:cNvSpPr/>
          <p:nvPr/>
        </p:nvSpPr>
        <p:spPr>
          <a:xfrm>
            <a:off x="4654296" y="731520"/>
            <a:ext cx="2057400" cy="1965960"/>
          </a:xfrm>
          <a:prstGeom prst="roundRect">
            <a:avLst/>
          </a:prstGeom>
          <a:solidFill>
            <a:srgbClr val="FFFFFF"/>
          </a:solidFill>
          <a:ln w="12700">
            <a:solidFill>
              <a:srgbClr val="E2E8F0"/>
            </a:solidFill>
            <a:prstDash val="solid"/>
          </a:ln>
        </p:spPr>
        <p:txBody>
          <a:bodyPr/>
          <a:lstStyle/>
          <a:p>
            <a:endParaRPr lang="en-US"/>
          </a:p>
        </p:txBody>
      </p:sp>
      <p:sp>
        <p:nvSpPr>
          <p:cNvPr id="19" name="Shape 17"/>
          <p:cNvSpPr/>
          <p:nvPr/>
        </p:nvSpPr>
        <p:spPr>
          <a:xfrm>
            <a:off x="5340096" y="822960"/>
            <a:ext cx="685800" cy="594360"/>
          </a:xfrm>
          <a:prstGeom prst="roundRect">
            <a:avLst/>
          </a:prstGeom>
          <a:solidFill>
            <a:srgbClr val="EEF2FF"/>
          </a:solidFill>
          <a:ln w="12700">
            <a:solidFill>
              <a:srgbClr val="E2E8F0"/>
            </a:solidFill>
            <a:prstDash val="solid"/>
          </a:ln>
        </p:spPr>
        <p:txBody>
          <a:bodyPr/>
          <a:lstStyle/>
          <a:p>
            <a:endParaRPr lang="en-US"/>
          </a:p>
        </p:txBody>
      </p:sp>
      <p:sp>
        <p:nvSpPr>
          <p:cNvPr id="20" name="Shape 18"/>
          <p:cNvSpPr/>
          <p:nvPr/>
        </p:nvSpPr>
        <p:spPr>
          <a:xfrm>
            <a:off x="4654296" y="731520"/>
            <a:ext cx="2057400" cy="457200"/>
          </a:xfrm>
          <a:prstGeom prst="roundRect">
            <a:avLst/>
          </a:prstGeom>
          <a:solidFill>
            <a:srgbClr val="D97706"/>
          </a:solidFill>
          <a:ln w="12700">
            <a:solidFill>
              <a:srgbClr val="D97706"/>
            </a:solidFill>
            <a:prstDash val="solid"/>
          </a:ln>
        </p:spPr>
        <p:txBody>
          <a:bodyPr/>
          <a:lstStyle/>
          <a:p>
            <a:endParaRPr lang="en-US"/>
          </a:p>
        </p:txBody>
      </p:sp>
      <p:sp>
        <p:nvSpPr>
          <p:cNvPr id="21" name="Shape 19"/>
          <p:cNvSpPr/>
          <p:nvPr/>
        </p:nvSpPr>
        <p:spPr>
          <a:xfrm>
            <a:off x="4654296" y="1051560"/>
            <a:ext cx="2057400" cy="137160"/>
          </a:xfrm>
          <a:prstGeom prst="rect">
            <a:avLst/>
          </a:prstGeom>
          <a:solidFill>
            <a:srgbClr val="D97706"/>
          </a:solidFill>
          <a:ln w="12700">
            <a:solidFill>
              <a:srgbClr val="D97706"/>
            </a:solidFill>
            <a:prstDash val="solid"/>
          </a:ln>
        </p:spPr>
        <p:txBody>
          <a:bodyPr/>
          <a:lstStyle/>
          <a:p>
            <a:endParaRPr lang="en-US"/>
          </a:p>
        </p:txBody>
      </p:sp>
      <p:sp>
        <p:nvSpPr>
          <p:cNvPr id="22" name="Text 20"/>
          <p:cNvSpPr/>
          <p:nvPr/>
        </p:nvSpPr>
        <p:spPr>
          <a:xfrm>
            <a:off x="4654296" y="804672"/>
            <a:ext cx="365760" cy="310896"/>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23" name="Text 21"/>
          <p:cNvSpPr/>
          <p:nvPr/>
        </p:nvSpPr>
        <p:spPr>
          <a:xfrm>
            <a:off x="4974336" y="822960"/>
            <a:ext cx="1691640" cy="274320"/>
          </a:xfrm>
          <a:prstGeom prst="rect">
            <a:avLst/>
          </a:prstGeom>
          <a:noFill/>
          <a:ln/>
        </p:spPr>
        <p:txBody>
          <a:bodyPr wrap="square" rtlCol="0" anchor="ctr"/>
          <a:lstStyle/>
          <a:p>
            <a:pPr marL="0" indent="0">
              <a:buNone/>
            </a:pPr>
            <a:r>
              <a:rPr lang="en-US" sz="1000" b="1" dirty="0">
                <a:solidFill>
                  <a:srgbClr val="FFFFFF"/>
                </a:solidFill>
              </a:rPr>
              <a:t>Daily Feed</a:t>
            </a:r>
            <a:endParaRPr lang="en-US" sz="1000" dirty="0"/>
          </a:p>
        </p:txBody>
      </p:sp>
      <p:sp>
        <p:nvSpPr>
          <p:cNvPr id="24" name="Text 22"/>
          <p:cNvSpPr/>
          <p:nvPr/>
        </p:nvSpPr>
        <p:spPr>
          <a:xfrm>
            <a:off x="4745736" y="1280160"/>
            <a:ext cx="1874520" cy="1325880"/>
          </a:xfrm>
          <a:prstGeom prst="rect">
            <a:avLst/>
          </a:prstGeom>
          <a:noFill/>
          <a:ln/>
        </p:spPr>
        <p:txBody>
          <a:bodyPr wrap="square" rtlCol="0" anchor="ctr"/>
          <a:lstStyle/>
          <a:p>
            <a:pPr marL="0" indent="0">
              <a:buNone/>
            </a:pPr>
            <a:r>
              <a:rPr lang="en-US" sz="800" dirty="0">
                <a:solidFill>
                  <a:srgbClr val="64748B"/>
                </a:solidFill>
              </a:rPr>
              <a:t>Unified incident stream from PagerDuty, ServiceNow, Slack, Teams</a:t>
            </a:r>
            <a:endParaRPr lang="en-US" sz="800" dirty="0"/>
          </a:p>
        </p:txBody>
      </p:sp>
      <p:sp>
        <p:nvSpPr>
          <p:cNvPr id="25" name="Shape 23"/>
          <p:cNvSpPr/>
          <p:nvPr/>
        </p:nvSpPr>
        <p:spPr>
          <a:xfrm>
            <a:off x="6867144" y="731520"/>
            <a:ext cx="2057400" cy="1965960"/>
          </a:xfrm>
          <a:prstGeom prst="roundRect">
            <a:avLst/>
          </a:prstGeom>
          <a:solidFill>
            <a:srgbClr val="FFFFFF"/>
          </a:solidFill>
          <a:ln w="12700">
            <a:solidFill>
              <a:srgbClr val="E2E8F0"/>
            </a:solidFill>
            <a:prstDash val="solid"/>
          </a:ln>
        </p:spPr>
        <p:txBody>
          <a:bodyPr/>
          <a:lstStyle/>
          <a:p>
            <a:endParaRPr lang="en-US"/>
          </a:p>
        </p:txBody>
      </p:sp>
      <p:sp>
        <p:nvSpPr>
          <p:cNvPr id="26" name="Shape 24"/>
          <p:cNvSpPr/>
          <p:nvPr/>
        </p:nvSpPr>
        <p:spPr>
          <a:xfrm>
            <a:off x="7552944" y="822960"/>
            <a:ext cx="685800" cy="594360"/>
          </a:xfrm>
          <a:prstGeom prst="roundRect">
            <a:avLst/>
          </a:prstGeom>
          <a:solidFill>
            <a:srgbClr val="EEF2FF"/>
          </a:solidFill>
          <a:ln w="12700">
            <a:solidFill>
              <a:srgbClr val="E2E8F0"/>
            </a:solidFill>
            <a:prstDash val="solid"/>
          </a:ln>
        </p:spPr>
        <p:txBody>
          <a:bodyPr/>
          <a:lstStyle/>
          <a:p>
            <a:endParaRPr lang="en-US"/>
          </a:p>
        </p:txBody>
      </p:sp>
      <p:sp>
        <p:nvSpPr>
          <p:cNvPr id="27" name="Shape 25"/>
          <p:cNvSpPr/>
          <p:nvPr/>
        </p:nvSpPr>
        <p:spPr>
          <a:xfrm>
            <a:off x="6867144" y="731520"/>
            <a:ext cx="2057400" cy="457200"/>
          </a:xfrm>
          <a:prstGeom prst="roundRect">
            <a:avLst/>
          </a:prstGeom>
          <a:solidFill>
            <a:srgbClr val="059669"/>
          </a:solidFill>
          <a:ln w="12700">
            <a:solidFill>
              <a:srgbClr val="059669"/>
            </a:solidFill>
            <a:prstDash val="solid"/>
          </a:ln>
        </p:spPr>
        <p:txBody>
          <a:bodyPr/>
          <a:lstStyle/>
          <a:p>
            <a:endParaRPr lang="en-US"/>
          </a:p>
        </p:txBody>
      </p:sp>
      <p:sp>
        <p:nvSpPr>
          <p:cNvPr id="28" name="Shape 26"/>
          <p:cNvSpPr/>
          <p:nvPr/>
        </p:nvSpPr>
        <p:spPr>
          <a:xfrm>
            <a:off x="6867144" y="1051560"/>
            <a:ext cx="2057400" cy="137160"/>
          </a:xfrm>
          <a:prstGeom prst="rect">
            <a:avLst/>
          </a:prstGeom>
          <a:solidFill>
            <a:srgbClr val="059669"/>
          </a:solidFill>
          <a:ln w="12700">
            <a:solidFill>
              <a:srgbClr val="059669"/>
            </a:solidFill>
            <a:prstDash val="solid"/>
          </a:ln>
        </p:spPr>
        <p:txBody>
          <a:bodyPr/>
          <a:lstStyle/>
          <a:p>
            <a:endParaRPr lang="en-US"/>
          </a:p>
        </p:txBody>
      </p:sp>
      <p:sp>
        <p:nvSpPr>
          <p:cNvPr id="29" name="Text 27"/>
          <p:cNvSpPr/>
          <p:nvPr/>
        </p:nvSpPr>
        <p:spPr>
          <a:xfrm>
            <a:off x="6867144" y="804672"/>
            <a:ext cx="365760" cy="310896"/>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30" name="Text 28"/>
          <p:cNvSpPr/>
          <p:nvPr/>
        </p:nvSpPr>
        <p:spPr>
          <a:xfrm>
            <a:off x="7187184" y="822960"/>
            <a:ext cx="1691640" cy="274320"/>
          </a:xfrm>
          <a:prstGeom prst="rect">
            <a:avLst/>
          </a:prstGeom>
          <a:noFill/>
          <a:ln/>
        </p:spPr>
        <p:txBody>
          <a:bodyPr wrap="square" rtlCol="0" anchor="ctr"/>
          <a:lstStyle/>
          <a:p>
            <a:pPr marL="0" indent="0">
              <a:buNone/>
            </a:pPr>
            <a:r>
              <a:rPr lang="en-US" sz="1000" b="1" dirty="0">
                <a:solidFill>
                  <a:srgbClr val="FFFFFF"/>
                </a:solidFill>
              </a:rPr>
              <a:t>Shift Hub</a:t>
            </a:r>
            <a:endParaRPr lang="en-US" sz="1000" dirty="0"/>
          </a:p>
        </p:txBody>
      </p:sp>
      <p:sp>
        <p:nvSpPr>
          <p:cNvPr id="31" name="Text 29"/>
          <p:cNvSpPr/>
          <p:nvPr/>
        </p:nvSpPr>
        <p:spPr>
          <a:xfrm>
            <a:off x="6958584" y="1280160"/>
            <a:ext cx="1874520" cy="1325880"/>
          </a:xfrm>
          <a:prstGeom prst="rect">
            <a:avLst/>
          </a:prstGeom>
          <a:noFill/>
          <a:ln/>
        </p:spPr>
        <p:txBody>
          <a:bodyPr wrap="square" rtlCol="0" anchor="ctr"/>
          <a:lstStyle/>
          <a:p>
            <a:pPr marL="0" indent="0">
              <a:buNone/>
            </a:pPr>
            <a:r>
              <a:rPr lang="en-US" sz="800" dirty="0">
                <a:solidFill>
                  <a:srgbClr val="64748B"/>
                </a:solidFill>
              </a:rPr>
              <a:t>Today's shift cycle timeline + team submission tracking</a:t>
            </a:r>
            <a:endParaRPr lang="en-US" sz="800" dirty="0"/>
          </a:p>
        </p:txBody>
      </p:sp>
      <p:sp>
        <p:nvSpPr>
          <p:cNvPr id="32" name="Shape 30"/>
          <p:cNvSpPr/>
          <p:nvPr/>
        </p:nvSpPr>
        <p:spPr>
          <a:xfrm>
            <a:off x="228600" y="2852928"/>
            <a:ext cx="2057400" cy="1965960"/>
          </a:xfrm>
          <a:prstGeom prst="roundRect">
            <a:avLst/>
          </a:prstGeom>
          <a:solidFill>
            <a:srgbClr val="FFFFFF"/>
          </a:solidFill>
          <a:ln w="12700">
            <a:solidFill>
              <a:srgbClr val="E2E8F0"/>
            </a:solidFill>
            <a:prstDash val="solid"/>
          </a:ln>
        </p:spPr>
        <p:txBody>
          <a:bodyPr/>
          <a:lstStyle/>
          <a:p>
            <a:endParaRPr lang="en-US"/>
          </a:p>
        </p:txBody>
      </p:sp>
      <p:sp>
        <p:nvSpPr>
          <p:cNvPr id="33" name="Shape 31"/>
          <p:cNvSpPr/>
          <p:nvPr/>
        </p:nvSpPr>
        <p:spPr>
          <a:xfrm>
            <a:off x="914400" y="2944368"/>
            <a:ext cx="685800" cy="594360"/>
          </a:xfrm>
          <a:prstGeom prst="roundRect">
            <a:avLst/>
          </a:prstGeom>
          <a:solidFill>
            <a:srgbClr val="EEF2FF"/>
          </a:solidFill>
          <a:ln w="12700">
            <a:solidFill>
              <a:srgbClr val="E2E8F0"/>
            </a:solidFill>
            <a:prstDash val="solid"/>
          </a:ln>
        </p:spPr>
        <p:txBody>
          <a:bodyPr/>
          <a:lstStyle/>
          <a:p>
            <a:endParaRPr lang="en-US"/>
          </a:p>
        </p:txBody>
      </p:sp>
      <p:sp>
        <p:nvSpPr>
          <p:cNvPr id="34" name="Shape 32"/>
          <p:cNvSpPr/>
          <p:nvPr/>
        </p:nvSpPr>
        <p:spPr>
          <a:xfrm>
            <a:off x="228600" y="2852928"/>
            <a:ext cx="2057400" cy="457200"/>
          </a:xfrm>
          <a:prstGeom prst="roundRect">
            <a:avLst/>
          </a:prstGeom>
          <a:solidFill>
            <a:srgbClr val="1E3A5F"/>
          </a:solidFill>
          <a:ln w="12700">
            <a:solidFill>
              <a:srgbClr val="1E3A5F"/>
            </a:solidFill>
            <a:prstDash val="solid"/>
          </a:ln>
        </p:spPr>
        <p:txBody>
          <a:bodyPr/>
          <a:lstStyle/>
          <a:p>
            <a:endParaRPr lang="en-US"/>
          </a:p>
        </p:txBody>
      </p:sp>
      <p:sp>
        <p:nvSpPr>
          <p:cNvPr id="35" name="Shape 33"/>
          <p:cNvSpPr/>
          <p:nvPr/>
        </p:nvSpPr>
        <p:spPr>
          <a:xfrm>
            <a:off x="228600" y="3172968"/>
            <a:ext cx="2057400" cy="137160"/>
          </a:xfrm>
          <a:prstGeom prst="rect">
            <a:avLst/>
          </a:prstGeom>
          <a:solidFill>
            <a:srgbClr val="1E3A5F"/>
          </a:solidFill>
          <a:ln w="12700">
            <a:solidFill>
              <a:srgbClr val="1E3A5F"/>
            </a:solidFill>
            <a:prstDash val="solid"/>
          </a:ln>
        </p:spPr>
        <p:txBody>
          <a:bodyPr/>
          <a:lstStyle/>
          <a:p>
            <a:endParaRPr lang="en-US"/>
          </a:p>
        </p:txBody>
      </p:sp>
      <p:sp>
        <p:nvSpPr>
          <p:cNvPr id="36" name="Text 34"/>
          <p:cNvSpPr/>
          <p:nvPr/>
        </p:nvSpPr>
        <p:spPr>
          <a:xfrm>
            <a:off x="228600" y="2926080"/>
            <a:ext cx="365760" cy="310896"/>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37" name="Text 35"/>
          <p:cNvSpPr/>
          <p:nvPr/>
        </p:nvSpPr>
        <p:spPr>
          <a:xfrm>
            <a:off x="548640" y="2944368"/>
            <a:ext cx="1691640" cy="274320"/>
          </a:xfrm>
          <a:prstGeom prst="rect">
            <a:avLst/>
          </a:prstGeom>
          <a:noFill/>
          <a:ln/>
        </p:spPr>
        <p:txBody>
          <a:bodyPr wrap="square" rtlCol="0" anchor="ctr"/>
          <a:lstStyle/>
          <a:p>
            <a:pPr marL="0" indent="0">
              <a:buNone/>
            </a:pPr>
            <a:r>
              <a:rPr lang="en-US" sz="1000" b="1" dirty="0">
                <a:solidFill>
                  <a:srgbClr val="FFFFFF"/>
                </a:solidFill>
              </a:rPr>
              <a:t>Analytics</a:t>
            </a:r>
            <a:endParaRPr lang="en-US" sz="1000" dirty="0"/>
          </a:p>
        </p:txBody>
      </p:sp>
      <p:sp>
        <p:nvSpPr>
          <p:cNvPr id="38" name="Text 36"/>
          <p:cNvSpPr/>
          <p:nvPr/>
        </p:nvSpPr>
        <p:spPr>
          <a:xfrm>
            <a:off x="320040" y="3401568"/>
            <a:ext cx="1874520" cy="1325880"/>
          </a:xfrm>
          <a:prstGeom prst="rect">
            <a:avLst/>
          </a:prstGeom>
          <a:noFill/>
          <a:ln/>
        </p:spPr>
        <p:txBody>
          <a:bodyPr wrap="square" rtlCol="0" anchor="ctr"/>
          <a:lstStyle/>
          <a:p>
            <a:pPr marL="0" indent="0">
              <a:buNone/>
            </a:pPr>
            <a:r>
              <a:rPr lang="en-US" sz="800" dirty="0">
                <a:solidFill>
                  <a:srgbClr val="64748B"/>
                </a:solidFill>
              </a:rPr>
              <a:t>Period KPIs: SLA, resolution rate, P1 count, handover ack %</a:t>
            </a:r>
            <a:endParaRPr lang="en-US" sz="800" dirty="0"/>
          </a:p>
        </p:txBody>
      </p:sp>
      <p:sp>
        <p:nvSpPr>
          <p:cNvPr id="39" name="Shape 37"/>
          <p:cNvSpPr/>
          <p:nvPr/>
        </p:nvSpPr>
        <p:spPr>
          <a:xfrm>
            <a:off x="2441448" y="2852928"/>
            <a:ext cx="2057400" cy="1965960"/>
          </a:xfrm>
          <a:prstGeom prst="roundRect">
            <a:avLst/>
          </a:prstGeom>
          <a:solidFill>
            <a:srgbClr val="FFFFFF"/>
          </a:solidFill>
          <a:ln w="12700">
            <a:solidFill>
              <a:srgbClr val="E2E8F0"/>
            </a:solidFill>
            <a:prstDash val="solid"/>
          </a:ln>
        </p:spPr>
        <p:txBody>
          <a:bodyPr/>
          <a:lstStyle/>
          <a:p>
            <a:endParaRPr lang="en-US"/>
          </a:p>
        </p:txBody>
      </p:sp>
      <p:sp>
        <p:nvSpPr>
          <p:cNvPr id="40" name="Shape 38"/>
          <p:cNvSpPr/>
          <p:nvPr/>
        </p:nvSpPr>
        <p:spPr>
          <a:xfrm>
            <a:off x="3127248" y="2944368"/>
            <a:ext cx="685800" cy="594360"/>
          </a:xfrm>
          <a:prstGeom prst="roundRect">
            <a:avLst/>
          </a:prstGeom>
          <a:solidFill>
            <a:srgbClr val="EEF2FF"/>
          </a:solidFill>
          <a:ln w="12700">
            <a:solidFill>
              <a:srgbClr val="E2E8F0"/>
            </a:solidFill>
            <a:prstDash val="solid"/>
          </a:ln>
        </p:spPr>
        <p:txBody>
          <a:bodyPr/>
          <a:lstStyle/>
          <a:p>
            <a:endParaRPr lang="en-US"/>
          </a:p>
        </p:txBody>
      </p:sp>
      <p:sp>
        <p:nvSpPr>
          <p:cNvPr id="41" name="Shape 39"/>
          <p:cNvSpPr/>
          <p:nvPr/>
        </p:nvSpPr>
        <p:spPr>
          <a:xfrm>
            <a:off x="2441448" y="2852928"/>
            <a:ext cx="2057400" cy="457200"/>
          </a:xfrm>
          <a:prstGeom prst="roundRect">
            <a:avLst/>
          </a:prstGeom>
          <a:solidFill>
            <a:srgbClr val="7C3AED"/>
          </a:solidFill>
          <a:ln w="12700">
            <a:solidFill>
              <a:srgbClr val="7C3AED"/>
            </a:solidFill>
            <a:prstDash val="solid"/>
          </a:ln>
        </p:spPr>
        <p:txBody>
          <a:bodyPr/>
          <a:lstStyle/>
          <a:p>
            <a:endParaRPr lang="en-US"/>
          </a:p>
        </p:txBody>
      </p:sp>
      <p:sp>
        <p:nvSpPr>
          <p:cNvPr id="42" name="Shape 40"/>
          <p:cNvSpPr/>
          <p:nvPr/>
        </p:nvSpPr>
        <p:spPr>
          <a:xfrm>
            <a:off x="2441448" y="3172968"/>
            <a:ext cx="2057400" cy="137160"/>
          </a:xfrm>
          <a:prstGeom prst="rect">
            <a:avLst/>
          </a:prstGeom>
          <a:solidFill>
            <a:srgbClr val="7C3AED"/>
          </a:solidFill>
          <a:ln w="12700">
            <a:solidFill>
              <a:srgbClr val="7C3AED"/>
            </a:solidFill>
            <a:prstDash val="solid"/>
          </a:ln>
        </p:spPr>
        <p:txBody>
          <a:bodyPr/>
          <a:lstStyle/>
          <a:p>
            <a:endParaRPr lang="en-US"/>
          </a:p>
        </p:txBody>
      </p:sp>
      <p:sp>
        <p:nvSpPr>
          <p:cNvPr id="43" name="Text 41"/>
          <p:cNvSpPr/>
          <p:nvPr/>
        </p:nvSpPr>
        <p:spPr>
          <a:xfrm>
            <a:off x="2441448" y="2926080"/>
            <a:ext cx="365760" cy="310896"/>
          </a:xfrm>
          <a:prstGeom prst="rect">
            <a:avLst/>
          </a:prstGeom>
          <a:noFill/>
          <a:ln/>
        </p:spPr>
        <p:txBody>
          <a:bodyPr wrap="square" rtlCol="0" anchor="ctr"/>
          <a:lstStyle/>
          <a:p>
            <a:pPr marL="0" indent="0" algn="ctr">
              <a:buNone/>
            </a:pPr>
            <a:r>
              <a:rPr lang="en-US" sz="1600" b="1" dirty="0">
                <a:solidFill>
                  <a:srgbClr val="FFFFFF"/>
                </a:solidFill>
              </a:rPr>
              <a:t>6</a:t>
            </a:r>
            <a:endParaRPr lang="en-US" sz="1600" dirty="0"/>
          </a:p>
        </p:txBody>
      </p:sp>
      <p:sp>
        <p:nvSpPr>
          <p:cNvPr id="44" name="Text 42"/>
          <p:cNvSpPr/>
          <p:nvPr/>
        </p:nvSpPr>
        <p:spPr>
          <a:xfrm>
            <a:off x="2761488" y="2944368"/>
            <a:ext cx="1691640" cy="274320"/>
          </a:xfrm>
          <a:prstGeom prst="rect">
            <a:avLst/>
          </a:prstGeom>
          <a:noFill/>
          <a:ln/>
        </p:spPr>
        <p:txBody>
          <a:bodyPr wrap="square" rtlCol="0" anchor="ctr"/>
          <a:lstStyle/>
          <a:p>
            <a:pPr marL="0" indent="0">
              <a:buNone/>
            </a:pPr>
            <a:r>
              <a:rPr lang="en-US" sz="1000" b="1" dirty="0">
                <a:solidFill>
                  <a:srgbClr val="FFFFFF"/>
                </a:solidFill>
              </a:rPr>
              <a:t>Daily Diary</a:t>
            </a:r>
            <a:endParaRPr lang="en-US" sz="1000" dirty="0"/>
          </a:p>
        </p:txBody>
      </p:sp>
      <p:sp>
        <p:nvSpPr>
          <p:cNvPr id="45" name="Text 43"/>
          <p:cNvSpPr/>
          <p:nvPr/>
        </p:nvSpPr>
        <p:spPr>
          <a:xfrm>
            <a:off x="2532888" y="3401568"/>
            <a:ext cx="1874520" cy="1325880"/>
          </a:xfrm>
          <a:prstGeom prst="rect">
            <a:avLst/>
          </a:prstGeom>
          <a:noFill/>
          <a:ln/>
        </p:spPr>
        <p:txBody>
          <a:bodyPr wrap="square" rtlCol="0" anchor="ctr"/>
          <a:lstStyle/>
          <a:p>
            <a:pPr marL="0" indent="0">
              <a:buNone/>
            </a:pPr>
            <a:r>
              <a:rPr lang="en-US" sz="800" dirty="0">
                <a:solidFill>
                  <a:srgbClr val="64748B"/>
                </a:solidFill>
              </a:rPr>
              <a:t>Shift diary, incident count, KT progress, KTLO tasks</a:t>
            </a:r>
            <a:endParaRPr lang="en-US" sz="800" dirty="0"/>
          </a:p>
        </p:txBody>
      </p:sp>
      <p:sp>
        <p:nvSpPr>
          <p:cNvPr id="46" name="Shape 44"/>
          <p:cNvSpPr/>
          <p:nvPr/>
        </p:nvSpPr>
        <p:spPr>
          <a:xfrm>
            <a:off x="4654296" y="2852928"/>
            <a:ext cx="2057400" cy="1965960"/>
          </a:xfrm>
          <a:prstGeom prst="roundRect">
            <a:avLst/>
          </a:prstGeom>
          <a:solidFill>
            <a:srgbClr val="FFFFFF"/>
          </a:solidFill>
          <a:ln w="12700">
            <a:solidFill>
              <a:srgbClr val="E2E8F0"/>
            </a:solidFill>
            <a:prstDash val="solid"/>
          </a:ln>
        </p:spPr>
        <p:txBody>
          <a:bodyPr/>
          <a:lstStyle/>
          <a:p>
            <a:endParaRPr lang="en-US"/>
          </a:p>
        </p:txBody>
      </p:sp>
      <p:sp>
        <p:nvSpPr>
          <p:cNvPr id="47" name="Shape 45"/>
          <p:cNvSpPr/>
          <p:nvPr/>
        </p:nvSpPr>
        <p:spPr>
          <a:xfrm>
            <a:off x="5340096" y="2944368"/>
            <a:ext cx="685800" cy="594360"/>
          </a:xfrm>
          <a:prstGeom prst="roundRect">
            <a:avLst/>
          </a:prstGeom>
          <a:solidFill>
            <a:srgbClr val="EEF2FF"/>
          </a:solidFill>
          <a:ln w="12700">
            <a:solidFill>
              <a:srgbClr val="E2E8F0"/>
            </a:solidFill>
            <a:prstDash val="solid"/>
          </a:ln>
        </p:spPr>
        <p:txBody>
          <a:bodyPr/>
          <a:lstStyle/>
          <a:p>
            <a:endParaRPr lang="en-US"/>
          </a:p>
        </p:txBody>
      </p:sp>
      <p:sp>
        <p:nvSpPr>
          <p:cNvPr id="48" name="Shape 46"/>
          <p:cNvSpPr/>
          <p:nvPr/>
        </p:nvSpPr>
        <p:spPr>
          <a:xfrm>
            <a:off x="4654296" y="2852928"/>
            <a:ext cx="2057400" cy="457200"/>
          </a:xfrm>
          <a:prstGeom prst="roundRect">
            <a:avLst/>
          </a:prstGeom>
          <a:solidFill>
            <a:srgbClr val="0891B2"/>
          </a:solidFill>
          <a:ln w="12700">
            <a:solidFill>
              <a:srgbClr val="0891B2"/>
            </a:solidFill>
            <a:prstDash val="solid"/>
          </a:ln>
        </p:spPr>
        <p:txBody>
          <a:bodyPr/>
          <a:lstStyle/>
          <a:p>
            <a:endParaRPr lang="en-US"/>
          </a:p>
        </p:txBody>
      </p:sp>
      <p:sp>
        <p:nvSpPr>
          <p:cNvPr id="49" name="Shape 47"/>
          <p:cNvSpPr/>
          <p:nvPr/>
        </p:nvSpPr>
        <p:spPr>
          <a:xfrm>
            <a:off x="4654296" y="3172968"/>
            <a:ext cx="2057400" cy="137160"/>
          </a:xfrm>
          <a:prstGeom prst="rect">
            <a:avLst/>
          </a:prstGeom>
          <a:solidFill>
            <a:srgbClr val="0891B2"/>
          </a:solidFill>
          <a:ln w="12700">
            <a:solidFill>
              <a:srgbClr val="0891B2"/>
            </a:solidFill>
            <a:prstDash val="solid"/>
          </a:ln>
        </p:spPr>
        <p:txBody>
          <a:bodyPr/>
          <a:lstStyle/>
          <a:p>
            <a:endParaRPr lang="en-US"/>
          </a:p>
        </p:txBody>
      </p:sp>
      <p:sp>
        <p:nvSpPr>
          <p:cNvPr id="50" name="Text 48"/>
          <p:cNvSpPr/>
          <p:nvPr/>
        </p:nvSpPr>
        <p:spPr>
          <a:xfrm>
            <a:off x="4654296" y="2926080"/>
            <a:ext cx="365760" cy="310896"/>
          </a:xfrm>
          <a:prstGeom prst="rect">
            <a:avLst/>
          </a:prstGeom>
          <a:noFill/>
          <a:ln/>
        </p:spPr>
        <p:txBody>
          <a:bodyPr wrap="square" rtlCol="0" anchor="ctr"/>
          <a:lstStyle/>
          <a:p>
            <a:pPr marL="0" indent="0" algn="ctr">
              <a:buNone/>
            </a:pPr>
            <a:r>
              <a:rPr lang="en-US" sz="1600" b="1" dirty="0">
                <a:solidFill>
                  <a:srgbClr val="FFFFFF"/>
                </a:solidFill>
              </a:rPr>
              <a:t>7</a:t>
            </a:r>
            <a:endParaRPr lang="en-US" sz="1600" dirty="0"/>
          </a:p>
        </p:txBody>
      </p:sp>
      <p:sp>
        <p:nvSpPr>
          <p:cNvPr id="51" name="Text 49"/>
          <p:cNvSpPr/>
          <p:nvPr/>
        </p:nvSpPr>
        <p:spPr>
          <a:xfrm>
            <a:off x="4974336" y="2944368"/>
            <a:ext cx="1691640" cy="274320"/>
          </a:xfrm>
          <a:prstGeom prst="rect">
            <a:avLst/>
          </a:prstGeom>
          <a:noFill/>
          <a:ln/>
        </p:spPr>
        <p:txBody>
          <a:bodyPr wrap="square" rtlCol="0" anchor="ctr"/>
          <a:lstStyle/>
          <a:p>
            <a:pPr marL="0" indent="0">
              <a:buNone/>
            </a:pPr>
            <a:r>
              <a:rPr lang="en-US" sz="1000" b="1" dirty="0">
                <a:solidFill>
                  <a:srgbClr val="FFFFFF"/>
                </a:solidFill>
              </a:rPr>
              <a:t>Roster Planner</a:t>
            </a:r>
            <a:endParaRPr lang="en-US" sz="1000" dirty="0"/>
          </a:p>
        </p:txBody>
      </p:sp>
      <p:sp>
        <p:nvSpPr>
          <p:cNvPr id="52" name="Text 50"/>
          <p:cNvSpPr/>
          <p:nvPr/>
        </p:nvSpPr>
        <p:spPr>
          <a:xfrm>
            <a:off x="4745736" y="3401568"/>
            <a:ext cx="1874520" cy="1325880"/>
          </a:xfrm>
          <a:prstGeom prst="rect">
            <a:avLst/>
          </a:prstGeom>
          <a:noFill/>
          <a:ln/>
        </p:spPr>
        <p:txBody>
          <a:bodyPr wrap="square" rtlCol="0" anchor="ctr"/>
          <a:lstStyle/>
          <a:p>
            <a:pPr marL="0" indent="0">
              <a:buNone/>
            </a:pPr>
            <a:r>
              <a:rPr lang="en-US" sz="800" dirty="0">
                <a:solidFill>
                  <a:srgbClr val="64748B"/>
                </a:solidFill>
              </a:rPr>
              <a:t>Visual shift calendar with on-call, holiday overlays, all projects</a:t>
            </a:r>
            <a:endParaRPr lang="en-US" sz="800" dirty="0"/>
          </a:p>
        </p:txBody>
      </p:sp>
      <p:sp>
        <p:nvSpPr>
          <p:cNvPr id="53" name="Shape 51"/>
          <p:cNvSpPr/>
          <p:nvPr/>
        </p:nvSpPr>
        <p:spPr>
          <a:xfrm>
            <a:off x="6867144" y="2852928"/>
            <a:ext cx="2057400" cy="1965960"/>
          </a:xfrm>
          <a:prstGeom prst="roundRect">
            <a:avLst/>
          </a:prstGeom>
          <a:solidFill>
            <a:srgbClr val="FFFFFF"/>
          </a:solidFill>
          <a:ln w="12700">
            <a:solidFill>
              <a:srgbClr val="E2E8F0"/>
            </a:solidFill>
            <a:prstDash val="solid"/>
          </a:ln>
        </p:spPr>
        <p:txBody>
          <a:bodyPr/>
          <a:lstStyle/>
          <a:p>
            <a:endParaRPr lang="en-US"/>
          </a:p>
        </p:txBody>
      </p:sp>
      <p:sp>
        <p:nvSpPr>
          <p:cNvPr id="54" name="Shape 52"/>
          <p:cNvSpPr/>
          <p:nvPr/>
        </p:nvSpPr>
        <p:spPr>
          <a:xfrm>
            <a:off x="7552944" y="2944368"/>
            <a:ext cx="685800" cy="594360"/>
          </a:xfrm>
          <a:prstGeom prst="roundRect">
            <a:avLst/>
          </a:prstGeom>
          <a:solidFill>
            <a:srgbClr val="EEF2FF"/>
          </a:solidFill>
          <a:ln w="12700">
            <a:solidFill>
              <a:srgbClr val="E2E8F0"/>
            </a:solidFill>
            <a:prstDash val="solid"/>
          </a:ln>
        </p:spPr>
        <p:txBody>
          <a:bodyPr/>
          <a:lstStyle/>
          <a:p>
            <a:endParaRPr lang="en-US"/>
          </a:p>
        </p:txBody>
      </p:sp>
      <p:sp>
        <p:nvSpPr>
          <p:cNvPr id="55" name="Shape 53"/>
          <p:cNvSpPr/>
          <p:nvPr/>
        </p:nvSpPr>
        <p:spPr>
          <a:xfrm>
            <a:off x="6867144" y="2852928"/>
            <a:ext cx="2057400" cy="457200"/>
          </a:xfrm>
          <a:prstGeom prst="roundRect">
            <a:avLst/>
          </a:prstGeom>
          <a:solidFill>
            <a:srgbClr val="DB2777"/>
          </a:solidFill>
          <a:ln w="12700">
            <a:solidFill>
              <a:srgbClr val="DB2777"/>
            </a:solidFill>
            <a:prstDash val="solid"/>
          </a:ln>
        </p:spPr>
        <p:txBody>
          <a:bodyPr/>
          <a:lstStyle/>
          <a:p>
            <a:endParaRPr lang="en-US"/>
          </a:p>
        </p:txBody>
      </p:sp>
      <p:sp>
        <p:nvSpPr>
          <p:cNvPr id="56" name="Shape 54"/>
          <p:cNvSpPr/>
          <p:nvPr/>
        </p:nvSpPr>
        <p:spPr>
          <a:xfrm>
            <a:off x="6867144" y="3172968"/>
            <a:ext cx="2057400" cy="137160"/>
          </a:xfrm>
          <a:prstGeom prst="rect">
            <a:avLst/>
          </a:prstGeom>
          <a:solidFill>
            <a:srgbClr val="DB2777"/>
          </a:solidFill>
          <a:ln w="12700">
            <a:solidFill>
              <a:srgbClr val="DB2777"/>
            </a:solidFill>
            <a:prstDash val="solid"/>
          </a:ln>
        </p:spPr>
        <p:txBody>
          <a:bodyPr/>
          <a:lstStyle/>
          <a:p>
            <a:endParaRPr lang="en-US"/>
          </a:p>
        </p:txBody>
      </p:sp>
      <p:sp>
        <p:nvSpPr>
          <p:cNvPr id="57" name="Text 55"/>
          <p:cNvSpPr/>
          <p:nvPr/>
        </p:nvSpPr>
        <p:spPr>
          <a:xfrm>
            <a:off x="6867144" y="2926080"/>
            <a:ext cx="365760" cy="310896"/>
          </a:xfrm>
          <a:prstGeom prst="rect">
            <a:avLst/>
          </a:prstGeom>
          <a:noFill/>
          <a:ln/>
        </p:spPr>
        <p:txBody>
          <a:bodyPr wrap="square" rtlCol="0" anchor="ctr"/>
          <a:lstStyle/>
          <a:p>
            <a:pPr marL="0" indent="0" algn="ctr">
              <a:buNone/>
            </a:pPr>
            <a:r>
              <a:rPr lang="en-US" sz="1600" b="1" dirty="0">
                <a:solidFill>
                  <a:srgbClr val="FFFFFF"/>
                </a:solidFill>
              </a:rPr>
              <a:t>8</a:t>
            </a:r>
            <a:endParaRPr lang="en-US" sz="1600" dirty="0"/>
          </a:p>
        </p:txBody>
      </p:sp>
      <p:sp>
        <p:nvSpPr>
          <p:cNvPr id="58" name="Text 56"/>
          <p:cNvSpPr/>
          <p:nvPr/>
        </p:nvSpPr>
        <p:spPr>
          <a:xfrm>
            <a:off x="7187184" y="2944368"/>
            <a:ext cx="1691640" cy="274320"/>
          </a:xfrm>
          <a:prstGeom prst="rect">
            <a:avLst/>
          </a:prstGeom>
          <a:noFill/>
          <a:ln/>
        </p:spPr>
        <p:txBody>
          <a:bodyPr wrap="square" rtlCol="0" anchor="ctr"/>
          <a:lstStyle/>
          <a:p>
            <a:pPr marL="0" indent="0">
              <a:buNone/>
            </a:pPr>
            <a:r>
              <a:rPr lang="en-US" sz="1000" b="1" dirty="0">
                <a:solidFill>
                  <a:srgbClr val="FFFFFF"/>
                </a:solidFill>
              </a:rPr>
              <a:t>PT Coverage</a:t>
            </a:r>
            <a:endParaRPr lang="en-US" sz="1000" dirty="0"/>
          </a:p>
        </p:txBody>
      </p:sp>
      <p:sp>
        <p:nvSpPr>
          <p:cNvPr id="59" name="Text 57"/>
          <p:cNvSpPr/>
          <p:nvPr/>
        </p:nvSpPr>
        <p:spPr>
          <a:xfrm>
            <a:off x="6958584" y="3401568"/>
            <a:ext cx="1874520" cy="1325880"/>
          </a:xfrm>
          <a:prstGeom prst="rect">
            <a:avLst/>
          </a:prstGeom>
          <a:noFill/>
          <a:ln/>
        </p:spPr>
        <p:txBody>
          <a:bodyPr wrap="square" rtlCol="0" anchor="ctr"/>
          <a:lstStyle/>
          <a:p>
            <a:pPr marL="0" indent="0">
              <a:buNone/>
            </a:pPr>
            <a:r>
              <a:rPr lang="en-US" sz="800" dirty="0">
                <a:solidFill>
                  <a:srgbClr val="64748B"/>
                </a:solidFill>
              </a:rPr>
              <a:t>Per-shift YCI SPOC + Client SME coverage across all projects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64008"/>
            <a:ext cx="6400800" cy="310896"/>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Dashboard</a:t>
            </a:r>
            <a:endParaRPr lang="en-US" sz="1800" dirty="0"/>
          </a:p>
        </p:txBody>
      </p:sp>
      <p:sp>
        <p:nvSpPr>
          <p:cNvPr id="4" name="Text 2"/>
          <p:cNvSpPr/>
          <p:nvPr/>
        </p:nvSpPr>
        <p:spPr>
          <a:xfrm>
            <a:off x="274320" y="365760"/>
            <a:ext cx="6400800" cy="182880"/>
          </a:xfrm>
          <a:prstGeom prst="rect">
            <a:avLst/>
          </a:prstGeom>
          <a:noFill/>
          <a:ln/>
        </p:spPr>
        <p:txBody>
          <a:bodyPr wrap="square" rtlCol="0" anchor="ctr"/>
          <a:lstStyle/>
          <a:p>
            <a:pPr marL="0" indent="0">
              <a:buNone/>
            </a:pPr>
            <a:r>
              <a:rPr lang="en-US" sz="900" dirty="0">
                <a:solidFill>
                  <a:srgbClr val="94A3B8"/>
                </a:solidFill>
              </a:rPr>
              <a:t>Live command center — quick actions, stat cards, shift handover &amp; swap status</a:t>
            </a:r>
            <a:endParaRPr lang="en-US" sz="900" dirty="0"/>
          </a:p>
        </p:txBody>
      </p:sp>
      <p:pic>
        <p:nvPicPr>
          <p:cNvPr id="5" name="Image 0" descr="/sessions/dazzling-bold-euler/mnt/shiftbuddy/screenshots/screencapture-shiftbuddy-brahmateja-dashboard-2026-05-28-07_27_00.png"/>
          <p:cNvPicPr>
            <a:picLocks noChangeAspect="1"/>
          </p:cNvPicPr>
          <p:nvPr/>
        </p:nvPicPr>
        <p:blipFill>
          <a:blip r:embed="rId3"/>
          <a:stretch>
            <a:fillRect/>
          </a:stretch>
        </p:blipFill>
        <p:spPr>
          <a:xfrm>
            <a:off x="137160" y="621792"/>
            <a:ext cx="6629400" cy="3524171"/>
          </a:xfrm>
          <a:prstGeom prst="rect">
            <a:avLst/>
          </a:prstGeom>
        </p:spPr>
      </p:pic>
      <p:sp>
        <p:nvSpPr>
          <p:cNvPr id="6" name="Shape 3"/>
          <p:cNvSpPr/>
          <p:nvPr/>
        </p:nvSpPr>
        <p:spPr>
          <a:xfrm>
            <a:off x="137160" y="621792"/>
            <a:ext cx="6629400" cy="3524171"/>
          </a:xfrm>
          <a:prstGeom prst="rect">
            <a:avLst/>
          </a:prstGeom>
          <a:ln w="6350">
            <a:solidFill>
              <a:srgbClr val="E2E8F0"/>
            </a:solidFill>
            <a:prstDash val="solid"/>
          </a:ln>
        </p:spPr>
        <p:txBody>
          <a:bodyPr/>
          <a:lstStyle/>
          <a:p>
            <a:endParaRPr lang="en-US"/>
          </a:p>
        </p:txBody>
      </p:sp>
      <p:sp>
        <p:nvSpPr>
          <p:cNvPr id="7" name="Shape 4"/>
          <p:cNvSpPr/>
          <p:nvPr/>
        </p:nvSpPr>
        <p:spPr>
          <a:xfrm>
            <a:off x="160179" y="690848"/>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8" name="Text 5"/>
          <p:cNvSpPr/>
          <p:nvPr/>
        </p:nvSpPr>
        <p:spPr>
          <a:xfrm>
            <a:off x="160179" y="690848"/>
            <a:ext cx="274320" cy="274320"/>
          </a:xfrm>
          <a:prstGeom prst="rect">
            <a:avLst/>
          </a:prstGeom>
          <a:noFill/>
          <a:ln/>
        </p:spPr>
        <p:txBody>
          <a:bodyPr wrap="square" rtlCol="0" anchor="ctr"/>
          <a:lstStyle/>
          <a:p>
            <a:pPr marL="0" indent="0" algn="ctr">
              <a:buNone/>
            </a:pPr>
            <a:r>
              <a:rPr lang="en-US" sz="1000" b="1" dirty="0">
                <a:solidFill>
                  <a:srgbClr val="0F172A"/>
                </a:solidFill>
              </a:rPr>
              <a:t>1</a:t>
            </a:r>
            <a:endParaRPr lang="en-US" sz="1000" dirty="0"/>
          </a:p>
        </p:txBody>
      </p:sp>
      <p:sp>
        <p:nvSpPr>
          <p:cNvPr id="9" name="Shape 6"/>
          <p:cNvSpPr/>
          <p:nvPr/>
        </p:nvSpPr>
        <p:spPr>
          <a:xfrm>
            <a:off x="1978660" y="633301"/>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0" name="Text 7"/>
          <p:cNvSpPr/>
          <p:nvPr/>
        </p:nvSpPr>
        <p:spPr>
          <a:xfrm>
            <a:off x="1978660" y="633301"/>
            <a:ext cx="274320" cy="274320"/>
          </a:xfrm>
          <a:prstGeom prst="rect">
            <a:avLst/>
          </a:prstGeom>
          <a:noFill/>
          <a:ln/>
        </p:spPr>
        <p:txBody>
          <a:bodyPr wrap="square" rtlCol="0" anchor="ctr"/>
          <a:lstStyle/>
          <a:p>
            <a:pPr marL="0" indent="0" algn="ctr">
              <a:buNone/>
            </a:pPr>
            <a:r>
              <a:rPr lang="en-US" sz="1000" b="1" dirty="0">
                <a:solidFill>
                  <a:srgbClr val="0F172A"/>
                </a:solidFill>
              </a:rPr>
              <a:t>2</a:t>
            </a:r>
            <a:endParaRPr lang="en-US" sz="1000" dirty="0"/>
          </a:p>
        </p:txBody>
      </p:sp>
      <p:sp>
        <p:nvSpPr>
          <p:cNvPr id="11" name="Shape 8"/>
          <p:cNvSpPr/>
          <p:nvPr/>
        </p:nvSpPr>
        <p:spPr>
          <a:xfrm>
            <a:off x="5155248" y="633301"/>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2" name="Text 9"/>
          <p:cNvSpPr/>
          <p:nvPr/>
        </p:nvSpPr>
        <p:spPr>
          <a:xfrm>
            <a:off x="5155248" y="633301"/>
            <a:ext cx="274320" cy="274320"/>
          </a:xfrm>
          <a:prstGeom prst="rect">
            <a:avLst/>
          </a:prstGeom>
          <a:noFill/>
          <a:ln/>
        </p:spPr>
        <p:txBody>
          <a:bodyPr wrap="square" rtlCol="0" anchor="ctr"/>
          <a:lstStyle/>
          <a:p>
            <a:pPr marL="0" indent="0" algn="ctr">
              <a:buNone/>
            </a:pPr>
            <a:r>
              <a:rPr lang="en-US" sz="1000" b="1" dirty="0">
                <a:solidFill>
                  <a:srgbClr val="0F172A"/>
                </a:solidFill>
              </a:rPr>
              <a:t>3</a:t>
            </a:r>
            <a:endParaRPr lang="en-US" sz="1000" dirty="0"/>
          </a:p>
        </p:txBody>
      </p:sp>
      <p:sp>
        <p:nvSpPr>
          <p:cNvPr id="13" name="Shape 10"/>
          <p:cNvSpPr/>
          <p:nvPr/>
        </p:nvSpPr>
        <p:spPr>
          <a:xfrm>
            <a:off x="1748472" y="851980"/>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4" name="Text 11"/>
          <p:cNvSpPr/>
          <p:nvPr/>
        </p:nvSpPr>
        <p:spPr>
          <a:xfrm>
            <a:off x="1748472" y="851980"/>
            <a:ext cx="274320" cy="274320"/>
          </a:xfrm>
          <a:prstGeom prst="rect">
            <a:avLst/>
          </a:prstGeom>
          <a:noFill/>
          <a:ln/>
        </p:spPr>
        <p:txBody>
          <a:bodyPr wrap="square" rtlCol="0" anchor="ctr"/>
          <a:lstStyle/>
          <a:p>
            <a:pPr marL="0" indent="0" algn="ctr">
              <a:buNone/>
            </a:pPr>
            <a:r>
              <a:rPr lang="en-US" sz="1000" b="1" dirty="0">
                <a:solidFill>
                  <a:srgbClr val="0F172A"/>
                </a:solidFill>
              </a:rPr>
              <a:t>4</a:t>
            </a:r>
            <a:endParaRPr lang="en-US" sz="1000" dirty="0"/>
          </a:p>
        </p:txBody>
      </p:sp>
      <p:sp>
        <p:nvSpPr>
          <p:cNvPr id="15" name="Shape 12"/>
          <p:cNvSpPr/>
          <p:nvPr/>
        </p:nvSpPr>
        <p:spPr>
          <a:xfrm>
            <a:off x="1748472" y="1277826"/>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6" name="Text 13"/>
          <p:cNvSpPr/>
          <p:nvPr/>
        </p:nvSpPr>
        <p:spPr>
          <a:xfrm>
            <a:off x="1748472" y="1277826"/>
            <a:ext cx="274320" cy="274320"/>
          </a:xfrm>
          <a:prstGeom prst="rect">
            <a:avLst/>
          </a:prstGeom>
          <a:noFill/>
          <a:ln/>
        </p:spPr>
        <p:txBody>
          <a:bodyPr wrap="square" rtlCol="0" anchor="ctr"/>
          <a:lstStyle/>
          <a:p>
            <a:pPr marL="0" indent="0" algn="ctr">
              <a:buNone/>
            </a:pPr>
            <a:r>
              <a:rPr lang="en-US" sz="1000" b="1" dirty="0">
                <a:solidFill>
                  <a:srgbClr val="0F172A"/>
                </a:solidFill>
              </a:rPr>
              <a:t>5</a:t>
            </a:r>
            <a:endParaRPr lang="en-US" sz="1000" dirty="0"/>
          </a:p>
        </p:txBody>
      </p:sp>
      <p:sp>
        <p:nvSpPr>
          <p:cNvPr id="17" name="Shape 14"/>
          <p:cNvSpPr/>
          <p:nvPr/>
        </p:nvSpPr>
        <p:spPr>
          <a:xfrm>
            <a:off x="988854" y="1611598"/>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8" name="Text 15"/>
          <p:cNvSpPr/>
          <p:nvPr/>
        </p:nvSpPr>
        <p:spPr>
          <a:xfrm>
            <a:off x="988854" y="1611598"/>
            <a:ext cx="274320" cy="274320"/>
          </a:xfrm>
          <a:prstGeom prst="rect">
            <a:avLst/>
          </a:prstGeom>
          <a:noFill/>
          <a:ln/>
        </p:spPr>
        <p:txBody>
          <a:bodyPr wrap="square" rtlCol="0" anchor="ctr"/>
          <a:lstStyle/>
          <a:p>
            <a:pPr marL="0" indent="0" algn="ctr">
              <a:buNone/>
            </a:pPr>
            <a:r>
              <a:rPr lang="en-US" sz="1000" b="1" dirty="0">
                <a:solidFill>
                  <a:srgbClr val="0F172A"/>
                </a:solidFill>
              </a:rPr>
              <a:t>6</a:t>
            </a:r>
            <a:endParaRPr lang="en-US" sz="1000" dirty="0"/>
          </a:p>
        </p:txBody>
      </p:sp>
      <p:sp>
        <p:nvSpPr>
          <p:cNvPr id="19" name="Shape 16"/>
          <p:cNvSpPr/>
          <p:nvPr/>
        </p:nvSpPr>
        <p:spPr>
          <a:xfrm>
            <a:off x="3935254" y="1611598"/>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0" name="Text 17"/>
          <p:cNvSpPr/>
          <p:nvPr/>
        </p:nvSpPr>
        <p:spPr>
          <a:xfrm>
            <a:off x="3935254" y="1611598"/>
            <a:ext cx="274320" cy="274320"/>
          </a:xfrm>
          <a:prstGeom prst="rect">
            <a:avLst/>
          </a:prstGeom>
          <a:noFill/>
          <a:ln/>
        </p:spPr>
        <p:txBody>
          <a:bodyPr wrap="square" rtlCol="0" anchor="ctr"/>
          <a:lstStyle/>
          <a:p>
            <a:pPr marL="0" indent="0" algn="ctr">
              <a:buNone/>
            </a:pPr>
            <a:r>
              <a:rPr lang="en-US" sz="1000" b="1" dirty="0">
                <a:solidFill>
                  <a:srgbClr val="0F172A"/>
                </a:solidFill>
              </a:rPr>
              <a:t>7</a:t>
            </a:r>
            <a:endParaRPr lang="en-US" sz="1000" dirty="0"/>
          </a:p>
        </p:txBody>
      </p:sp>
      <p:sp>
        <p:nvSpPr>
          <p:cNvPr id="21" name="Shape 18"/>
          <p:cNvSpPr/>
          <p:nvPr/>
        </p:nvSpPr>
        <p:spPr>
          <a:xfrm>
            <a:off x="988854" y="2141030"/>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2" name="Text 19"/>
          <p:cNvSpPr/>
          <p:nvPr/>
        </p:nvSpPr>
        <p:spPr>
          <a:xfrm>
            <a:off x="988854" y="2141030"/>
            <a:ext cx="274320" cy="274320"/>
          </a:xfrm>
          <a:prstGeom prst="rect">
            <a:avLst/>
          </a:prstGeom>
          <a:noFill/>
          <a:ln/>
        </p:spPr>
        <p:txBody>
          <a:bodyPr wrap="square" rtlCol="0" anchor="ctr"/>
          <a:lstStyle/>
          <a:p>
            <a:pPr marL="0" indent="0" algn="ctr">
              <a:buNone/>
            </a:pPr>
            <a:r>
              <a:rPr lang="en-US" sz="1000" b="1" dirty="0">
                <a:solidFill>
                  <a:srgbClr val="0F172A"/>
                </a:solidFill>
              </a:rPr>
              <a:t>8</a:t>
            </a:r>
            <a:endParaRPr lang="en-US" sz="1000" dirty="0"/>
          </a:p>
        </p:txBody>
      </p:sp>
      <p:sp>
        <p:nvSpPr>
          <p:cNvPr id="23" name="Shape 20"/>
          <p:cNvSpPr/>
          <p:nvPr/>
        </p:nvSpPr>
        <p:spPr>
          <a:xfrm>
            <a:off x="6830568" y="576072"/>
            <a:ext cx="2267712" cy="4133088"/>
          </a:xfrm>
          <a:prstGeom prst="roundRect">
            <a:avLst/>
          </a:prstGeom>
          <a:solidFill>
            <a:srgbClr val="1E3A5F"/>
          </a:solidFill>
          <a:ln w="12700">
            <a:solidFill>
              <a:srgbClr val="1E3A5F"/>
            </a:solidFill>
            <a:prstDash val="solid"/>
          </a:ln>
        </p:spPr>
        <p:txBody>
          <a:bodyPr/>
          <a:lstStyle/>
          <a:p>
            <a:endParaRPr lang="en-US"/>
          </a:p>
        </p:txBody>
      </p:sp>
      <p:sp>
        <p:nvSpPr>
          <p:cNvPr id="24" name="Shape 21"/>
          <p:cNvSpPr/>
          <p:nvPr/>
        </p:nvSpPr>
        <p:spPr>
          <a:xfrm>
            <a:off x="6876288" y="658368"/>
            <a:ext cx="237744" cy="237744"/>
          </a:xfrm>
          <a:prstGeom prst="ellipse">
            <a:avLst/>
          </a:prstGeom>
          <a:solidFill>
            <a:srgbClr val="F59E0B"/>
          </a:solidFill>
          <a:ln w="12700">
            <a:solidFill>
              <a:srgbClr val="1E3A5F"/>
            </a:solidFill>
            <a:prstDash val="solid"/>
          </a:ln>
        </p:spPr>
        <p:txBody>
          <a:bodyPr/>
          <a:lstStyle/>
          <a:p>
            <a:endParaRPr lang="en-US"/>
          </a:p>
        </p:txBody>
      </p:sp>
      <p:sp>
        <p:nvSpPr>
          <p:cNvPr id="25" name="Text 22"/>
          <p:cNvSpPr/>
          <p:nvPr/>
        </p:nvSpPr>
        <p:spPr>
          <a:xfrm>
            <a:off x="6876288" y="658368"/>
            <a:ext cx="237744" cy="237744"/>
          </a:xfrm>
          <a:prstGeom prst="rect">
            <a:avLst/>
          </a:prstGeom>
          <a:noFill/>
          <a:ln/>
        </p:spPr>
        <p:txBody>
          <a:bodyPr wrap="square" rtlCol="0" anchor="ctr"/>
          <a:lstStyle/>
          <a:p>
            <a:pPr marL="0" indent="0" algn="ctr">
              <a:buNone/>
            </a:pPr>
            <a:r>
              <a:rPr lang="en-US" sz="800" b="1" dirty="0">
                <a:solidFill>
                  <a:srgbClr val="0F172A"/>
                </a:solidFill>
              </a:rPr>
              <a:t>1</a:t>
            </a:r>
            <a:endParaRPr lang="en-US" sz="800" dirty="0"/>
          </a:p>
        </p:txBody>
      </p:sp>
      <p:sp>
        <p:nvSpPr>
          <p:cNvPr id="26" name="Text 23"/>
          <p:cNvSpPr/>
          <p:nvPr/>
        </p:nvSpPr>
        <p:spPr>
          <a:xfrm>
            <a:off x="7178040" y="649224"/>
            <a:ext cx="1828800" cy="201168"/>
          </a:xfrm>
          <a:prstGeom prst="rect">
            <a:avLst/>
          </a:prstGeom>
          <a:noFill/>
          <a:ln/>
        </p:spPr>
        <p:txBody>
          <a:bodyPr wrap="square" rtlCol="0" anchor="ctr"/>
          <a:lstStyle/>
          <a:p>
            <a:pPr marL="0" indent="0">
              <a:buNone/>
            </a:pPr>
            <a:r>
              <a:rPr lang="en-US" sz="850" b="1" dirty="0">
                <a:solidFill>
                  <a:srgbClr val="FFFFFF"/>
                </a:solidFill>
              </a:rPr>
              <a:t>Sidebar</a:t>
            </a:r>
            <a:endParaRPr lang="en-US" sz="850" dirty="0"/>
          </a:p>
        </p:txBody>
      </p:sp>
      <p:sp>
        <p:nvSpPr>
          <p:cNvPr id="27" name="Text 24"/>
          <p:cNvSpPr/>
          <p:nvPr/>
        </p:nvSpPr>
        <p:spPr>
          <a:xfrm>
            <a:off x="7178040" y="850392"/>
            <a:ext cx="1828800" cy="201168"/>
          </a:xfrm>
          <a:prstGeom prst="rect">
            <a:avLst/>
          </a:prstGeom>
          <a:noFill/>
          <a:ln/>
        </p:spPr>
        <p:txBody>
          <a:bodyPr wrap="square" rtlCol="0" anchor="ctr"/>
          <a:lstStyle/>
          <a:p>
            <a:pPr marL="0" indent="0">
              <a:buNone/>
            </a:pPr>
            <a:r>
              <a:rPr lang="en-US" sz="700" dirty="0">
                <a:solidFill>
                  <a:srgbClr val="94A3B8"/>
                </a:solidFill>
              </a:rPr>
              <a:t>Nav, active project, role context</a:t>
            </a:r>
            <a:endParaRPr lang="en-US" sz="700" dirty="0"/>
          </a:p>
        </p:txBody>
      </p:sp>
      <p:sp>
        <p:nvSpPr>
          <p:cNvPr id="28" name="Shape 25"/>
          <p:cNvSpPr/>
          <p:nvPr/>
        </p:nvSpPr>
        <p:spPr>
          <a:xfrm>
            <a:off x="6876288" y="1152144"/>
            <a:ext cx="237744" cy="237744"/>
          </a:xfrm>
          <a:prstGeom prst="ellipse">
            <a:avLst/>
          </a:prstGeom>
          <a:solidFill>
            <a:srgbClr val="F59E0B"/>
          </a:solidFill>
          <a:ln w="12700">
            <a:solidFill>
              <a:srgbClr val="1E3A5F"/>
            </a:solidFill>
            <a:prstDash val="solid"/>
          </a:ln>
        </p:spPr>
        <p:txBody>
          <a:bodyPr/>
          <a:lstStyle/>
          <a:p>
            <a:endParaRPr lang="en-US"/>
          </a:p>
        </p:txBody>
      </p:sp>
      <p:sp>
        <p:nvSpPr>
          <p:cNvPr id="29" name="Text 26"/>
          <p:cNvSpPr/>
          <p:nvPr/>
        </p:nvSpPr>
        <p:spPr>
          <a:xfrm>
            <a:off x="6876288" y="1152144"/>
            <a:ext cx="237744" cy="237744"/>
          </a:xfrm>
          <a:prstGeom prst="rect">
            <a:avLst/>
          </a:prstGeom>
          <a:noFill/>
          <a:ln/>
        </p:spPr>
        <p:txBody>
          <a:bodyPr wrap="square" rtlCol="0" anchor="ctr"/>
          <a:lstStyle/>
          <a:p>
            <a:pPr marL="0" indent="0" algn="ctr">
              <a:buNone/>
            </a:pPr>
            <a:r>
              <a:rPr lang="en-US" sz="800" b="1" dirty="0">
                <a:solidFill>
                  <a:srgbClr val="0F172A"/>
                </a:solidFill>
              </a:rPr>
              <a:t>2</a:t>
            </a:r>
            <a:endParaRPr lang="en-US" sz="800" dirty="0"/>
          </a:p>
        </p:txBody>
      </p:sp>
      <p:sp>
        <p:nvSpPr>
          <p:cNvPr id="30" name="Text 27"/>
          <p:cNvSpPr/>
          <p:nvPr/>
        </p:nvSpPr>
        <p:spPr>
          <a:xfrm>
            <a:off x="7178040" y="1143000"/>
            <a:ext cx="1828800" cy="201168"/>
          </a:xfrm>
          <a:prstGeom prst="rect">
            <a:avLst/>
          </a:prstGeom>
          <a:noFill/>
          <a:ln/>
        </p:spPr>
        <p:txBody>
          <a:bodyPr wrap="square" rtlCol="0" anchor="ctr"/>
          <a:lstStyle/>
          <a:p>
            <a:pPr marL="0" indent="0">
              <a:buNone/>
            </a:pPr>
            <a:r>
              <a:rPr lang="en-US" sz="850" b="1" dirty="0">
                <a:solidFill>
                  <a:srgbClr val="FFFFFF"/>
                </a:solidFill>
              </a:rPr>
              <a:t>Dual Timezone</a:t>
            </a:r>
            <a:endParaRPr lang="en-US" sz="850" dirty="0"/>
          </a:p>
        </p:txBody>
      </p:sp>
      <p:sp>
        <p:nvSpPr>
          <p:cNvPr id="31" name="Text 28"/>
          <p:cNvSpPr/>
          <p:nvPr/>
        </p:nvSpPr>
        <p:spPr>
          <a:xfrm>
            <a:off x="7178040" y="1344168"/>
            <a:ext cx="1828800" cy="201168"/>
          </a:xfrm>
          <a:prstGeom prst="rect">
            <a:avLst/>
          </a:prstGeom>
          <a:noFill/>
          <a:ln/>
        </p:spPr>
        <p:txBody>
          <a:bodyPr wrap="square" rtlCol="0" anchor="ctr"/>
          <a:lstStyle/>
          <a:p>
            <a:pPr marL="0" indent="0">
              <a:buNone/>
            </a:pPr>
            <a:r>
              <a:rPr lang="en-US" sz="700" dirty="0">
                <a:solidFill>
                  <a:srgbClr val="94A3B8"/>
                </a:solidFill>
              </a:rPr>
              <a:t>Chicago + PST live clock</a:t>
            </a:r>
            <a:endParaRPr lang="en-US" sz="700" dirty="0"/>
          </a:p>
        </p:txBody>
      </p:sp>
      <p:sp>
        <p:nvSpPr>
          <p:cNvPr id="32" name="Shape 29"/>
          <p:cNvSpPr/>
          <p:nvPr/>
        </p:nvSpPr>
        <p:spPr>
          <a:xfrm>
            <a:off x="6876288" y="1645920"/>
            <a:ext cx="237744" cy="237744"/>
          </a:xfrm>
          <a:prstGeom prst="ellipse">
            <a:avLst/>
          </a:prstGeom>
          <a:solidFill>
            <a:srgbClr val="F59E0B"/>
          </a:solidFill>
          <a:ln w="12700">
            <a:solidFill>
              <a:srgbClr val="1E3A5F"/>
            </a:solidFill>
            <a:prstDash val="solid"/>
          </a:ln>
        </p:spPr>
        <p:txBody>
          <a:bodyPr/>
          <a:lstStyle/>
          <a:p>
            <a:endParaRPr lang="en-US"/>
          </a:p>
        </p:txBody>
      </p:sp>
      <p:sp>
        <p:nvSpPr>
          <p:cNvPr id="33" name="Text 30"/>
          <p:cNvSpPr/>
          <p:nvPr/>
        </p:nvSpPr>
        <p:spPr>
          <a:xfrm>
            <a:off x="6876288" y="1645920"/>
            <a:ext cx="237744" cy="237744"/>
          </a:xfrm>
          <a:prstGeom prst="rect">
            <a:avLst/>
          </a:prstGeom>
          <a:noFill/>
          <a:ln/>
        </p:spPr>
        <p:txBody>
          <a:bodyPr wrap="square" rtlCol="0" anchor="ctr"/>
          <a:lstStyle/>
          <a:p>
            <a:pPr marL="0" indent="0" algn="ctr">
              <a:buNone/>
            </a:pPr>
            <a:r>
              <a:rPr lang="en-US" sz="800" b="1" dirty="0">
                <a:solidFill>
                  <a:srgbClr val="0F172A"/>
                </a:solidFill>
              </a:rPr>
              <a:t>3</a:t>
            </a:r>
            <a:endParaRPr lang="en-US" sz="800" dirty="0"/>
          </a:p>
        </p:txBody>
      </p:sp>
      <p:sp>
        <p:nvSpPr>
          <p:cNvPr id="34" name="Text 31"/>
          <p:cNvSpPr/>
          <p:nvPr/>
        </p:nvSpPr>
        <p:spPr>
          <a:xfrm>
            <a:off x="7178040" y="1636776"/>
            <a:ext cx="1828800" cy="201168"/>
          </a:xfrm>
          <a:prstGeom prst="rect">
            <a:avLst/>
          </a:prstGeom>
          <a:noFill/>
          <a:ln/>
        </p:spPr>
        <p:txBody>
          <a:bodyPr wrap="square" rtlCol="0" anchor="ctr"/>
          <a:lstStyle/>
          <a:p>
            <a:pPr marL="0" indent="0">
              <a:buNone/>
            </a:pPr>
            <a:r>
              <a:rPr lang="en-US" sz="850" b="1" dirty="0">
                <a:solidFill>
                  <a:srgbClr val="FFFFFF"/>
                </a:solidFill>
              </a:rPr>
              <a:t>Role Badge</a:t>
            </a:r>
            <a:endParaRPr lang="en-US" sz="850" dirty="0"/>
          </a:p>
        </p:txBody>
      </p:sp>
      <p:sp>
        <p:nvSpPr>
          <p:cNvPr id="35" name="Text 32"/>
          <p:cNvSpPr/>
          <p:nvPr/>
        </p:nvSpPr>
        <p:spPr>
          <a:xfrm>
            <a:off x="7178040" y="1837944"/>
            <a:ext cx="1828800" cy="201168"/>
          </a:xfrm>
          <a:prstGeom prst="rect">
            <a:avLst/>
          </a:prstGeom>
          <a:noFill/>
          <a:ln/>
        </p:spPr>
        <p:txBody>
          <a:bodyPr wrap="square" rtlCol="0" anchor="ctr"/>
          <a:lstStyle/>
          <a:p>
            <a:pPr marL="0" indent="0">
              <a:buNone/>
            </a:pPr>
            <a:r>
              <a:rPr lang="en-US" sz="700" dirty="0">
                <a:solidFill>
                  <a:srgbClr val="94A3B8"/>
                </a:solidFill>
              </a:rPr>
              <a:t>Contractor / Lead / Manager</a:t>
            </a:r>
            <a:endParaRPr lang="en-US" sz="700" dirty="0"/>
          </a:p>
        </p:txBody>
      </p:sp>
      <p:sp>
        <p:nvSpPr>
          <p:cNvPr id="36" name="Shape 33"/>
          <p:cNvSpPr/>
          <p:nvPr/>
        </p:nvSpPr>
        <p:spPr>
          <a:xfrm>
            <a:off x="6876288" y="2139696"/>
            <a:ext cx="237744" cy="237744"/>
          </a:xfrm>
          <a:prstGeom prst="ellipse">
            <a:avLst/>
          </a:prstGeom>
          <a:solidFill>
            <a:srgbClr val="F59E0B"/>
          </a:solidFill>
          <a:ln w="12700">
            <a:solidFill>
              <a:srgbClr val="1E3A5F"/>
            </a:solidFill>
            <a:prstDash val="solid"/>
          </a:ln>
        </p:spPr>
        <p:txBody>
          <a:bodyPr/>
          <a:lstStyle/>
          <a:p>
            <a:endParaRPr lang="en-US"/>
          </a:p>
        </p:txBody>
      </p:sp>
      <p:sp>
        <p:nvSpPr>
          <p:cNvPr id="37" name="Text 34"/>
          <p:cNvSpPr/>
          <p:nvPr/>
        </p:nvSpPr>
        <p:spPr>
          <a:xfrm>
            <a:off x="6876288" y="2139696"/>
            <a:ext cx="237744" cy="237744"/>
          </a:xfrm>
          <a:prstGeom prst="rect">
            <a:avLst/>
          </a:prstGeom>
          <a:noFill/>
          <a:ln/>
        </p:spPr>
        <p:txBody>
          <a:bodyPr wrap="square" rtlCol="0" anchor="ctr"/>
          <a:lstStyle/>
          <a:p>
            <a:pPr marL="0" indent="0" algn="ctr">
              <a:buNone/>
            </a:pPr>
            <a:r>
              <a:rPr lang="en-US" sz="800" b="1" dirty="0">
                <a:solidFill>
                  <a:srgbClr val="0F172A"/>
                </a:solidFill>
              </a:rPr>
              <a:t>4</a:t>
            </a:r>
            <a:endParaRPr lang="en-US" sz="800" dirty="0"/>
          </a:p>
        </p:txBody>
      </p:sp>
      <p:sp>
        <p:nvSpPr>
          <p:cNvPr id="38" name="Text 35"/>
          <p:cNvSpPr/>
          <p:nvPr/>
        </p:nvSpPr>
        <p:spPr>
          <a:xfrm>
            <a:off x="7178040" y="2130552"/>
            <a:ext cx="1828800" cy="201168"/>
          </a:xfrm>
          <a:prstGeom prst="rect">
            <a:avLst/>
          </a:prstGeom>
          <a:noFill/>
          <a:ln/>
        </p:spPr>
        <p:txBody>
          <a:bodyPr wrap="square" rtlCol="0" anchor="ctr"/>
          <a:lstStyle/>
          <a:p>
            <a:pPr marL="0" indent="0">
              <a:buNone/>
            </a:pPr>
            <a:r>
              <a:rPr lang="en-US" sz="850" b="1" dirty="0">
                <a:solidFill>
                  <a:srgbClr val="FFFFFF"/>
                </a:solidFill>
              </a:rPr>
              <a:t>Quick Actions</a:t>
            </a:r>
            <a:endParaRPr lang="en-US" sz="850" dirty="0"/>
          </a:p>
        </p:txBody>
      </p:sp>
      <p:sp>
        <p:nvSpPr>
          <p:cNvPr id="39" name="Text 36"/>
          <p:cNvSpPr/>
          <p:nvPr/>
        </p:nvSpPr>
        <p:spPr>
          <a:xfrm>
            <a:off x="7178040" y="2331720"/>
            <a:ext cx="1828800" cy="201168"/>
          </a:xfrm>
          <a:prstGeom prst="rect">
            <a:avLst/>
          </a:prstGeom>
          <a:noFill/>
          <a:ln/>
        </p:spPr>
        <p:txBody>
          <a:bodyPr wrap="square" rtlCol="0" anchor="ctr"/>
          <a:lstStyle/>
          <a:p>
            <a:pPr marL="0" indent="0">
              <a:buNone/>
            </a:pPr>
            <a:r>
              <a:rPr lang="en-US" sz="700" dirty="0">
                <a:solidFill>
                  <a:srgbClr val="94A3B8"/>
                </a:solidFill>
              </a:rPr>
              <a:t>1-click: Handover, Swaps, Diary</a:t>
            </a:r>
            <a:endParaRPr lang="en-US" sz="700" dirty="0"/>
          </a:p>
        </p:txBody>
      </p:sp>
      <p:sp>
        <p:nvSpPr>
          <p:cNvPr id="40" name="Shape 37"/>
          <p:cNvSpPr/>
          <p:nvPr/>
        </p:nvSpPr>
        <p:spPr>
          <a:xfrm>
            <a:off x="6876288" y="2633472"/>
            <a:ext cx="237744" cy="237744"/>
          </a:xfrm>
          <a:prstGeom prst="ellipse">
            <a:avLst/>
          </a:prstGeom>
          <a:solidFill>
            <a:srgbClr val="F59E0B"/>
          </a:solidFill>
          <a:ln w="12700">
            <a:solidFill>
              <a:srgbClr val="1E3A5F"/>
            </a:solidFill>
            <a:prstDash val="solid"/>
          </a:ln>
        </p:spPr>
        <p:txBody>
          <a:bodyPr/>
          <a:lstStyle/>
          <a:p>
            <a:endParaRPr lang="en-US"/>
          </a:p>
        </p:txBody>
      </p:sp>
      <p:sp>
        <p:nvSpPr>
          <p:cNvPr id="41" name="Text 38"/>
          <p:cNvSpPr/>
          <p:nvPr/>
        </p:nvSpPr>
        <p:spPr>
          <a:xfrm>
            <a:off x="6876288" y="2633472"/>
            <a:ext cx="237744" cy="237744"/>
          </a:xfrm>
          <a:prstGeom prst="rect">
            <a:avLst/>
          </a:prstGeom>
          <a:noFill/>
          <a:ln/>
        </p:spPr>
        <p:txBody>
          <a:bodyPr wrap="square" rtlCol="0" anchor="ctr"/>
          <a:lstStyle/>
          <a:p>
            <a:pPr marL="0" indent="0" algn="ctr">
              <a:buNone/>
            </a:pPr>
            <a:r>
              <a:rPr lang="en-US" sz="800" b="1" dirty="0">
                <a:solidFill>
                  <a:srgbClr val="0F172A"/>
                </a:solidFill>
              </a:rPr>
              <a:t>5</a:t>
            </a:r>
            <a:endParaRPr lang="en-US" sz="800" dirty="0"/>
          </a:p>
        </p:txBody>
      </p:sp>
      <p:sp>
        <p:nvSpPr>
          <p:cNvPr id="42" name="Text 39"/>
          <p:cNvSpPr/>
          <p:nvPr/>
        </p:nvSpPr>
        <p:spPr>
          <a:xfrm>
            <a:off x="7178040" y="2624328"/>
            <a:ext cx="1828800" cy="201168"/>
          </a:xfrm>
          <a:prstGeom prst="rect">
            <a:avLst/>
          </a:prstGeom>
          <a:noFill/>
          <a:ln/>
        </p:spPr>
        <p:txBody>
          <a:bodyPr wrap="square" rtlCol="0" anchor="ctr"/>
          <a:lstStyle/>
          <a:p>
            <a:pPr marL="0" indent="0">
              <a:buNone/>
            </a:pPr>
            <a:r>
              <a:rPr lang="en-US" sz="850" b="1" dirty="0">
                <a:solidFill>
                  <a:srgbClr val="FFFFFF"/>
                </a:solidFill>
              </a:rPr>
              <a:t>Stat Cards</a:t>
            </a:r>
            <a:endParaRPr lang="en-US" sz="850" dirty="0"/>
          </a:p>
        </p:txBody>
      </p:sp>
      <p:sp>
        <p:nvSpPr>
          <p:cNvPr id="43" name="Text 40"/>
          <p:cNvSpPr/>
          <p:nvPr/>
        </p:nvSpPr>
        <p:spPr>
          <a:xfrm>
            <a:off x="7178040" y="2825496"/>
            <a:ext cx="1828800" cy="201168"/>
          </a:xfrm>
          <a:prstGeom prst="rect">
            <a:avLst/>
          </a:prstGeom>
          <a:noFill/>
          <a:ln/>
        </p:spPr>
        <p:txBody>
          <a:bodyPr wrap="square" rtlCol="0" anchor="ctr"/>
          <a:lstStyle/>
          <a:p>
            <a:pPr marL="0" indent="0">
              <a:buNone/>
            </a:pPr>
            <a:r>
              <a:rPr lang="en-US" sz="700" dirty="0">
                <a:solidFill>
                  <a:srgbClr val="94A3B8"/>
                </a:solidFill>
              </a:rPr>
              <a:t>Logs, Unresolved, Validation, Swaps</a:t>
            </a:r>
            <a:endParaRPr lang="en-US" sz="700" dirty="0"/>
          </a:p>
        </p:txBody>
      </p:sp>
      <p:sp>
        <p:nvSpPr>
          <p:cNvPr id="44" name="Shape 41"/>
          <p:cNvSpPr/>
          <p:nvPr/>
        </p:nvSpPr>
        <p:spPr>
          <a:xfrm>
            <a:off x="6876288" y="3127248"/>
            <a:ext cx="237744" cy="237744"/>
          </a:xfrm>
          <a:prstGeom prst="ellipse">
            <a:avLst/>
          </a:prstGeom>
          <a:solidFill>
            <a:srgbClr val="F59E0B"/>
          </a:solidFill>
          <a:ln w="12700">
            <a:solidFill>
              <a:srgbClr val="1E3A5F"/>
            </a:solidFill>
            <a:prstDash val="solid"/>
          </a:ln>
        </p:spPr>
        <p:txBody>
          <a:bodyPr/>
          <a:lstStyle/>
          <a:p>
            <a:endParaRPr lang="en-US"/>
          </a:p>
        </p:txBody>
      </p:sp>
      <p:sp>
        <p:nvSpPr>
          <p:cNvPr id="45" name="Text 42"/>
          <p:cNvSpPr/>
          <p:nvPr/>
        </p:nvSpPr>
        <p:spPr>
          <a:xfrm>
            <a:off x="6876288" y="3127248"/>
            <a:ext cx="237744" cy="237744"/>
          </a:xfrm>
          <a:prstGeom prst="rect">
            <a:avLst/>
          </a:prstGeom>
          <a:noFill/>
          <a:ln/>
        </p:spPr>
        <p:txBody>
          <a:bodyPr wrap="square" rtlCol="0" anchor="ctr"/>
          <a:lstStyle/>
          <a:p>
            <a:pPr marL="0" indent="0" algn="ctr">
              <a:buNone/>
            </a:pPr>
            <a:r>
              <a:rPr lang="en-US" sz="800" b="1" dirty="0">
                <a:solidFill>
                  <a:srgbClr val="0F172A"/>
                </a:solidFill>
              </a:rPr>
              <a:t>6</a:t>
            </a:r>
            <a:endParaRPr lang="en-US" sz="800" dirty="0"/>
          </a:p>
        </p:txBody>
      </p:sp>
      <p:sp>
        <p:nvSpPr>
          <p:cNvPr id="46" name="Text 43"/>
          <p:cNvSpPr/>
          <p:nvPr/>
        </p:nvSpPr>
        <p:spPr>
          <a:xfrm>
            <a:off x="7178040" y="3118104"/>
            <a:ext cx="1828800" cy="201168"/>
          </a:xfrm>
          <a:prstGeom prst="rect">
            <a:avLst/>
          </a:prstGeom>
          <a:noFill/>
          <a:ln/>
        </p:spPr>
        <p:txBody>
          <a:bodyPr wrap="square" rtlCol="0" anchor="ctr"/>
          <a:lstStyle/>
          <a:p>
            <a:pPr marL="0" indent="0">
              <a:buNone/>
            </a:pPr>
            <a:r>
              <a:rPr lang="en-US" sz="850" b="1" dirty="0">
                <a:solidFill>
                  <a:srgbClr val="FFFFFF"/>
                </a:solidFill>
              </a:rPr>
              <a:t>Handover Protocol</a:t>
            </a:r>
            <a:endParaRPr lang="en-US" sz="850" dirty="0"/>
          </a:p>
        </p:txBody>
      </p:sp>
      <p:sp>
        <p:nvSpPr>
          <p:cNvPr id="47" name="Text 44"/>
          <p:cNvSpPr/>
          <p:nvPr/>
        </p:nvSpPr>
        <p:spPr>
          <a:xfrm>
            <a:off x="7178040" y="3319272"/>
            <a:ext cx="1828800" cy="201168"/>
          </a:xfrm>
          <a:prstGeom prst="rect">
            <a:avLst/>
          </a:prstGeom>
          <a:noFill/>
          <a:ln/>
        </p:spPr>
        <p:txBody>
          <a:bodyPr wrap="square" rtlCol="0" anchor="ctr"/>
          <a:lstStyle/>
          <a:p>
            <a:pPr marL="0" indent="0">
              <a:buNone/>
            </a:pPr>
            <a:r>
              <a:rPr lang="en-US" sz="700" dirty="0">
                <a:solidFill>
                  <a:srgbClr val="94A3B8"/>
                </a:solidFill>
              </a:rPr>
              <a:t>Who submitted / acknowledged</a:t>
            </a:r>
            <a:endParaRPr lang="en-US" sz="700" dirty="0"/>
          </a:p>
        </p:txBody>
      </p:sp>
      <p:sp>
        <p:nvSpPr>
          <p:cNvPr id="48" name="Shape 45"/>
          <p:cNvSpPr/>
          <p:nvPr/>
        </p:nvSpPr>
        <p:spPr>
          <a:xfrm>
            <a:off x="6876288" y="3621024"/>
            <a:ext cx="237744" cy="237744"/>
          </a:xfrm>
          <a:prstGeom prst="ellipse">
            <a:avLst/>
          </a:prstGeom>
          <a:solidFill>
            <a:srgbClr val="F59E0B"/>
          </a:solidFill>
          <a:ln w="12700">
            <a:solidFill>
              <a:srgbClr val="1E3A5F"/>
            </a:solidFill>
            <a:prstDash val="solid"/>
          </a:ln>
        </p:spPr>
        <p:txBody>
          <a:bodyPr/>
          <a:lstStyle/>
          <a:p>
            <a:endParaRPr lang="en-US"/>
          </a:p>
        </p:txBody>
      </p:sp>
      <p:sp>
        <p:nvSpPr>
          <p:cNvPr id="49" name="Text 46"/>
          <p:cNvSpPr/>
          <p:nvPr/>
        </p:nvSpPr>
        <p:spPr>
          <a:xfrm>
            <a:off x="6876288" y="3621024"/>
            <a:ext cx="237744" cy="237744"/>
          </a:xfrm>
          <a:prstGeom prst="rect">
            <a:avLst/>
          </a:prstGeom>
          <a:noFill/>
          <a:ln/>
        </p:spPr>
        <p:txBody>
          <a:bodyPr wrap="square" rtlCol="0" anchor="ctr"/>
          <a:lstStyle/>
          <a:p>
            <a:pPr marL="0" indent="0" algn="ctr">
              <a:buNone/>
            </a:pPr>
            <a:r>
              <a:rPr lang="en-US" sz="800" b="1" dirty="0">
                <a:solidFill>
                  <a:srgbClr val="0F172A"/>
                </a:solidFill>
              </a:rPr>
              <a:t>7</a:t>
            </a:r>
            <a:endParaRPr lang="en-US" sz="800" dirty="0"/>
          </a:p>
        </p:txBody>
      </p:sp>
      <p:sp>
        <p:nvSpPr>
          <p:cNvPr id="50" name="Text 47"/>
          <p:cNvSpPr/>
          <p:nvPr/>
        </p:nvSpPr>
        <p:spPr>
          <a:xfrm>
            <a:off x="7178040" y="3611880"/>
            <a:ext cx="1828800" cy="201168"/>
          </a:xfrm>
          <a:prstGeom prst="rect">
            <a:avLst/>
          </a:prstGeom>
          <a:noFill/>
          <a:ln/>
        </p:spPr>
        <p:txBody>
          <a:bodyPr wrap="square" rtlCol="0" anchor="ctr"/>
          <a:lstStyle/>
          <a:p>
            <a:pPr marL="0" indent="0">
              <a:buNone/>
            </a:pPr>
            <a:r>
              <a:rPr lang="en-US" sz="850" b="1" dirty="0">
                <a:solidFill>
                  <a:srgbClr val="FFFFFF"/>
                </a:solidFill>
              </a:rPr>
              <a:t>Swap Requests</a:t>
            </a:r>
            <a:endParaRPr lang="en-US" sz="850" dirty="0"/>
          </a:p>
        </p:txBody>
      </p:sp>
      <p:sp>
        <p:nvSpPr>
          <p:cNvPr id="51" name="Text 48"/>
          <p:cNvSpPr/>
          <p:nvPr/>
        </p:nvSpPr>
        <p:spPr>
          <a:xfrm>
            <a:off x="7178040" y="3813048"/>
            <a:ext cx="1828800" cy="201168"/>
          </a:xfrm>
          <a:prstGeom prst="rect">
            <a:avLst/>
          </a:prstGeom>
          <a:noFill/>
          <a:ln/>
        </p:spPr>
        <p:txBody>
          <a:bodyPr wrap="square" rtlCol="0" anchor="ctr"/>
          <a:lstStyle/>
          <a:p>
            <a:pPr marL="0" indent="0">
              <a:buNone/>
            </a:pPr>
            <a:r>
              <a:rPr lang="en-US" sz="700" dirty="0">
                <a:solidFill>
                  <a:srgbClr val="94A3B8"/>
                </a:solidFill>
              </a:rPr>
              <a:t>Approve or reject peer swaps</a:t>
            </a:r>
            <a:endParaRPr lang="en-US" sz="700" dirty="0"/>
          </a:p>
        </p:txBody>
      </p:sp>
      <p:sp>
        <p:nvSpPr>
          <p:cNvPr id="52" name="Shape 49"/>
          <p:cNvSpPr/>
          <p:nvPr/>
        </p:nvSpPr>
        <p:spPr>
          <a:xfrm>
            <a:off x="6876288" y="4114800"/>
            <a:ext cx="237744" cy="237744"/>
          </a:xfrm>
          <a:prstGeom prst="ellipse">
            <a:avLst/>
          </a:prstGeom>
          <a:solidFill>
            <a:srgbClr val="F59E0B"/>
          </a:solidFill>
          <a:ln w="12700">
            <a:solidFill>
              <a:srgbClr val="1E3A5F"/>
            </a:solidFill>
            <a:prstDash val="solid"/>
          </a:ln>
        </p:spPr>
        <p:txBody>
          <a:bodyPr/>
          <a:lstStyle/>
          <a:p>
            <a:endParaRPr lang="en-US"/>
          </a:p>
        </p:txBody>
      </p:sp>
      <p:sp>
        <p:nvSpPr>
          <p:cNvPr id="53" name="Text 50"/>
          <p:cNvSpPr/>
          <p:nvPr/>
        </p:nvSpPr>
        <p:spPr>
          <a:xfrm>
            <a:off x="6876288" y="4114800"/>
            <a:ext cx="237744" cy="237744"/>
          </a:xfrm>
          <a:prstGeom prst="rect">
            <a:avLst/>
          </a:prstGeom>
          <a:noFill/>
          <a:ln/>
        </p:spPr>
        <p:txBody>
          <a:bodyPr wrap="square" rtlCol="0" anchor="ctr"/>
          <a:lstStyle/>
          <a:p>
            <a:pPr marL="0" indent="0" algn="ctr">
              <a:buNone/>
            </a:pPr>
            <a:r>
              <a:rPr lang="en-US" sz="800" b="1" dirty="0">
                <a:solidFill>
                  <a:srgbClr val="0F172A"/>
                </a:solidFill>
              </a:rPr>
              <a:t>8</a:t>
            </a:r>
            <a:endParaRPr lang="en-US" sz="800" dirty="0"/>
          </a:p>
        </p:txBody>
      </p:sp>
      <p:sp>
        <p:nvSpPr>
          <p:cNvPr id="54" name="Text 51"/>
          <p:cNvSpPr/>
          <p:nvPr/>
        </p:nvSpPr>
        <p:spPr>
          <a:xfrm>
            <a:off x="7178040" y="4105656"/>
            <a:ext cx="1828800" cy="201168"/>
          </a:xfrm>
          <a:prstGeom prst="rect">
            <a:avLst/>
          </a:prstGeom>
          <a:noFill/>
          <a:ln/>
        </p:spPr>
        <p:txBody>
          <a:bodyPr wrap="square" rtlCol="0" anchor="ctr"/>
          <a:lstStyle/>
          <a:p>
            <a:pPr marL="0" indent="0">
              <a:buNone/>
            </a:pPr>
            <a:r>
              <a:rPr lang="en-US" sz="850" b="1" dirty="0">
                <a:solidFill>
                  <a:srgbClr val="FFFFFF"/>
                </a:solidFill>
              </a:rPr>
              <a:t>Update Feed</a:t>
            </a:r>
            <a:endParaRPr lang="en-US" sz="850" dirty="0"/>
          </a:p>
        </p:txBody>
      </p:sp>
      <p:sp>
        <p:nvSpPr>
          <p:cNvPr id="55" name="Text 52"/>
          <p:cNvSpPr/>
          <p:nvPr/>
        </p:nvSpPr>
        <p:spPr>
          <a:xfrm>
            <a:off x="7178040" y="4306824"/>
            <a:ext cx="1828800" cy="201168"/>
          </a:xfrm>
          <a:prstGeom prst="rect">
            <a:avLst/>
          </a:prstGeom>
          <a:noFill/>
          <a:ln/>
        </p:spPr>
        <p:txBody>
          <a:bodyPr wrap="square" rtlCol="0" anchor="ctr"/>
          <a:lstStyle/>
          <a:p>
            <a:pPr marL="0" indent="0">
              <a:buNone/>
            </a:pPr>
            <a:r>
              <a:rPr lang="en-US" sz="700" dirty="0">
                <a:solidFill>
                  <a:srgbClr val="94A3B8"/>
                </a:solidFill>
              </a:rPr>
              <a:t>All logs + Team roster view</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64008"/>
            <a:ext cx="6400800" cy="310896"/>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Log Update</a:t>
            </a:r>
            <a:endParaRPr lang="en-US" sz="1800" dirty="0"/>
          </a:p>
        </p:txBody>
      </p:sp>
      <p:sp>
        <p:nvSpPr>
          <p:cNvPr id="4" name="Text 2"/>
          <p:cNvSpPr/>
          <p:nvPr/>
        </p:nvSpPr>
        <p:spPr>
          <a:xfrm>
            <a:off x="274320" y="365760"/>
            <a:ext cx="6400800" cy="182880"/>
          </a:xfrm>
          <a:prstGeom prst="rect">
            <a:avLst/>
          </a:prstGeom>
          <a:noFill/>
          <a:ln/>
        </p:spPr>
        <p:txBody>
          <a:bodyPr wrap="square" rtlCol="0" anchor="ctr"/>
          <a:lstStyle/>
          <a:p>
            <a:pPr marL="0" indent="0">
              <a:buNone/>
            </a:pPr>
            <a:r>
              <a:rPr lang="en-US" sz="900" dirty="0">
                <a:solidFill>
                  <a:srgbClr val="94A3B8"/>
                </a:solidFill>
              </a:rPr>
              <a:t>Structured form to record incidents, alerts and activity — wired to ServiceNow and PagerDuty</a:t>
            </a:r>
            <a:endParaRPr lang="en-US" sz="900" dirty="0"/>
          </a:p>
        </p:txBody>
      </p:sp>
      <p:pic>
        <p:nvPicPr>
          <p:cNvPr id="5" name="Image 0" descr="/sessions/dazzling-bold-euler/mnt/shiftbuddy/screenshots/screencapture-shiftbuddy-brahmateja-dashboard-log-update-2026-05-28-07_27_14.png"/>
          <p:cNvPicPr>
            <a:picLocks noChangeAspect="1"/>
          </p:cNvPicPr>
          <p:nvPr/>
        </p:nvPicPr>
        <p:blipFill>
          <a:blip r:embed="rId3"/>
          <a:stretch>
            <a:fillRect/>
          </a:stretch>
        </p:blipFill>
        <p:spPr>
          <a:xfrm>
            <a:off x="137160" y="621792"/>
            <a:ext cx="6629400" cy="3620849"/>
          </a:xfrm>
          <a:prstGeom prst="rect">
            <a:avLst/>
          </a:prstGeom>
        </p:spPr>
      </p:pic>
      <p:sp>
        <p:nvSpPr>
          <p:cNvPr id="6" name="Shape 3"/>
          <p:cNvSpPr/>
          <p:nvPr/>
        </p:nvSpPr>
        <p:spPr>
          <a:xfrm>
            <a:off x="137160" y="621792"/>
            <a:ext cx="6629400" cy="3620849"/>
          </a:xfrm>
          <a:prstGeom prst="rect">
            <a:avLst/>
          </a:prstGeom>
          <a:ln w="6350">
            <a:solidFill>
              <a:srgbClr val="E2E8F0"/>
            </a:solidFill>
            <a:prstDash val="solid"/>
          </a:ln>
        </p:spPr>
        <p:txBody>
          <a:bodyPr/>
          <a:lstStyle/>
          <a:p>
            <a:endParaRPr lang="en-US"/>
          </a:p>
        </p:txBody>
      </p:sp>
      <p:sp>
        <p:nvSpPr>
          <p:cNvPr id="7" name="Shape 4"/>
          <p:cNvSpPr/>
          <p:nvPr/>
        </p:nvSpPr>
        <p:spPr>
          <a:xfrm>
            <a:off x="988854" y="736886"/>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8" name="Text 5"/>
          <p:cNvSpPr/>
          <p:nvPr/>
        </p:nvSpPr>
        <p:spPr>
          <a:xfrm>
            <a:off x="988854" y="736886"/>
            <a:ext cx="274320" cy="274320"/>
          </a:xfrm>
          <a:prstGeom prst="rect">
            <a:avLst/>
          </a:prstGeom>
          <a:noFill/>
          <a:ln/>
        </p:spPr>
        <p:txBody>
          <a:bodyPr wrap="square" rtlCol="0" anchor="ctr"/>
          <a:lstStyle/>
          <a:p>
            <a:pPr marL="0" indent="0" algn="ctr">
              <a:buNone/>
            </a:pPr>
            <a:r>
              <a:rPr lang="en-US" sz="1000" b="1" dirty="0">
                <a:solidFill>
                  <a:srgbClr val="0F172A"/>
                </a:solidFill>
              </a:rPr>
              <a:t>1</a:t>
            </a:r>
            <a:endParaRPr lang="en-US" sz="1000" dirty="0"/>
          </a:p>
        </p:txBody>
      </p:sp>
      <p:sp>
        <p:nvSpPr>
          <p:cNvPr id="9" name="Shape 6"/>
          <p:cNvSpPr/>
          <p:nvPr/>
        </p:nvSpPr>
        <p:spPr>
          <a:xfrm>
            <a:off x="2899410" y="736886"/>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0" name="Text 7"/>
          <p:cNvSpPr/>
          <p:nvPr/>
        </p:nvSpPr>
        <p:spPr>
          <a:xfrm>
            <a:off x="2899410" y="736886"/>
            <a:ext cx="274320" cy="274320"/>
          </a:xfrm>
          <a:prstGeom prst="rect">
            <a:avLst/>
          </a:prstGeom>
          <a:noFill/>
          <a:ln/>
        </p:spPr>
        <p:txBody>
          <a:bodyPr wrap="square" rtlCol="0" anchor="ctr"/>
          <a:lstStyle/>
          <a:p>
            <a:pPr marL="0" indent="0" algn="ctr">
              <a:buNone/>
            </a:pPr>
            <a:r>
              <a:rPr lang="en-US" sz="1000" b="1" dirty="0">
                <a:solidFill>
                  <a:srgbClr val="0F172A"/>
                </a:solidFill>
              </a:rPr>
              <a:t>2</a:t>
            </a:r>
            <a:endParaRPr lang="en-US" sz="1000" dirty="0"/>
          </a:p>
        </p:txBody>
      </p:sp>
      <p:sp>
        <p:nvSpPr>
          <p:cNvPr id="11" name="Shape 8"/>
          <p:cNvSpPr/>
          <p:nvPr/>
        </p:nvSpPr>
        <p:spPr>
          <a:xfrm>
            <a:off x="988854" y="1013111"/>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2" name="Text 9"/>
          <p:cNvSpPr/>
          <p:nvPr/>
        </p:nvSpPr>
        <p:spPr>
          <a:xfrm>
            <a:off x="988854" y="1013111"/>
            <a:ext cx="274320" cy="274320"/>
          </a:xfrm>
          <a:prstGeom prst="rect">
            <a:avLst/>
          </a:prstGeom>
          <a:noFill/>
          <a:ln/>
        </p:spPr>
        <p:txBody>
          <a:bodyPr wrap="square" rtlCol="0" anchor="ctr"/>
          <a:lstStyle/>
          <a:p>
            <a:pPr marL="0" indent="0" algn="ctr">
              <a:buNone/>
            </a:pPr>
            <a:r>
              <a:rPr lang="en-US" sz="1000" b="1" dirty="0">
                <a:solidFill>
                  <a:srgbClr val="0F172A"/>
                </a:solidFill>
              </a:rPr>
              <a:t>3</a:t>
            </a:r>
            <a:endParaRPr lang="en-US" sz="1000" dirty="0"/>
          </a:p>
        </p:txBody>
      </p:sp>
      <p:sp>
        <p:nvSpPr>
          <p:cNvPr id="13" name="Shape 10"/>
          <p:cNvSpPr/>
          <p:nvPr/>
        </p:nvSpPr>
        <p:spPr>
          <a:xfrm>
            <a:off x="988854" y="1220280"/>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4" name="Text 11"/>
          <p:cNvSpPr/>
          <p:nvPr/>
        </p:nvSpPr>
        <p:spPr>
          <a:xfrm>
            <a:off x="988854" y="1220280"/>
            <a:ext cx="274320" cy="274320"/>
          </a:xfrm>
          <a:prstGeom prst="rect">
            <a:avLst/>
          </a:prstGeom>
          <a:noFill/>
          <a:ln/>
        </p:spPr>
        <p:txBody>
          <a:bodyPr wrap="square" rtlCol="0" anchor="ctr"/>
          <a:lstStyle/>
          <a:p>
            <a:pPr marL="0" indent="0" algn="ctr">
              <a:buNone/>
            </a:pPr>
            <a:r>
              <a:rPr lang="en-US" sz="1000" b="1" dirty="0">
                <a:solidFill>
                  <a:srgbClr val="0F172A"/>
                </a:solidFill>
              </a:rPr>
              <a:t>4</a:t>
            </a:r>
            <a:endParaRPr lang="en-US" sz="1000" dirty="0"/>
          </a:p>
        </p:txBody>
      </p:sp>
      <p:sp>
        <p:nvSpPr>
          <p:cNvPr id="15" name="Shape 12"/>
          <p:cNvSpPr/>
          <p:nvPr/>
        </p:nvSpPr>
        <p:spPr>
          <a:xfrm>
            <a:off x="988854" y="1404430"/>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6" name="Text 13"/>
          <p:cNvSpPr/>
          <p:nvPr/>
        </p:nvSpPr>
        <p:spPr>
          <a:xfrm>
            <a:off x="988854" y="1404430"/>
            <a:ext cx="274320" cy="274320"/>
          </a:xfrm>
          <a:prstGeom prst="rect">
            <a:avLst/>
          </a:prstGeom>
          <a:noFill/>
          <a:ln/>
        </p:spPr>
        <p:txBody>
          <a:bodyPr wrap="square" rtlCol="0" anchor="ctr"/>
          <a:lstStyle/>
          <a:p>
            <a:pPr marL="0" indent="0" algn="ctr">
              <a:buNone/>
            </a:pPr>
            <a:r>
              <a:rPr lang="en-US" sz="1000" b="1" dirty="0">
                <a:solidFill>
                  <a:srgbClr val="0F172A"/>
                </a:solidFill>
              </a:rPr>
              <a:t>5</a:t>
            </a:r>
            <a:endParaRPr lang="en-US" sz="1000" dirty="0"/>
          </a:p>
        </p:txBody>
      </p:sp>
      <p:sp>
        <p:nvSpPr>
          <p:cNvPr id="17" name="Shape 14"/>
          <p:cNvSpPr/>
          <p:nvPr/>
        </p:nvSpPr>
        <p:spPr>
          <a:xfrm>
            <a:off x="988854" y="1749711"/>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8" name="Text 15"/>
          <p:cNvSpPr/>
          <p:nvPr/>
        </p:nvSpPr>
        <p:spPr>
          <a:xfrm>
            <a:off x="988854" y="1749711"/>
            <a:ext cx="274320" cy="274320"/>
          </a:xfrm>
          <a:prstGeom prst="rect">
            <a:avLst/>
          </a:prstGeom>
          <a:noFill/>
          <a:ln/>
        </p:spPr>
        <p:txBody>
          <a:bodyPr wrap="square" rtlCol="0" anchor="ctr"/>
          <a:lstStyle/>
          <a:p>
            <a:pPr marL="0" indent="0" algn="ctr">
              <a:buNone/>
            </a:pPr>
            <a:r>
              <a:rPr lang="en-US" sz="1000" b="1" dirty="0">
                <a:solidFill>
                  <a:srgbClr val="0F172A"/>
                </a:solidFill>
              </a:rPr>
              <a:t>6</a:t>
            </a:r>
            <a:endParaRPr lang="en-US" sz="1000" dirty="0"/>
          </a:p>
        </p:txBody>
      </p:sp>
      <p:sp>
        <p:nvSpPr>
          <p:cNvPr id="19" name="Shape 16"/>
          <p:cNvSpPr/>
          <p:nvPr/>
        </p:nvSpPr>
        <p:spPr>
          <a:xfrm>
            <a:off x="988854" y="2094992"/>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0" name="Text 17"/>
          <p:cNvSpPr/>
          <p:nvPr/>
        </p:nvSpPr>
        <p:spPr>
          <a:xfrm>
            <a:off x="988854" y="2094992"/>
            <a:ext cx="274320" cy="274320"/>
          </a:xfrm>
          <a:prstGeom prst="rect">
            <a:avLst/>
          </a:prstGeom>
          <a:noFill/>
          <a:ln/>
        </p:spPr>
        <p:txBody>
          <a:bodyPr wrap="square" rtlCol="0" anchor="ctr"/>
          <a:lstStyle/>
          <a:p>
            <a:pPr marL="0" indent="0" algn="ctr">
              <a:buNone/>
            </a:pPr>
            <a:r>
              <a:rPr lang="en-US" sz="1000" b="1" dirty="0">
                <a:solidFill>
                  <a:srgbClr val="0F172A"/>
                </a:solidFill>
              </a:rPr>
              <a:t>7</a:t>
            </a:r>
            <a:endParaRPr lang="en-US" sz="1000" dirty="0"/>
          </a:p>
        </p:txBody>
      </p:sp>
      <p:sp>
        <p:nvSpPr>
          <p:cNvPr id="21" name="Shape 18"/>
          <p:cNvSpPr/>
          <p:nvPr/>
        </p:nvSpPr>
        <p:spPr>
          <a:xfrm>
            <a:off x="735648" y="2405745"/>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2" name="Text 19"/>
          <p:cNvSpPr/>
          <p:nvPr/>
        </p:nvSpPr>
        <p:spPr>
          <a:xfrm>
            <a:off x="735648" y="2405745"/>
            <a:ext cx="274320" cy="274320"/>
          </a:xfrm>
          <a:prstGeom prst="rect">
            <a:avLst/>
          </a:prstGeom>
          <a:noFill/>
          <a:ln/>
        </p:spPr>
        <p:txBody>
          <a:bodyPr wrap="square" rtlCol="0" anchor="ctr"/>
          <a:lstStyle/>
          <a:p>
            <a:pPr marL="0" indent="0" algn="ctr">
              <a:buNone/>
            </a:pPr>
            <a:r>
              <a:rPr lang="en-US" sz="1000" b="1" dirty="0">
                <a:solidFill>
                  <a:srgbClr val="0F172A"/>
                </a:solidFill>
              </a:rPr>
              <a:t>8</a:t>
            </a:r>
            <a:endParaRPr lang="en-US" sz="1000" dirty="0"/>
          </a:p>
        </p:txBody>
      </p:sp>
      <p:sp>
        <p:nvSpPr>
          <p:cNvPr id="23" name="Shape 20"/>
          <p:cNvSpPr/>
          <p:nvPr/>
        </p:nvSpPr>
        <p:spPr>
          <a:xfrm>
            <a:off x="988854" y="2578386"/>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4" name="Text 21"/>
          <p:cNvSpPr/>
          <p:nvPr/>
        </p:nvSpPr>
        <p:spPr>
          <a:xfrm>
            <a:off x="988854" y="2578386"/>
            <a:ext cx="274320" cy="274320"/>
          </a:xfrm>
          <a:prstGeom prst="rect">
            <a:avLst/>
          </a:prstGeom>
          <a:noFill/>
          <a:ln/>
        </p:spPr>
        <p:txBody>
          <a:bodyPr wrap="square" rtlCol="0" anchor="ctr"/>
          <a:lstStyle/>
          <a:p>
            <a:pPr marL="0" indent="0" algn="ctr">
              <a:buNone/>
            </a:pPr>
            <a:r>
              <a:rPr lang="en-US" sz="1000" b="1" dirty="0">
                <a:solidFill>
                  <a:srgbClr val="0F172A"/>
                </a:solidFill>
              </a:rPr>
              <a:t>9</a:t>
            </a:r>
            <a:endParaRPr lang="en-US" sz="1000" dirty="0"/>
          </a:p>
        </p:txBody>
      </p:sp>
      <p:sp>
        <p:nvSpPr>
          <p:cNvPr id="25" name="Shape 22"/>
          <p:cNvSpPr/>
          <p:nvPr/>
        </p:nvSpPr>
        <p:spPr>
          <a:xfrm>
            <a:off x="6830568" y="576072"/>
            <a:ext cx="2267712" cy="4626864"/>
          </a:xfrm>
          <a:prstGeom prst="roundRect">
            <a:avLst/>
          </a:prstGeom>
          <a:solidFill>
            <a:srgbClr val="1E3A5F"/>
          </a:solidFill>
          <a:ln w="12700">
            <a:solidFill>
              <a:srgbClr val="1E3A5F"/>
            </a:solidFill>
            <a:prstDash val="solid"/>
          </a:ln>
        </p:spPr>
        <p:txBody>
          <a:bodyPr/>
          <a:lstStyle/>
          <a:p>
            <a:endParaRPr lang="en-US"/>
          </a:p>
        </p:txBody>
      </p:sp>
      <p:sp>
        <p:nvSpPr>
          <p:cNvPr id="26" name="Shape 23"/>
          <p:cNvSpPr/>
          <p:nvPr/>
        </p:nvSpPr>
        <p:spPr>
          <a:xfrm>
            <a:off x="6876288" y="658368"/>
            <a:ext cx="237744" cy="237744"/>
          </a:xfrm>
          <a:prstGeom prst="ellipse">
            <a:avLst/>
          </a:prstGeom>
          <a:solidFill>
            <a:srgbClr val="F59E0B"/>
          </a:solidFill>
          <a:ln w="12700">
            <a:solidFill>
              <a:srgbClr val="1E3A5F"/>
            </a:solidFill>
            <a:prstDash val="solid"/>
          </a:ln>
        </p:spPr>
        <p:txBody>
          <a:bodyPr/>
          <a:lstStyle/>
          <a:p>
            <a:endParaRPr lang="en-US"/>
          </a:p>
        </p:txBody>
      </p:sp>
      <p:sp>
        <p:nvSpPr>
          <p:cNvPr id="27" name="Text 24"/>
          <p:cNvSpPr/>
          <p:nvPr/>
        </p:nvSpPr>
        <p:spPr>
          <a:xfrm>
            <a:off x="6876288" y="658368"/>
            <a:ext cx="237744" cy="237744"/>
          </a:xfrm>
          <a:prstGeom prst="rect">
            <a:avLst/>
          </a:prstGeom>
          <a:noFill/>
          <a:ln/>
        </p:spPr>
        <p:txBody>
          <a:bodyPr wrap="square" rtlCol="0" anchor="ctr"/>
          <a:lstStyle/>
          <a:p>
            <a:pPr marL="0" indent="0" algn="ctr">
              <a:buNone/>
            </a:pPr>
            <a:r>
              <a:rPr lang="en-US" sz="800" b="1" dirty="0">
                <a:solidFill>
                  <a:srgbClr val="0F172A"/>
                </a:solidFill>
              </a:rPr>
              <a:t>1</a:t>
            </a:r>
            <a:endParaRPr lang="en-US" sz="800" dirty="0"/>
          </a:p>
        </p:txBody>
      </p:sp>
      <p:sp>
        <p:nvSpPr>
          <p:cNvPr id="28" name="Text 25"/>
          <p:cNvSpPr/>
          <p:nvPr/>
        </p:nvSpPr>
        <p:spPr>
          <a:xfrm>
            <a:off x="7178040" y="649224"/>
            <a:ext cx="1828800" cy="201168"/>
          </a:xfrm>
          <a:prstGeom prst="rect">
            <a:avLst/>
          </a:prstGeom>
          <a:noFill/>
          <a:ln/>
        </p:spPr>
        <p:txBody>
          <a:bodyPr wrap="square" rtlCol="0" anchor="ctr"/>
          <a:lstStyle/>
          <a:p>
            <a:pPr marL="0" indent="0">
              <a:buNone/>
            </a:pPr>
            <a:r>
              <a:rPr lang="en-US" sz="850" b="1" dirty="0">
                <a:solidFill>
                  <a:srgbClr val="FFFFFF"/>
                </a:solidFill>
              </a:rPr>
              <a:t>Source</a:t>
            </a:r>
            <a:endParaRPr lang="en-US" sz="850" dirty="0"/>
          </a:p>
        </p:txBody>
      </p:sp>
      <p:sp>
        <p:nvSpPr>
          <p:cNvPr id="29" name="Text 26"/>
          <p:cNvSpPr/>
          <p:nvPr/>
        </p:nvSpPr>
        <p:spPr>
          <a:xfrm>
            <a:off x="7178040" y="850392"/>
            <a:ext cx="1828800" cy="201168"/>
          </a:xfrm>
          <a:prstGeom prst="rect">
            <a:avLst/>
          </a:prstGeom>
          <a:noFill/>
          <a:ln/>
        </p:spPr>
        <p:txBody>
          <a:bodyPr wrap="square" rtlCol="0" anchor="ctr"/>
          <a:lstStyle/>
          <a:p>
            <a:pPr marL="0" indent="0">
              <a:buNone/>
            </a:pPr>
            <a:r>
              <a:rPr lang="en-US" sz="700" dirty="0">
                <a:solidFill>
                  <a:srgbClr val="94A3B8"/>
                </a:solidFill>
              </a:rPr>
              <a:t>PagerDuty, ServiceNow, Slack, Teams</a:t>
            </a:r>
            <a:endParaRPr lang="en-US" sz="700" dirty="0"/>
          </a:p>
        </p:txBody>
      </p:sp>
      <p:sp>
        <p:nvSpPr>
          <p:cNvPr id="30" name="Shape 27"/>
          <p:cNvSpPr/>
          <p:nvPr/>
        </p:nvSpPr>
        <p:spPr>
          <a:xfrm>
            <a:off x="6876288" y="1152144"/>
            <a:ext cx="237744" cy="237744"/>
          </a:xfrm>
          <a:prstGeom prst="ellipse">
            <a:avLst/>
          </a:prstGeom>
          <a:solidFill>
            <a:srgbClr val="F59E0B"/>
          </a:solidFill>
          <a:ln w="12700">
            <a:solidFill>
              <a:srgbClr val="1E3A5F"/>
            </a:solidFill>
            <a:prstDash val="solid"/>
          </a:ln>
        </p:spPr>
        <p:txBody>
          <a:bodyPr/>
          <a:lstStyle/>
          <a:p>
            <a:endParaRPr lang="en-US"/>
          </a:p>
        </p:txBody>
      </p:sp>
      <p:sp>
        <p:nvSpPr>
          <p:cNvPr id="31" name="Text 28"/>
          <p:cNvSpPr/>
          <p:nvPr/>
        </p:nvSpPr>
        <p:spPr>
          <a:xfrm>
            <a:off x="6876288" y="1152144"/>
            <a:ext cx="237744" cy="237744"/>
          </a:xfrm>
          <a:prstGeom prst="rect">
            <a:avLst/>
          </a:prstGeom>
          <a:noFill/>
          <a:ln/>
        </p:spPr>
        <p:txBody>
          <a:bodyPr wrap="square" rtlCol="0" anchor="ctr"/>
          <a:lstStyle/>
          <a:p>
            <a:pPr marL="0" indent="0" algn="ctr">
              <a:buNone/>
            </a:pPr>
            <a:r>
              <a:rPr lang="en-US" sz="800" b="1" dirty="0">
                <a:solidFill>
                  <a:srgbClr val="0F172A"/>
                </a:solidFill>
              </a:rPr>
              <a:t>2</a:t>
            </a:r>
            <a:endParaRPr lang="en-US" sz="800" dirty="0"/>
          </a:p>
        </p:txBody>
      </p:sp>
      <p:sp>
        <p:nvSpPr>
          <p:cNvPr id="32" name="Text 29"/>
          <p:cNvSpPr/>
          <p:nvPr/>
        </p:nvSpPr>
        <p:spPr>
          <a:xfrm>
            <a:off x="7178040" y="1143000"/>
            <a:ext cx="1828800" cy="201168"/>
          </a:xfrm>
          <a:prstGeom prst="rect">
            <a:avLst/>
          </a:prstGeom>
          <a:noFill/>
          <a:ln/>
        </p:spPr>
        <p:txBody>
          <a:bodyPr wrap="square" rtlCol="0" anchor="ctr"/>
          <a:lstStyle/>
          <a:p>
            <a:pPr marL="0" indent="0">
              <a:buNone/>
            </a:pPr>
            <a:r>
              <a:rPr lang="en-US" sz="850" b="1" dirty="0">
                <a:solidFill>
                  <a:srgbClr val="FFFFFF"/>
                </a:solidFill>
              </a:rPr>
              <a:t>Severity</a:t>
            </a:r>
            <a:endParaRPr lang="en-US" sz="850" dirty="0"/>
          </a:p>
        </p:txBody>
      </p:sp>
      <p:sp>
        <p:nvSpPr>
          <p:cNvPr id="33" name="Text 30"/>
          <p:cNvSpPr/>
          <p:nvPr/>
        </p:nvSpPr>
        <p:spPr>
          <a:xfrm>
            <a:off x="7178040" y="1344168"/>
            <a:ext cx="1828800" cy="201168"/>
          </a:xfrm>
          <a:prstGeom prst="rect">
            <a:avLst/>
          </a:prstGeom>
          <a:noFill/>
          <a:ln/>
        </p:spPr>
        <p:txBody>
          <a:bodyPr wrap="square" rtlCol="0" anchor="ctr"/>
          <a:lstStyle/>
          <a:p>
            <a:pPr marL="0" indent="0">
              <a:buNone/>
            </a:pPr>
            <a:r>
              <a:rPr lang="en-US" sz="700" dirty="0">
                <a:solidFill>
                  <a:srgbClr val="94A3B8"/>
                </a:solidFill>
              </a:rPr>
              <a:t>P1 Critical to P4 Low</a:t>
            </a:r>
            <a:endParaRPr lang="en-US" sz="700" dirty="0"/>
          </a:p>
        </p:txBody>
      </p:sp>
      <p:sp>
        <p:nvSpPr>
          <p:cNvPr id="34" name="Shape 31"/>
          <p:cNvSpPr/>
          <p:nvPr/>
        </p:nvSpPr>
        <p:spPr>
          <a:xfrm>
            <a:off x="6876288" y="1645920"/>
            <a:ext cx="237744" cy="237744"/>
          </a:xfrm>
          <a:prstGeom prst="ellipse">
            <a:avLst/>
          </a:prstGeom>
          <a:solidFill>
            <a:srgbClr val="F59E0B"/>
          </a:solidFill>
          <a:ln w="12700">
            <a:solidFill>
              <a:srgbClr val="1E3A5F"/>
            </a:solidFill>
            <a:prstDash val="solid"/>
          </a:ln>
        </p:spPr>
        <p:txBody>
          <a:bodyPr/>
          <a:lstStyle/>
          <a:p>
            <a:endParaRPr lang="en-US"/>
          </a:p>
        </p:txBody>
      </p:sp>
      <p:sp>
        <p:nvSpPr>
          <p:cNvPr id="35" name="Text 32"/>
          <p:cNvSpPr/>
          <p:nvPr/>
        </p:nvSpPr>
        <p:spPr>
          <a:xfrm>
            <a:off x="6876288" y="1645920"/>
            <a:ext cx="237744" cy="237744"/>
          </a:xfrm>
          <a:prstGeom prst="rect">
            <a:avLst/>
          </a:prstGeom>
          <a:noFill/>
          <a:ln/>
        </p:spPr>
        <p:txBody>
          <a:bodyPr wrap="square" rtlCol="0" anchor="ctr"/>
          <a:lstStyle/>
          <a:p>
            <a:pPr marL="0" indent="0" algn="ctr">
              <a:buNone/>
            </a:pPr>
            <a:r>
              <a:rPr lang="en-US" sz="800" b="1" dirty="0">
                <a:solidFill>
                  <a:srgbClr val="0F172A"/>
                </a:solidFill>
              </a:rPr>
              <a:t>3</a:t>
            </a:r>
            <a:endParaRPr lang="en-US" sz="800" dirty="0"/>
          </a:p>
        </p:txBody>
      </p:sp>
      <p:sp>
        <p:nvSpPr>
          <p:cNvPr id="36" name="Text 33"/>
          <p:cNvSpPr/>
          <p:nvPr/>
        </p:nvSpPr>
        <p:spPr>
          <a:xfrm>
            <a:off x="7178040" y="1636776"/>
            <a:ext cx="1828800" cy="201168"/>
          </a:xfrm>
          <a:prstGeom prst="rect">
            <a:avLst/>
          </a:prstGeom>
          <a:noFill/>
          <a:ln/>
        </p:spPr>
        <p:txBody>
          <a:bodyPr wrap="square" rtlCol="0" anchor="ctr"/>
          <a:lstStyle/>
          <a:p>
            <a:pPr marL="0" indent="0">
              <a:buNone/>
            </a:pPr>
            <a:r>
              <a:rPr lang="en-US" sz="850" b="1" dirty="0">
                <a:solidFill>
                  <a:srgbClr val="FFFFFF"/>
                </a:solidFill>
              </a:rPr>
              <a:t>Project</a:t>
            </a:r>
            <a:endParaRPr lang="en-US" sz="850" dirty="0"/>
          </a:p>
        </p:txBody>
      </p:sp>
      <p:sp>
        <p:nvSpPr>
          <p:cNvPr id="37" name="Text 34"/>
          <p:cNvSpPr/>
          <p:nvPr/>
        </p:nvSpPr>
        <p:spPr>
          <a:xfrm>
            <a:off x="7178040" y="1837944"/>
            <a:ext cx="1828800" cy="201168"/>
          </a:xfrm>
          <a:prstGeom prst="rect">
            <a:avLst/>
          </a:prstGeom>
          <a:noFill/>
          <a:ln/>
        </p:spPr>
        <p:txBody>
          <a:bodyPr wrap="square" rtlCol="0" anchor="ctr"/>
          <a:lstStyle/>
          <a:p>
            <a:pPr marL="0" indent="0">
              <a:buNone/>
            </a:pPr>
            <a:r>
              <a:rPr lang="en-US" sz="700" dirty="0">
                <a:solidFill>
                  <a:srgbClr val="94A3B8"/>
                </a:solidFill>
              </a:rPr>
              <a:t>Linked to active project</a:t>
            </a:r>
            <a:endParaRPr lang="en-US" sz="700" dirty="0"/>
          </a:p>
        </p:txBody>
      </p:sp>
      <p:sp>
        <p:nvSpPr>
          <p:cNvPr id="38" name="Shape 35"/>
          <p:cNvSpPr/>
          <p:nvPr/>
        </p:nvSpPr>
        <p:spPr>
          <a:xfrm>
            <a:off x="6876288" y="2139696"/>
            <a:ext cx="237744" cy="237744"/>
          </a:xfrm>
          <a:prstGeom prst="ellipse">
            <a:avLst/>
          </a:prstGeom>
          <a:solidFill>
            <a:srgbClr val="F59E0B"/>
          </a:solidFill>
          <a:ln w="12700">
            <a:solidFill>
              <a:srgbClr val="1E3A5F"/>
            </a:solidFill>
            <a:prstDash val="solid"/>
          </a:ln>
        </p:spPr>
        <p:txBody>
          <a:bodyPr/>
          <a:lstStyle/>
          <a:p>
            <a:endParaRPr lang="en-US"/>
          </a:p>
        </p:txBody>
      </p:sp>
      <p:sp>
        <p:nvSpPr>
          <p:cNvPr id="39" name="Text 36"/>
          <p:cNvSpPr/>
          <p:nvPr/>
        </p:nvSpPr>
        <p:spPr>
          <a:xfrm>
            <a:off x="6876288" y="2139696"/>
            <a:ext cx="237744" cy="237744"/>
          </a:xfrm>
          <a:prstGeom prst="rect">
            <a:avLst/>
          </a:prstGeom>
          <a:noFill/>
          <a:ln/>
        </p:spPr>
        <p:txBody>
          <a:bodyPr wrap="square" rtlCol="0" anchor="ctr"/>
          <a:lstStyle/>
          <a:p>
            <a:pPr marL="0" indent="0" algn="ctr">
              <a:buNone/>
            </a:pPr>
            <a:r>
              <a:rPr lang="en-US" sz="800" b="1" dirty="0">
                <a:solidFill>
                  <a:srgbClr val="0F172A"/>
                </a:solidFill>
              </a:rPr>
              <a:t>4</a:t>
            </a:r>
            <a:endParaRPr lang="en-US" sz="800" dirty="0"/>
          </a:p>
        </p:txBody>
      </p:sp>
      <p:sp>
        <p:nvSpPr>
          <p:cNvPr id="40" name="Text 37"/>
          <p:cNvSpPr/>
          <p:nvPr/>
        </p:nvSpPr>
        <p:spPr>
          <a:xfrm>
            <a:off x="7178040" y="2130552"/>
            <a:ext cx="1828800" cy="201168"/>
          </a:xfrm>
          <a:prstGeom prst="rect">
            <a:avLst/>
          </a:prstGeom>
          <a:noFill/>
          <a:ln/>
        </p:spPr>
        <p:txBody>
          <a:bodyPr wrap="square" rtlCol="0" anchor="ctr"/>
          <a:lstStyle/>
          <a:p>
            <a:pPr marL="0" indent="0">
              <a:buNone/>
            </a:pPr>
            <a:r>
              <a:rPr lang="en-US" sz="850" b="1" dirty="0">
                <a:solidFill>
                  <a:srgbClr val="FFFFFF"/>
                </a:solidFill>
              </a:rPr>
              <a:t>Title</a:t>
            </a:r>
            <a:endParaRPr lang="en-US" sz="850" dirty="0"/>
          </a:p>
        </p:txBody>
      </p:sp>
      <p:sp>
        <p:nvSpPr>
          <p:cNvPr id="41" name="Text 38"/>
          <p:cNvSpPr/>
          <p:nvPr/>
        </p:nvSpPr>
        <p:spPr>
          <a:xfrm>
            <a:off x="7178040" y="2331720"/>
            <a:ext cx="1828800" cy="201168"/>
          </a:xfrm>
          <a:prstGeom prst="rect">
            <a:avLst/>
          </a:prstGeom>
          <a:noFill/>
          <a:ln/>
        </p:spPr>
        <p:txBody>
          <a:bodyPr wrap="square" rtlCol="0" anchor="ctr"/>
          <a:lstStyle/>
          <a:p>
            <a:pPr marL="0" indent="0">
              <a:buNone/>
            </a:pPr>
            <a:r>
              <a:rPr lang="en-US" sz="700" dirty="0">
                <a:solidFill>
                  <a:srgbClr val="94A3B8"/>
                </a:solidFill>
              </a:rPr>
              <a:t>Brief incident description</a:t>
            </a:r>
            <a:endParaRPr lang="en-US" sz="700" dirty="0"/>
          </a:p>
        </p:txBody>
      </p:sp>
      <p:sp>
        <p:nvSpPr>
          <p:cNvPr id="42" name="Shape 39"/>
          <p:cNvSpPr/>
          <p:nvPr/>
        </p:nvSpPr>
        <p:spPr>
          <a:xfrm>
            <a:off x="6876288" y="2633472"/>
            <a:ext cx="237744" cy="237744"/>
          </a:xfrm>
          <a:prstGeom prst="ellipse">
            <a:avLst/>
          </a:prstGeom>
          <a:solidFill>
            <a:srgbClr val="F59E0B"/>
          </a:solidFill>
          <a:ln w="12700">
            <a:solidFill>
              <a:srgbClr val="1E3A5F"/>
            </a:solidFill>
            <a:prstDash val="solid"/>
          </a:ln>
        </p:spPr>
        <p:txBody>
          <a:bodyPr/>
          <a:lstStyle/>
          <a:p>
            <a:endParaRPr lang="en-US"/>
          </a:p>
        </p:txBody>
      </p:sp>
      <p:sp>
        <p:nvSpPr>
          <p:cNvPr id="43" name="Text 40"/>
          <p:cNvSpPr/>
          <p:nvPr/>
        </p:nvSpPr>
        <p:spPr>
          <a:xfrm>
            <a:off x="6876288" y="2633472"/>
            <a:ext cx="237744" cy="237744"/>
          </a:xfrm>
          <a:prstGeom prst="rect">
            <a:avLst/>
          </a:prstGeom>
          <a:noFill/>
          <a:ln/>
        </p:spPr>
        <p:txBody>
          <a:bodyPr wrap="square" rtlCol="0" anchor="ctr"/>
          <a:lstStyle/>
          <a:p>
            <a:pPr marL="0" indent="0" algn="ctr">
              <a:buNone/>
            </a:pPr>
            <a:r>
              <a:rPr lang="en-US" sz="800" b="1" dirty="0">
                <a:solidFill>
                  <a:srgbClr val="0F172A"/>
                </a:solidFill>
              </a:rPr>
              <a:t>5</a:t>
            </a:r>
            <a:endParaRPr lang="en-US" sz="800" dirty="0"/>
          </a:p>
        </p:txBody>
      </p:sp>
      <p:sp>
        <p:nvSpPr>
          <p:cNvPr id="44" name="Text 41"/>
          <p:cNvSpPr/>
          <p:nvPr/>
        </p:nvSpPr>
        <p:spPr>
          <a:xfrm>
            <a:off x="7178040" y="2624328"/>
            <a:ext cx="1828800" cy="201168"/>
          </a:xfrm>
          <a:prstGeom prst="rect">
            <a:avLst/>
          </a:prstGeom>
          <a:noFill/>
          <a:ln/>
        </p:spPr>
        <p:txBody>
          <a:bodyPr wrap="square" rtlCol="0" anchor="ctr"/>
          <a:lstStyle/>
          <a:p>
            <a:pPr marL="0" indent="0">
              <a:buNone/>
            </a:pPr>
            <a:r>
              <a:rPr lang="en-US" sz="850" b="1" dirty="0">
                <a:solidFill>
                  <a:srgbClr val="FFFFFF"/>
                </a:solidFill>
              </a:rPr>
              <a:t>Description</a:t>
            </a:r>
            <a:endParaRPr lang="en-US" sz="850" dirty="0"/>
          </a:p>
        </p:txBody>
      </p:sp>
      <p:sp>
        <p:nvSpPr>
          <p:cNvPr id="45" name="Text 42"/>
          <p:cNvSpPr/>
          <p:nvPr/>
        </p:nvSpPr>
        <p:spPr>
          <a:xfrm>
            <a:off x="7178040" y="2825496"/>
            <a:ext cx="1828800" cy="201168"/>
          </a:xfrm>
          <a:prstGeom prst="rect">
            <a:avLst/>
          </a:prstGeom>
          <a:noFill/>
          <a:ln/>
        </p:spPr>
        <p:txBody>
          <a:bodyPr wrap="square" rtlCol="0" anchor="ctr"/>
          <a:lstStyle/>
          <a:p>
            <a:pPr marL="0" indent="0">
              <a:buNone/>
            </a:pPr>
            <a:r>
              <a:rPr lang="en-US" sz="700" dirty="0">
                <a:solidFill>
                  <a:srgbClr val="94A3B8"/>
                </a:solidFill>
              </a:rPr>
              <a:t>Full details, actions taken</a:t>
            </a:r>
            <a:endParaRPr lang="en-US" sz="700" dirty="0"/>
          </a:p>
        </p:txBody>
      </p:sp>
      <p:sp>
        <p:nvSpPr>
          <p:cNvPr id="46" name="Shape 43"/>
          <p:cNvSpPr/>
          <p:nvPr/>
        </p:nvSpPr>
        <p:spPr>
          <a:xfrm>
            <a:off x="6876288" y="3127248"/>
            <a:ext cx="237744" cy="237744"/>
          </a:xfrm>
          <a:prstGeom prst="ellipse">
            <a:avLst/>
          </a:prstGeom>
          <a:solidFill>
            <a:srgbClr val="F59E0B"/>
          </a:solidFill>
          <a:ln w="12700">
            <a:solidFill>
              <a:srgbClr val="1E3A5F"/>
            </a:solidFill>
            <a:prstDash val="solid"/>
          </a:ln>
        </p:spPr>
        <p:txBody>
          <a:bodyPr/>
          <a:lstStyle/>
          <a:p>
            <a:endParaRPr lang="en-US"/>
          </a:p>
        </p:txBody>
      </p:sp>
      <p:sp>
        <p:nvSpPr>
          <p:cNvPr id="47" name="Text 44"/>
          <p:cNvSpPr/>
          <p:nvPr/>
        </p:nvSpPr>
        <p:spPr>
          <a:xfrm>
            <a:off x="6876288" y="3127248"/>
            <a:ext cx="237744" cy="237744"/>
          </a:xfrm>
          <a:prstGeom prst="rect">
            <a:avLst/>
          </a:prstGeom>
          <a:noFill/>
          <a:ln/>
        </p:spPr>
        <p:txBody>
          <a:bodyPr wrap="square" rtlCol="0" anchor="ctr"/>
          <a:lstStyle/>
          <a:p>
            <a:pPr marL="0" indent="0" algn="ctr">
              <a:buNone/>
            </a:pPr>
            <a:r>
              <a:rPr lang="en-US" sz="800" b="1" dirty="0">
                <a:solidFill>
                  <a:srgbClr val="0F172A"/>
                </a:solidFill>
              </a:rPr>
              <a:t>6</a:t>
            </a:r>
            <a:endParaRPr lang="en-US" sz="800" dirty="0"/>
          </a:p>
        </p:txBody>
      </p:sp>
      <p:sp>
        <p:nvSpPr>
          <p:cNvPr id="48" name="Text 45"/>
          <p:cNvSpPr/>
          <p:nvPr/>
        </p:nvSpPr>
        <p:spPr>
          <a:xfrm>
            <a:off x="7178040" y="3118104"/>
            <a:ext cx="1828800" cy="201168"/>
          </a:xfrm>
          <a:prstGeom prst="rect">
            <a:avLst/>
          </a:prstGeom>
          <a:noFill/>
          <a:ln/>
        </p:spPr>
        <p:txBody>
          <a:bodyPr wrap="square" rtlCol="0" anchor="ctr"/>
          <a:lstStyle/>
          <a:p>
            <a:pPr marL="0" indent="0">
              <a:buNone/>
            </a:pPr>
            <a:r>
              <a:rPr lang="en-US" sz="850" b="1" dirty="0">
                <a:solidFill>
                  <a:srgbClr val="FFFFFF"/>
                </a:solidFill>
              </a:rPr>
              <a:t>Timeline</a:t>
            </a:r>
            <a:endParaRPr lang="en-US" sz="850" dirty="0"/>
          </a:p>
        </p:txBody>
      </p:sp>
      <p:sp>
        <p:nvSpPr>
          <p:cNvPr id="49" name="Text 46"/>
          <p:cNvSpPr/>
          <p:nvPr/>
        </p:nvSpPr>
        <p:spPr>
          <a:xfrm>
            <a:off x="7178040" y="3319272"/>
            <a:ext cx="1828800" cy="201168"/>
          </a:xfrm>
          <a:prstGeom prst="rect">
            <a:avLst/>
          </a:prstGeom>
          <a:noFill/>
          <a:ln/>
        </p:spPr>
        <p:txBody>
          <a:bodyPr wrap="square" rtlCol="0" anchor="ctr"/>
          <a:lstStyle/>
          <a:p>
            <a:pPr marL="0" indent="0">
              <a:buNone/>
            </a:pPr>
            <a:r>
              <a:rPr lang="en-US" sz="700" dirty="0">
                <a:solidFill>
                  <a:srgbClr val="94A3B8"/>
                </a:solidFill>
              </a:rPr>
              <a:t>Incident time, Ack time, Resolved</a:t>
            </a:r>
            <a:endParaRPr lang="en-US" sz="700" dirty="0"/>
          </a:p>
        </p:txBody>
      </p:sp>
      <p:sp>
        <p:nvSpPr>
          <p:cNvPr id="50" name="Shape 47"/>
          <p:cNvSpPr/>
          <p:nvPr/>
        </p:nvSpPr>
        <p:spPr>
          <a:xfrm>
            <a:off x="6876288" y="3621024"/>
            <a:ext cx="237744" cy="237744"/>
          </a:xfrm>
          <a:prstGeom prst="ellipse">
            <a:avLst/>
          </a:prstGeom>
          <a:solidFill>
            <a:srgbClr val="F59E0B"/>
          </a:solidFill>
          <a:ln w="12700">
            <a:solidFill>
              <a:srgbClr val="1E3A5F"/>
            </a:solidFill>
            <a:prstDash val="solid"/>
          </a:ln>
        </p:spPr>
        <p:txBody>
          <a:bodyPr/>
          <a:lstStyle/>
          <a:p>
            <a:endParaRPr lang="en-US"/>
          </a:p>
        </p:txBody>
      </p:sp>
      <p:sp>
        <p:nvSpPr>
          <p:cNvPr id="51" name="Text 48"/>
          <p:cNvSpPr/>
          <p:nvPr/>
        </p:nvSpPr>
        <p:spPr>
          <a:xfrm>
            <a:off x="6876288" y="3621024"/>
            <a:ext cx="237744" cy="237744"/>
          </a:xfrm>
          <a:prstGeom prst="rect">
            <a:avLst/>
          </a:prstGeom>
          <a:noFill/>
          <a:ln/>
        </p:spPr>
        <p:txBody>
          <a:bodyPr wrap="square" rtlCol="0" anchor="ctr"/>
          <a:lstStyle/>
          <a:p>
            <a:pPr marL="0" indent="0" algn="ctr">
              <a:buNone/>
            </a:pPr>
            <a:r>
              <a:rPr lang="en-US" sz="800" b="1" dirty="0">
                <a:solidFill>
                  <a:srgbClr val="0F172A"/>
                </a:solidFill>
              </a:rPr>
              <a:t>7</a:t>
            </a:r>
            <a:endParaRPr lang="en-US" sz="800" dirty="0"/>
          </a:p>
        </p:txBody>
      </p:sp>
      <p:sp>
        <p:nvSpPr>
          <p:cNvPr id="52" name="Text 49"/>
          <p:cNvSpPr/>
          <p:nvPr/>
        </p:nvSpPr>
        <p:spPr>
          <a:xfrm>
            <a:off x="7178040" y="3611880"/>
            <a:ext cx="1828800" cy="201168"/>
          </a:xfrm>
          <a:prstGeom prst="rect">
            <a:avLst/>
          </a:prstGeom>
          <a:noFill/>
          <a:ln/>
        </p:spPr>
        <p:txBody>
          <a:bodyPr wrap="square" rtlCol="0" anchor="ctr"/>
          <a:lstStyle/>
          <a:p>
            <a:pPr marL="0" indent="0">
              <a:buNone/>
            </a:pPr>
            <a:r>
              <a:rPr lang="en-US" sz="850" b="1" dirty="0">
                <a:solidFill>
                  <a:srgbClr val="FFFFFF"/>
                </a:solidFill>
              </a:rPr>
              <a:t>Ticket IDs</a:t>
            </a:r>
            <a:endParaRPr lang="en-US" sz="850" dirty="0"/>
          </a:p>
        </p:txBody>
      </p:sp>
      <p:sp>
        <p:nvSpPr>
          <p:cNvPr id="53" name="Text 50"/>
          <p:cNvSpPr/>
          <p:nvPr/>
        </p:nvSpPr>
        <p:spPr>
          <a:xfrm>
            <a:off x="7178040" y="3813048"/>
            <a:ext cx="1828800" cy="201168"/>
          </a:xfrm>
          <a:prstGeom prst="rect">
            <a:avLst/>
          </a:prstGeom>
          <a:noFill/>
          <a:ln/>
        </p:spPr>
        <p:txBody>
          <a:bodyPr wrap="square" rtlCol="0" anchor="ctr"/>
          <a:lstStyle/>
          <a:p>
            <a:pPr marL="0" indent="0">
              <a:buNone/>
            </a:pPr>
            <a:r>
              <a:rPr lang="en-US" sz="700" dirty="0">
                <a:solidFill>
                  <a:srgbClr val="94A3B8"/>
                </a:solidFill>
              </a:rPr>
              <a:t>SNOW ticket + PagerDuty ref</a:t>
            </a:r>
            <a:endParaRPr lang="en-US" sz="700" dirty="0"/>
          </a:p>
        </p:txBody>
      </p:sp>
      <p:sp>
        <p:nvSpPr>
          <p:cNvPr id="54" name="Shape 51"/>
          <p:cNvSpPr/>
          <p:nvPr/>
        </p:nvSpPr>
        <p:spPr>
          <a:xfrm>
            <a:off x="6876288" y="4114800"/>
            <a:ext cx="237744" cy="237744"/>
          </a:xfrm>
          <a:prstGeom prst="ellipse">
            <a:avLst/>
          </a:prstGeom>
          <a:solidFill>
            <a:srgbClr val="F59E0B"/>
          </a:solidFill>
          <a:ln w="12700">
            <a:solidFill>
              <a:srgbClr val="1E3A5F"/>
            </a:solidFill>
            <a:prstDash val="solid"/>
          </a:ln>
        </p:spPr>
        <p:txBody>
          <a:bodyPr/>
          <a:lstStyle/>
          <a:p>
            <a:endParaRPr lang="en-US"/>
          </a:p>
        </p:txBody>
      </p:sp>
      <p:sp>
        <p:nvSpPr>
          <p:cNvPr id="55" name="Text 52"/>
          <p:cNvSpPr/>
          <p:nvPr/>
        </p:nvSpPr>
        <p:spPr>
          <a:xfrm>
            <a:off x="6876288" y="4114800"/>
            <a:ext cx="237744" cy="237744"/>
          </a:xfrm>
          <a:prstGeom prst="rect">
            <a:avLst/>
          </a:prstGeom>
          <a:noFill/>
          <a:ln/>
        </p:spPr>
        <p:txBody>
          <a:bodyPr wrap="square" rtlCol="0" anchor="ctr"/>
          <a:lstStyle/>
          <a:p>
            <a:pPr marL="0" indent="0" algn="ctr">
              <a:buNone/>
            </a:pPr>
            <a:r>
              <a:rPr lang="en-US" sz="800" b="1" dirty="0">
                <a:solidFill>
                  <a:srgbClr val="0F172A"/>
                </a:solidFill>
              </a:rPr>
              <a:t>8</a:t>
            </a:r>
            <a:endParaRPr lang="en-US" sz="800" dirty="0"/>
          </a:p>
        </p:txBody>
      </p:sp>
      <p:sp>
        <p:nvSpPr>
          <p:cNvPr id="56" name="Text 53"/>
          <p:cNvSpPr/>
          <p:nvPr/>
        </p:nvSpPr>
        <p:spPr>
          <a:xfrm>
            <a:off x="7178040" y="4105656"/>
            <a:ext cx="1828800" cy="201168"/>
          </a:xfrm>
          <a:prstGeom prst="rect">
            <a:avLst/>
          </a:prstGeom>
          <a:noFill/>
          <a:ln/>
        </p:spPr>
        <p:txBody>
          <a:bodyPr wrap="square" rtlCol="0" anchor="ctr"/>
          <a:lstStyle/>
          <a:p>
            <a:pPr marL="0" indent="0">
              <a:buNone/>
            </a:pPr>
            <a:r>
              <a:rPr lang="en-US" sz="850" b="1" dirty="0">
                <a:solidFill>
                  <a:srgbClr val="FFFFFF"/>
                </a:solidFill>
              </a:rPr>
              <a:t>Blocking Flag</a:t>
            </a:r>
            <a:endParaRPr lang="en-US" sz="850" dirty="0"/>
          </a:p>
        </p:txBody>
      </p:sp>
      <p:sp>
        <p:nvSpPr>
          <p:cNvPr id="57" name="Text 54"/>
          <p:cNvSpPr/>
          <p:nvPr/>
        </p:nvSpPr>
        <p:spPr>
          <a:xfrm>
            <a:off x="7178040" y="4306824"/>
            <a:ext cx="1828800" cy="201168"/>
          </a:xfrm>
          <a:prstGeom prst="rect">
            <a:avLst/>
          </a:prstGeom>
          <a:noFill/>
          <a:ln/>
        </p:spPr>
        <p:txBody>
          <a:bodyPr wrap="square" rtlCol="0" anchor="ctr"/>
          <a:lstStyle/>
          <a:p>
            <a:pPr marL="0" indent="0">
              <a:buNone/>
            </a:pPr>
            <a:r>
              <a:rPr lang="en-US" sz="700" dirty="0">
                <a:solidFill>
                  <a:srgbClr val="94A3B8"/>
                </a:solidFill>
              </a:rPr>
              <a:t>Marks cross-team blockers</a:t>
            </a:r>
            <a:endParaRPr lang="en-US" sz="700" dirty="0"/>
          </a:p>
        </p:txBody>
      </p:sp>
      <p:sp>
        <p:nvSpPr>
          <p:cNvPr id="58" name="Shape 55"/>
          <p:cNvSpPr/>
          <p:nvPr/>
        </p:nvSpPr>
        <p:spPr>
          <a:xfrm>
            <a:off x="6876288" y="4608576"/>
            <a:ext cx="237744" cy="237744"/>
          </a:xfrm>
          <a:prstGeom prst="ellipse">
            <a:avLst/>
          </a:prstGeom>
          <a:solidFill>
            <a:srgbClr val="F59E0B"/>
          </a:solidFill>
          <a:ln w="12700">
            <a:solidFill>
              <a:srgbClr val="1E3A5F"/>
            </a:solidFill>
            <a:prstDash val="solid"/>
          </a:ln>
        </p:spPr>
        <p:txBody>
          <a:bodyPr/>
          <a:lstStyle/>
          <a:p>
            <a:endParaRPr lang="en-US"/>
          </a:p>
        </p:txBody>
      </p:sp>
      <p:sp>
        <p:nvSpPr>
          <p:cNvPr id="59" name="Text 56"/>
          <p:cNvSpPr/>
          <p:nvPr/>
        </p:nvSpPr>
        <p:spPr>
          <a:xfrm>
            <a:off x="6876288" y="4608576"/>
            <a:ext cx="237744" cy="237744"/>
          </a:xfrm>
          <a:prstGeom prst="rect">
            <a:avLst/>
          </a:prstGeom>
          <a:noFill/>
          <a:ln/>
        </p:spPr>
        <p:txBody>
          <a:bodyPr wrap="square" rtlCol="0" anchor="ctr"/>
          <a:lstStyle/>
          <a:p>
            <a:pPr marL="0" indent="0" algn="ctr">
              <a:buNone/>
            </a:pPr>
            <a:r>
              <a:rPr lang="en-US" sz="800" b="1" dirty="0">
                <a:solidFill>
                  <a:srgbClr val="0F172A"/>
                </a:solidFill>
              </a:rPr>
              <a:t>9</a:t>
            </a:r>
            <a:endParaRPr lang="en-US" sz="800" dirty="0"/>
          </a:p>
        </p:txBody>
      </p:sp>
      <p:sp>
        <p:nvSpPr>
          <p:cNvPr id="60" name="Text 57"/>
          <p:cNvSpPr/>
          <p:nvPr/>
        </p:nvSpPr>
        <p:spPr>
          <a:xfrm>
            <a:off x="7178040" y="4599432"/>
            <a:ext cx="1828800" cy="201168"/>
          </a:xfrm>
          <a:prstGeom prst="rect">
            <a:avLst/>
          </a:prstGeom>
          <a:noFill/>
          <a:ln/>
        </p:spPr>
        <p:txBody>
          <a:bodyPr wrap="square" rtlCol="0" anchor="ctr"/>
          <a:lstStyle/>
          <a:p>
            <a:pPr marL="0" indent="0">
              <a:buNone/>
            </a:pPr>
            <a:r>
              <a:rPr lang="en-US" sz="850" b="1" dirty="0">
                <a:solidFill>
                  <a:srgbClr val="FFFFFF"/>
                </a:solidFill>
              </a:rPr>
              <a:t>Submit</a:t>
            </a:r>
            <a:endParaRPr lang="en-US" sz="850" dirty="0"/>
          </a:p>
        </p:txBody>
      </p:sp>
      <p:sp>
        <p:nvSpPr>
          <p:cNvPr id="61" name="Text 58"/>
          <p:cNvSpPr/>
          <p:nvPr/>
        </p:nvSpPr>
        <p:spPr>
          <a:xfrm>
            <a:off x="7178040" y="4800600"/>
            <a:ext cx="1828800" cy="201168"/>
          </a:xfrm>
          <a:prstGeom prst="rect">
            <a:avLst/>
          </a:prstGeom>
          <a:noFill/>
          <a:ln/>
        </p:spPr>
        <p:txBody>
          <a:bodyPr wrap="square" rtlCol="0" anchor="ctr"/>
          <a:lstStyle/>
          <a:p>
            <a:pPr marL="0" indent="0">
              <a:buNone/>
            </a:pPr>
            <a:r>
              <a:rPr lang="en-US" sz="700" dirty="0">
                <a:solidFill>
                  <a:srgbClr val="94A3B8"/>
                </a:solidFill>
              </a:rPr>
              <a:t>Logs to database, notifies lead</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64008"/>
            <a:ext cx="6400800" cy="310896"/>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Daily Feed</a:t>
            </a:r>
            <a:endParaRPr lang="en-US" sz="1800" dirty="0"/>
          </a:p>
        </p:txBody>
      </p:sp>
      <p:sp>
        <p:nvSpPr>
          <p:cNvPr id="4" name="Text 2"/>
          <p:cNvSpPr/>
          <p:nvPr/>
        </p:nvSpPr>
        <p:spPr>
          <a:xfrm>
            <a:off x="274320" y="365760"/>
            <a:ext cx="6400800" cy="182880"/>
          </a:xfrm>
          <a:prstGeom prst="rect">
            <a:avLst/>
          </a:prstGeom>
          <a:noFill/>
          <a:ln/>
        </p:spPr>
        <p:txBody>
          <a:bodyPr wrap="square" rtlCol="0" anchor="ctr"/>
          <a:lstStyle/>
          <a:p>
            <a:pPr marL="0" indent="0">
              <a:buNone/>
            </a:pPr>
            <a:r>
              <a:rPr lang="en-US" sz="900" dirty="0">
                <a:solidFill>
                  <a:srgbClr val="94A3B8"/>
                </a:solidFill>
              </a:rPr>
              <a:t>Unified incident stream from PagerDuty, ServiceNow, Slack and Teams — filterable by source and severity</a:t>
            </a:r>
            <a:endParaRPr lang="en-US" sz="900" dirty="0"/>
          </a:p>
        </p:txBody>
      </p:sp>
      <p:pic>
        <p:nvPicPr>
          <p:cNvPr id="5" name="Image 0" descr="/sessions/dazzling-bold-euler/mnt/shiftbuddy/screenshots/screencapture-shiftbuddy-brahmateja-dashboard-feed-2026-05-28-07_27_24_crop.png"/>
          <p:cNvPicPr>
            <a:picLocks noChangeAspect="1"/>
          </p:cNvPicPr>
          <p:nvPr/>
        </p:nvPicPr>
        <p:blipFill>
          <a:blip r:embed="rId3"/>
          <a:stretch>
            <a:fillRect/>
          </a:stretch>
        </p:blipFill>
        <p:spPr>
          <a:xfrm>
            <a:off x="137160" y="621792"/>
            <a:ext cx="5769698" cy="4407408"/>
          </a:xfrm>
          <a:prstGeom prst="rect">
            <a:avLst/>
          </a:prstGeom>
        </p:spPr>
      </p:pic>
      <p:sp>
        <p:nvSpPr>
          <p:cNvPr id="6" name="Shape 3"/>
          <p:cNvSpPr/>
          <p:nvPr/>
        </p:nvSpPr>
        <p:spPr>
          <a:xfrm>
            <a:off x="137160" y="621792"/>
            <a:ext cx="5769698" cy="4407408"/>
          </a:xfrm>
          <a:prstGeom prst="rect">
            <a:avLst/>
          </a:prstGeom>
          <a:ln w="6350">
            <a:solidFill>
              <a:srgbClr val="E2E8F0"/>
            </a:solidFill>
            <a:prstDash val="solid"/>
          </a:ln>
        </p:spPr>
        <p:txBody>
          <a:bodyPr/>
          <a:lstStyle/>
          <a:p>
            <a:endParaRPr lang="en-US"/>
          </a:p>
        </p:txBody>
      </p:sp>
      <p:sp>
        <p:nvSpPr>
          <p:cNvPr id="7" name="Shape 4"/>
          <p:cNvSpPr/>
          <p:nvPr/>
        </p:nvSpPr>
        <p:spPr>
          <a:xfrm>
            <a:off x="878406" y="681893"/>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8" name="Text 5"/>
          <p:cNvSpPr/>
          <p:nvPr/>
        </p:nvSpPr>
        <p:spPr>
          <a:xfrm>
            <a:off x="878406" y="681893"/>
            <a:ext cx="274320" cy="274320"/>
          </a:xfrm>
          <a:prstGeom prst="rect">
            <a:avLst/>
          </a:prstGeom>
          <a:noFill/>
          <a:ln/>
        </p:spPr>
        <p:txBody>
          <a:bodyPr wrap="square" rtlCol="0" anchor="ctr"/>
          <a:lstStyle/>
          <a:p>
            <a:pPr marL="0" indent="0" algn="ctr">
              <a:buNone/>
            </a:pPr>
            <a:r>
              <a:rPr lang="en-US" sz="1000" b="1" dirty="0">
                <a:solidFill>
                  <a:srgbClr val="0F172A"/>
                </a:solidFill>
              </a:rPr>
              <a:t>1</a:t>
            </a:r>
            <a:endParaRPr lang="en-US" sz="1000" dirty="0"/>
          </a:p>
        </p:txBody>
      </p:sp>
      <p:sp>
        <p:nvSpPr>
          <p:cNvPr id="9" name="Shape 6"/>
          <p:cNvSpPr/>
          <p:nvPr/>
        </p:nvSpPr>
        <p:spPr>
          <a:xfrm>
            <a:off x="878406" y="782061"/>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0" name="Text 7"/>
          <p:cNvSpPr/>
          <p:nvPr/>
        </p:nvSpPr>
        <p:spPr>
          <a:xfrm>
            <a:off x="878406" y="782061"/>
            <a:ext cx="274320" cy="274320"/>
          </a:xfrm>
          <a:prstGeom prst="rect">
            <a:avLst/>
          </a:prstGeom>
          <a:noFill/>
          <a:ln/>
        </p:spPr>
        <p:txBody>
          <a:bodyPr wrap="square" rtlCol="0" anchor="ctr"/>
          <a:lstStyle/>
          <a:p>
            <a:pPr marL="0" indent="0" algn="ctr">
              <a:buNone/>
            </a:pPr>
            <a:r>
              <a:rPr lang="en-US" sz="1000" b="1" dirty="0">
                <a:solidFill>
                  <a:srgbClr val="0F172A"/>
                </a:solidFill>
              </a:rPr>
              <a:t>2</a:t>
            </a:r>
            <a:endParaRPr lang="en-US" sz="1000" dirty="0"/>
          </a:p>
        </p:txBody>
      </p:sp>
      <p:sp>
        <p:nvSpPr>
          <p:cNvPr id="11" name="Shape 8"/>
          <p:cNvSpPr/>
          <p:nvPr/>
        </p:nvSpPr>
        <p:spPr>
          <a:xfrm>
            <a:off x="878406" y="942331"/>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2" name="Text 9"/>
          <p:cNvSpPr/>
          <p:nvPr/>
        </p:nvSpPr>
        <p:spPr>
          <a:xfrm>
            <a:off x="878406" y="942331"/>
            <a:ext cx="274320" cy="274320"/>
          </a:xfrm>
          <a:prstGeom prst="rect">
            <a:avLst/>
          </a:prstGeom>
          <a:noFill/>
          <a:ln/>
        </p:spPr>
        <p:txBody>
          <a:bodyPr wrap="square" rtlCol="0" anchor="ctr"/>
          <a:lstStyle/>
          <a:p>
            <a:pPr marL="0" indent="0" algn="ctr">
              <a:buNone/>
            </a:pPr>
            <a:r>
              <a:rPr lang="en-US" sz="1000" b="1" dirty="0">
                <a:solidFill>
                  <a:srgbClr val="0F172A"/>
                </a:solidFill>
              </a:rPr>
              <a:t>3</a:t>
            </a:r>
            <a:endParaRPr lang="en-US" sz="1000" dirty="0"/>
          </a:p>
        </p:txBody>
      </p:sp>
      <p:sp>
        <p:nvSpPr>
          <p:cNvPr id="13" name="Shape 10"/>
          <p:cNvSpPr/>
          <p:nvPr/>
        </p:nvSpPr>
        <p:spPr>
          <a:xfrm>
            <a:off x="1018642" y="952348"/>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4" name="Text 11"/>
          <p:cNvSpPr/>
          <p:nvPr/>
        </p:nvSpPr>
        <p:spPr>
          <a:xfrm>
            <a:off x="1018642" y="952348"/>
            <a:ext cx="274320" cy="274320"/>
          </a:xfrm>
          <a:prstGeom prst="rect">
            <a:avLst/>
          </a:prstGeom>
          <a:noFill/>
          <a:ln/>
        </p:spPr>
        <p:txBody>
          <a:bodyPr wrap="square" rtlCol="0" anchor="ctr"/>
          <a:lstStyle/>
          <a:p>
            <a:pPr marL="0" indent="0" algn="ctr">
              <a:buNone/>
            </a:pPr>
            <a:r>
              <a:rPr lang="en-US" sz="1000" b="1" dirty="0">
                <a:solidFill>
                  <a:srgbClr val="0F172A"/>
                </a:solidFill>
              </a:rPr>
              <a:t>4</a:t>
            </a:r>
            <a:endParaRPr lang="en-US" sz="1000" dirty="0"/>
          </a:p>
        </p:txBody>
      </p:sp>
      <p:sp>
        <p:nvSpPr>
          <p:cNvPr id="15" name="Shape 12"/>
          <p:cNvSpPr/>
          <p:nvPr/>
        </p:nvSpPr>
        <p:spPr>
          <a:xfrm>
            <a:off x="4143895" y="942331"/>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6" name="Text 13"/>
          <p:cNvSpPr/>
          <p:nvPr/>
        </p:nvSpPr>
        <p:spPr>
          <a:xfrm>
            <a:off x="4143895" y="942331"/>
            <a:ext cx="274320" cy="274320"/>
          </a:xfrm>
          <a:prstGeom prst="rect">
            <a:avLst/>
          </a:prstGeom>
          <a:noFill/>
          <a:ln/>
        </p:spPr>
        <p:txBody>
          <a:bodyPr wrap="square" rtlCol="0" anchor="ctr"/>
          <a:lstStyle/>
          <a:p>
            <a:pPr marL="0" indent="0" algn="ctr">
              <a:buNone/>
            </a:pPr>
            <a:r>
              <a:rPr lang="en-US" sz="1000" b="1" dirty="0">
                <a:solidFill>
                  <a:srgbClr val="0F172A"/>
                </a:solidFill>
              </a:rPr>
              <a:t>5</a:t>
            </a:r>
            <a:endParaRPr lang="en-US" sz="1000" dirty="0"/>
          </a:p>
        </p:txBody>
      </p:sp>
      <p:sp>
        <p:nvSpPr>
          <p:cNvPr id="17" name="Shape 14"/>
          <p:cNvSpPr/>
          <p:nvPr/>
        </p:nvSpPr>
        <p:spPr>
          <a:xfrm>
            <a:off x="1339180" y="1062533"/>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8" name="Text 15"/>
          <p:cNvSpPr/>
          <p:nvPr/>
        </p:nvSpPr>
        <p:spPr>
          <a:xfrm>
            <a:off x="1339180" y="1062533"/>
            <a:ext cx="274320" cy="274320"/>
          </a:xfrm>
          <a:prstGeom prst="rect">
            <a:avLst/>
          </a:prstGeom>
          <a:noFill/>
          <a:ln/>
        </p:spPr>
        <p:txBody>
          <a:bodyPr wrap="square" rtlCol="0" anchor="ctr"/>
          <a:lstStyle/>
          <a:p>
            <a:pPr marL="0" indent="0" algn="ctr">
              <a:buNone/>
            </a:pPr>
            <a:r>
              <a:rPr lang="en-US" sz="1000" b="1" dirty="0">
                <a:solidFill>
                  <a:srgbClr val="0F172A"/>
                </a:solidFill>
              </a:rPr>
              <a:t>6</a:t>
            </a:r>
            <a:endParaRPr lang="en-US" sz="1000" dirty="0"/>
          </a:p>
        </p:txBody>
      </p:sp>
      <p:sp>
        <p:nvSpPr>
          <p:cNvPr id="19" name="Shape 16"/>
          <p:cNvSpPr/>
          <p:nvPr/>
        </p:nvSpPr>
        <p:spPr>
          <a:xfrm>
            <a:off x="878406" y="1383072"/>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0" name="Text 17"/>
          <p:cNvSpPr/>
          <p:nvPr/>
        </p:nvSpPr>
        <p:spPr>
          <a:xfrm>
            <a:off x="878406" y="1383072"/>
            <a:ext cx="274320" cy="274320"/>
          </a:xfrm>
          <a:prstGeom prst="rect">
            <a:avLst/>
          </a:prstGeom>
          <a:noFill/>
          <a:ln/>
        </p:spPr>
        <p:txBody>
          <a:bodyPr wrap="square" rtlCol="0" anchor="ctr"/>
          <a:lstStyle/>
          <a:p>
            <a:pPr marL="0" indent="0" algn="ctr">
              <a:buNone/>
            </a:pPr>
            <a:r>
              <a:rPr lang="en-US" sz="1000" b="1" dirty="0">
                <a:solidFill>
                  <a:srgbClr val="0F172A"/>
                </a:solidFill>
              </a:rPr>
              <a:t>7</a:t>
            </a:r>
            <a:endParaRPr lang="en-US" sz="1000" dirty="0"/>
          </a:p>
        </p:txBody>
      </p:sp>
      <p:sp>
        <p:nvSpPr>
          <p:cNvPr id="21" name="Shape 18"/>
          <p:cNvSpPr/>
          <p:nvPr/>
        </p:nvSpPr>
        <p:spPr>
          <a:xfrm>
            <a:off x="878406" y="1803779"/>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2" name="Text 19"/>
          <p:cNvSpPr/>
          <p:nvPr/>
        </p:nvSpPr>
        <p:spPr>
          <a:xfrm>
            <a:off x="878406" y="1803779"/>
            <a:ext cx="274320" cy="274320"/>
          </a:xfrm>
          <a:prstGeom prst="rect">
            <a:avLst/>
          </a:prstGeom>
          <a:noFill/>
          <a:ln/>
        </p:spPr>
        <p:txBody>
          <a:bodyPr wrap="square" rtlCol="0" anchor="ctr"/>
          <a:lstStyle/>
          <a:p>
            <a:pPr marL="0" indent="0" algn="ctr">
              <a:buNone/>
            </a:pPr>
            <a:r>
              <a:rPr lang="en-US" sz="1000" b="1" dirty="0">
                <a:solidFill>
                  <a:srgbClr val="0F172A"/>
                </a:solidFill>
              </a:rPr>
              <a:t>8</a:t>
            </a:r>
            <a:endParaRPr lang="en-US" sz="1000" dirty="0"/>
          </a:p>
        </p:txBody>
      </p:sp>
      <p:sp>
        <p:nvSpPr>
          <p:cNvPr id="23" name="Shape 20"/>
          <p:cNvSpPr/>
          <p:nvPr/>
        </p:nvSpPr>
        <p:spPr>
          <a:xfrm>
            <a:off x="6830568" y="576072"/>
            <a:ext cx="2267712" cy="4133088"/>
          </a:xfrm>
          <a:prstGeom prst="roundRect">
            <a:avLst/>
          </a:prstGeom>
          <a:solidFill>
            <a:srgbClr val="1E3A5F"/>
          </a:solidFill>
          <a:ln w="12700">
            <a:solidFill>
              <a:srgbClr val="1E3A5F"/>
            </a:solidFill>
            <a:prstDash val="solid"/>
          </a:ln>
        </p:spPr>
        <p:txBody>
          <a:bodyPr/>
          <a:lstStyle/>
          <a:p>
            <a:endParaRPr lang="en-US"/>
          </a:p>
        </p:txBody>
      </p:sp>
      <p:sp>
        <p:nvSpPr>
          <p:cNvPr id="24" name="Shape 21"/>
          <p:cNvSpPr/>
          <p:nvPr/>
        </p:nvSpPr>
        <p:spPr>
          <a:xfrm>
            <a:off x="6876288" y="658368"/>
            <a:ext cx="237744" cy="237744"/>
          </a:xfrm>
          <a:prstGeom prst="ellipse">
            <a:avLst/>
          </a:prstGeom>
          <a:solidFill>
            <a:srgbClr val="F59E0B"/>
          </a:solidFill>
          <a:ln w="12700">
            <a:solidFill>
              <a:srgbClr val="1E3A5F"/>
            </a:solidFill>
            <a:prstDash val="solid"/>
          </a:ln>
        </p:spPr>
        <p:txBody>
          <a:bodyPr/>
          <a:lstStyle/>
          <a:p>
            <a:endParaRPr lang="en-US"/>
          </a:p>
        </p:txBody>
      </p:sp>
      <p:sp>
        <p:nvSpPr>
          <p:cNvPr id="25" name="Text 22"/>
          <p:cNvSpPr/>
          <p:nvPr/>
        </p:nvSpPr>
        <p:spPr>
          <a:xfrm>
            <a:off x="6876288" y="658368"/>
            <a:ext cx="237744" cy="237744"/>
          </a:xfrm>
          <a:prstGeom prst="rect">
            <a:avLst/>
          </a:prstGeom>
          <a:noFill/>
          <a:ln/>
        </p:spPr>
        <p:txBody>
          <a:bodyPr wrap="square" rtlCol="0" anchor="ctr"/>
          <a:lstStyle/>
          <a:p>
            <a:pPr marL="0" indent="0" algn="ctr">
              <a:buNone/>
            </a:pPr>
            <a:r>
              <a:rPr lang="en-US" sz="800" b="1" dirty="0">
                <a:solidFill>
                  <a:srgbClr val="0F172A"/>
                </a:solidFill>
              </a:rPr>
              <a:t>1</a:t>
            </a:r>
            <a:endParaRPr lang="en-US" sz="800" dirty="0"/>
          </a:p>
        </p:txBody>
      </p:sp>
      <p:sp>
        <p:nvSpPr>
          <p:cNvPr id="26" name="Text 23"/>
          <p:cNvSpPr/>
          <p:nvPr/>
        </p:nvSpPr>
        <p:spPr>
          <a:xfrm>
            <a:off x="7178040" y="649224"/>
            <a:ext cx="1828800" cy="201168"/>
          </a:xfrm>
          <a:prstGeom prst="rect">
            <a:avLst/>
          </a:prstGeom>
          <a:noFill/>
          <a:ln/>
        </p:spPr>
        <p:txBody>
          <a:bodyPr wrap="square" rtlCol="0" anchor="ctr"/>
          <a:lstStyle/>
          <a:p>
            <a:pPr marL="0" indent="0">
              <a:buNone/>
            </a:pPr>
            <a:r>
              <a:rPr lang="en-US" sz="850" b="1" dirty="0">
                <a:solidFill>
                  <a:srgbClr val="FFFFFF"/>
                </a:solidFill>
              </a:rPr>
              <a:t>Source Filter</a:t>
            </a:r>
            <a:endParaRPr lang="en-US" sz="850" dirty="0"/>
          </a:p>
        </p:txBody>
      </p:sp>
      <p:sp>
        <p:nvSpPr>
          <p:cNvPr id="27" name="Text 24"/>
          <p:cNvSpPr/>
          <p:nvPr/>
        </p:nvSpPr>
        <p:spPr>
          <a:xfrm>
            <a:off x="7178040" y="850392"/>
            <a:ext cx="1828800" cy="201168"/>
          </a:xfrm>
          <a:prstGeom prst="rect">
            <a:avLst/>
          </a:prstGeom>
          <a:noFill/>
          <a:ln/>
        </p:spPr>
        <p:txBody>
          <a:bodyPr wrap="square" rtlCol="0" anchor="ctr"/>
          <a:lstStyle/>
          <a:p>
            <a:pPr marL="0" indent="0">
              <a:buNone/>
            </a:pPr>
            <a:r>
              <a:rPr lang="en-US" sz="700" dirty="0">
                <a:solidFill>
                  <a:srgbClr val="94A3B8"/>
                </a:solidFill>
              </a:rPr>
              <a:t>PD, ServiceNow, Slack, Teams count</a:t>
            </a:r>
            <a:endParaRPr lang="en-US" sz="700" dirty="0"/>
          </a:p>
        </p:txBody>
      </p:sp>
      <p:sp>
        <p:nvSpPr>
          <p:cNvPr id="28" name="Shape 25"/>
          <p:cNvSpPr/>
          <p:nvPr/>
        </p:nvSpPr>
        <p:spPr>
          <a:xfrm>
            <a:off x="6876288" y="1152144"/>
            <a:ext cx="237744" cy="237744"/>
          </a:xfrm>
          <a:prstGeom prst="ellipse">
            <a:avLst/>
          </a:prstGeom>
          <a:solidFill>
            <a:srgbClr val="F59E0B"/>
          </a:solidFill>
          <a:ln w="12700">
            <a:solidFill>
              <a:srgbClr val="1E3A5F"/>
            </a:solidFill>
            <a:prstDash val="solid"/>
          </a:ln>
        </p:spPr>
        <p:txBody>
          <a:bodyPr/>
          <a:lstStyle/>
          <a:p>
            <a:endParaRPr lang="en-US"/>
          </a:p>
        </p:txBody>
      </p:sp>
      <p:sp>
        <p:nvSpPr>
          <p:cNvPr id="29" name="Text 26"/>
          <p:cNvSpPr/>
          <p:nvPr/>
        </p:nvSpPr>
        <p:spPr>
          <a:xfrm>
            <a:off x="6876288" y="1152144"/>
            <a:ext cx="237744" cy="237744"/>
          </a:xfrm>
          <a:prstGeom prst="rect">
            <a:avLst/>
          </a:prstGeom>
          <a:noFill/>
          <a:ln/>
        </p:spPr>
        <p:txBody>
          <a:bodyPr wrap="square" rtlCol="0" anchor="ctr"/>
          <a:lstStyle/>
          <a:p>
            <a:pPr marL="0" indent="0" algn="ctr">
              <a:buNone/>
            </a:pPr>
            <a:r>
              <a:rPr lang="en-US" sz="800" b="1" dirty="0">
                <a:solidFill>
                  <a:srgbClr val="0F172A"/>
                </a:solidFill>
              </a:rPr>
              <a:t>2</a:t>
            </a:r>
            <a:endParaRPr lang="en-US" sz="800" dirty="0"/>
          </a:p>
        </p:txBody>
      </p:sp>
      <p:sp>
        <p:nvSpPr>
          <p:cNvPr id="30" name="Text 27"/>
          <p:cNvSpPr/>
          <p:nvPr/>
        </p:nvSpPr>
        <p:spPr>
          <a:xfrm>
            <a:off x="7178040" y="1143000"/>
            <a:ext cx="1828800" cy="201168"/>
          </a:xfrm>
          <a:prstGeom prst="rect">
            <a:avLst/>
          </a:prstGeom>
          <a:noFill/>
          <a:ln/>
        </p:spPr>
        <p:txBody>
          <a:bodyPr wrap="square" rtlCol="0" anchor="ctr"/>
          <a:lstStyle/>
          <a:p>
            <a:pPr marL="0" indent="0">
              <a:buNone/>
            </a:pPr>
            <a:r>
              <a:rPr lang="en-US" sz="850" b="1" dirty="0">
                <a:solidFill>
                  <a:srgbClr val="FFFFFF"/>
                </a:solidFill>
              </a:rPr>
              <a:t>Severity Filter</a:t>
            </a:r>
            <a:endParaRPr lang="en-US" sz="850" dirty="0"/>
          </a:p>
        </p:txBody>
      </p:sp>
      <p:sp>
        <p:nvSpPr>
          <p:cNvPr id="31" name="Text 28"/>
          <p:cNvSpPr/>
          <p:nvPr/>
        </p:nvSpPr>
        <p:spPr>
          <a:xfrm>
            <a:off x="7178040" y="1344168"/>
            <a:ext cx="1828800" cy="201168"/>
          </a:xfrm>
          <a:prstGeom prst="rect">
            <a:avLst/>
          </a:prstGeom>
          <a:noFill/>
          <a:ln/>
        </p:spPr>
        <p:txBody>
          <a:bodyPr wrap="square" rtlCol="0" anchor="ctr"/>
          <a:lstStyle/>
          <a:p>
            <a:pPr marL="0" indent="0">
              <a:buNone/>
            </a:pPr>
            <a:r>
              <a:rPr lang="en-US" sz="700" dirty="0">
                <a:solidFill>
                  <a:srgbClr val="94A3B8"/>
                </a:solidFill>
              </a:rPr>
              <a:t>P1 Critical / P2 High / P3 Medium</a:t>
            </a:r>
            <a:endParaRPr lang="en-US" sz="700" dirty="0"/>
          </a:p>
        </p:txBody>
      </p:sp>
      <p:sp>
        <p:nvSpPr>
          <p:cNvPr id="32" name="Shape 29"/>
          <p:cNvSpPr/>
          <p:nvPr/>
        </p:nvSpPr>
        <p:spPr>
          <a:xfrm>
            <a:off x="6876288" y="1645920"/>
            <a:ext cx="237744" cy="237744"/>
          </a:xfrm>
          <a:prstGeom prst="ellipse">
            <a:avLst/>
          </a:prstGeom>
          <a:solidFill>
            <a:srgbClr val="F59E0B"/>
          </a:solidFill>
          <a:ln w="12700">
            <a:solidFill>
              <a:srgbClr val="1E3A5F"/>
            </a:solidFill>
            <a:prstDash val="solid"/>
          </a:ln>
        </p:spPr>
        <p:txBody>
          <a:bodyPr/>
          <a:lstStyle/>
          <a:p>
            <a:endParaRPr lang="en-US"/>
          </a:p>
        </p:txBody>
      </p:sp>
      <p:sp>
        <p:nvSpPr>
          <p:cNvPr id="33" name="Text 30"/>
          <p:cNvSpPr/>
          <p:nvPr/>
        </p:nvSpPr>
        <p:spPr>
          <a:xfrm>
            <a:off x="6876288" y="1645920"/>
            <a:ext cx="237744" cy="237744"/>
          </a:xfrm>
          <a:prstGeom prst="rect">
            <a:avLst/>
          </a:prstGeom>
          <a:noFill/>
          <a:ln/>
        </p:spPr>
        <p:txBody>
          <a:bodyPr wrap="square" rtlCol="0" anchor="ctr"/>
          <a:lstStyle/>
          <a:p>
            <a:pPr marL="0" indent="0" algn="ctr">
              <a:buNone/>
            </a:pPr>
            <a:r>
              <a:rPr lang="en-US" sz="800" b="1" dirty="0">
                <a:solidFill>
                  <a:srgbClr val="0F172A"/>
                </a:solidFill>
              </a:rPr>
              <a:t>3</a:t>
            </a:r>
            <a:endParaRPr lang="en-US" sz="800" dirty="0"/>
          </a:p>
        </p:txBody>
      </p:sp>
      <p:sp>
        <p:nvSpPr>
          <p:cNvPr id="34" name="Text 31"/>
          <p:cNvSpPr/>
          <p:nvPr/>
        </p:nvSpPr>
        <p:spPr>
          <a:xfrm>
            <a:off x="7178040" y="1636776"/>
            <a:ext cx="1828800" cy="201168"/>
          </a:xfrm>
          <a:prstGeom prst="rect">
            <a:avLst/>
          </a:prstGeom>
          <a:noFill/>
          <a:ln/>
        </p:spPr>
        <p:txBody>
          <a:bodyPr wrap="square" rtlCol="0" anchor="ctr"/>
          <a:lstStyle/>
          <a:p>
            <a:pPr marL="0" indent="0">
              <a:buNone/>
            </a:pPr>
            <a:r>
              <a:rPr lang="en-US" sz="850" b="1" dirty="0">
                <a:solidFill>
                  <a:srgbClr val="FFFFFF"/>
                </a:solidFill>
              </a:rPr>
              <a:t>P1 Incident Card</a:t>
            </a:r>
            <a:endParaRPr lang="en-US" sz="850" dirty="0"/>
          </a:p>
        </p:txBody>
      </p:sp>
      <p:sp>
        <p:nvSpPr>
          <p:cNvPr id="35" name="Text 32"/>
          <p:cNvSpPr/>
          <p:nvPr/>
        </p:nvSpPr>
        <p:spPr>
          <a:xfrm>
            <a:off x="7178040" y="1837944"/>
            <a:ext cx="1828800" cy="201168"/>
          </a:xfrm>
          <a:prstGeom prst="rect">
            <a:avLst/>
          </a:prstGeom>
          <a:noFill/>
          <a:ln/>
        </p:spPr>
        <p:txBody>
          <a:bodyPr wrap="square" rtlCol="0" anchor="ctr"/>
          <a:lstStyle/>
          <a:p>
            <a:pPr marL="0" indent="0">
              <a:buNone/>
            </a:pPr>
            <a:r>
              <a:rPr lang="en-US" sz="700" dirty="0">
                <a:solidFill>
                  <a:srgbClr val="94A3B8"/>
                </a:solidFill>
              </a:rPr>
              <a:t>Full incident with timeline + context</a:t>
            </a:r>
            <a:endParaRPr lang="en-US" sz="700" dirty="0"/>
          </a:p>
        </p:txBody>
      </p:sp>
      <p:sp>
        <p:nvSpPr>
          <p:cNvPr id="36" name="Shape 33"/>
          <p:cNvSpPr/>
          <p:nvPr/>
        </p:nvSpPr>
        <p:spPr>
          <a:xfrm>
            <a:off x="6876288" y="2139696"/>
            <a:ext cx="237744" cy="237744"/>
          </a:xfrm>
          <a:prstGeom prst="ellipse">
            <a:avLst/>
          </a:prstGeom>
          <a:solidFill>
            <a:srgbClr val="F59E0B"/>
          </a:solidFill>
          <a:ln w="12700">
            <a:solidFill>
              <a:srgbClr val="1E3A5F"/>
            </a:solidFill>
            <a:prstDash val="solid"/>
          </a:ln>
        </p:spPr>
        <p:txBody>
          <a:bodyPr/>
          <a:lstStyle/>
          <a:p>
            <a:endParaRPr lang="en-US"/>
          </a:p>
        </p:txBody>
      </p:sp>
      <p:sp>
        <p:nvSpPr>
          <p:cNvPr id="37" name="Text 34"/>
          <p:cNvSpPr/>
          <p:nvPr/>
        </p:nvSpPr>
        <p:spPr>
          <a:xfrm>
            <a:off x="6876288" y="2139696"/>
            <a:ext cx="237744" cy="237744"/>
          </a:xfrm>
          <a:prstGeom prst="rect">
            <a:avLst/>
          </a:prstGeom>
          <a:noFill/>
          <a:ln/>
        </p:spPr>
        <p:txBody>
          <a:bodyPr wrap="square" rtlCol="0" anchor="ctr"/>
          <a:lstStyle/>
          <a:p>
            <a:pPr marL="0" indent="0" algn="ctr">
              <a:buNone/>
            </a:pPr>
            <a:r>
              <a:rPr lang="en-US" sz="800" b="1" dirty="0">
                <a:solidFill>
                  <a:srgbClr val="0F172A"/>
                </a:solidFill>
              </a:rPr>
              <a:t>4</a:t>
            </a:r>
            <a:endParaRPr lang="en-US" sz="800" dirty="0"/>
          </a:p>
        </p:txBody>
      </p:sp>
      <p:sp>
        <p:nvSpPr>
          <p:cNvPr id="38" name="Text 35"/>
          <p:cNvSpPr/>
          <p:nvPr/>
        </p:nvSpPr>
        <p:spPr>
          <a:xfrm>
            <a:off x="7178040" y="2130552"/>
            <a:ext cx="1828800" cy="201168"/>
          </a:xfrm>
          <a:prstGeom prst="rect">
            <a:avLst/>
          </a:prstGeom>
          <a:noFill/>
          <a:ln/>
        </p:spPr>
        <p:txBody>
          <a:bodyPr wrap="square" rtlCol="0" anchor="ctr"/>
          <a:lstStyle/>
          <a:p>
            <a:pPr marL="0" indent="0">
              <a:buNone/>
            </a:pPr>
            <a:r>
              <a:rPr lang="en-US" sz="850" b="1" dirty="0">
                <a:solidFill>
                  <a:srgbClr val="FFFFFF"/>
                </a:solidFill>
              </a:rPr>
              <a:t>Source + Severity</a:t>
            </a:r>
            <a:endParaRPr lang="en-US" sz="850" dirty="0"/>
          </a:p>
        </p:txBody>
      </p:sp>
      <p:sp>
        <p:nvSpPr>
          <p:cNvPr id="39" name="Text 36"/>
          <p:cNvSpPr/>
          <p:nvPr/>
        </p:nvSpPr>
        <p:spPr>
          <a:xfrm>
            <a:off x="7178040" y="2331720"/>
            <a:ext cx="1828800" cy="201168"/>
          </a:xfrm>
          <a:prstGeom prst="rect">
            <a:avLst/>
          </a:prstGeom>
          <a:noFill/>
          <a:ln/>
        </p:spPr>
        <p:txBody>
          <a:bodyPr wrap="square" rtlCol="0" anchor="ctr"/>
          <a:lstStyle/>
          <a:p>
            <a:pPr marL="0" indent="0">
              <a:buNone/>
            </a:pPr>
            <a:r>
              <a:rPr lang="en-US" sz="700" dirty="0">
                <a:solidFill>
                  <a:srgbClr val="94A3B8"/>
                </a:solidFill>
              </a:rPr>
              <a:t>Color-coded badges per card</a:t>
            </a:r>
            <a:endParaRPr lang="en-US" sz="700" dirty="0"/>
          </a:p>
        </p:txBody>
      </p:sp>
      <p:sp>
        <p:nvSpPr>
          <p:cNvPr id="40" name="Shape 37"/>
          <p:cNvSpPr/>
          <p:nvPr/>
        </p:nvSpPr>
        <p:spPr>
          <a:xfrm>
            <a:off x="6876288" y="2633472"/>
            <a:ext cx="237744" cy="237744"/>
          </a:xfrm>
          <a:prstGeom prst="ellipse">
            <a:avLst/>
          </a:prstGeom>
          <a:solidFill>
            <a:srgbClr val="F59E0B"/>
          </a:solidFill>
          <a:ln w="12700">
            <a:solidFill>
              <a:srgbClr val="1E3A5F"/>
            </a:solidFill>
            <a:prstDash val="solid"/>
          </a:ln>
        </p:spPr>
        <p:txBody>
          <a:bodyPr/>
          <a:lstStyle/>
          <a:p>
            <a:endParaRPr lang="en-US"/>
          </a:p>
        </p:txBody>
      </p:sp>
      <p:sp>
        <p:nvSpPr>
          <p:cNvPr id="41" name="Text 38"/>
          <p:cNvSpPr/>
          <p:nvPr/>
        </p:nvSpPr>
        <p:spPr>
          <a:xfrm>
            <a:off x="6876288" y="2633472"/>
            <a:ext cx="237744" cy="237744"/>
          </a:xfrm>
          <a:prstGeom prst="rect">
            <a:avLst/>
          </a:prstGeom>
          <a:noFill/>
          <a:ln/>
        </p:spPr>
        <p:txBody>
          <a:bodyPr wrap="square" rtlCol="0" anchor="ctr"/>
          <a:lstStyle/>
          <a:p>
            <a:pPr marL="0" indent="0" algn="ctr">
              <a:buNone/>
            </a:pPr>
            <a:r>
              <a:rPr lang="en-US" sz="800" b="1" dirty="0">
                <a:solidFill>
                  <a:srgbClr val="0F172A"/>
                </a:solidFill>
              </a:rPr>
              <a:t>5</a:t>
            </a:r>
            <a:endParaRPr lang="en-US" sz="800" dirty="0"/>
          </a:p>
        </p:txBody>
      </p:sp>
      <p:sp>
        <p:nvSpPr>
          <p:cNvPr id="42" name="Text 39"/>
          <p:cNvSpPr/>
          <p:nvPr/>
        </p:nvSpPr>
        <p:spPr>
          <a:xfrm>
            <a:off x="7178040" y="2624328"/>
            <a:ext cx="1828800" cy="201168"/>
          </a:xfrm>
          <a:prstGeom prst="rect">
            <a:avLst/>
          </a:prstGeom>
          <a:noFill/>
          <a:ln/>
        </p:spPr>
        <p:txBody>
          <a:bodyPr wrap="square" rtlCol="0" anchor="ctr"/>
          <a:lstStyle/>
          <a:p>
            <a:pPr marL="0" indent="0">
              <a:buNone/>
            </a:pPr>
            <a:r>
              <a:rPr lang="en-US" sz="850" b="1" dirty="0">
                <a:solidFill>
                  <a:srgbClr val="FFFFFF"/>
                </a:solidFill>
              </a:rPr>
              <a:t>Status Badge</a:t>
            </a:r>
            <a:endParaRPr lang="en-US" sz="850" dirty="0"/>
          </a:p>
        </p:txBody>
      </p:sp>
      <p:sp>
        <p:nvSpPr>
          <p:cNvPr id="43" name="Text 40"/>
          <p:cNvSpPr/>
          <p:nvPr/>
        </p:nvSpPr>
        <p:spPr>
          <a:xfrm>
            <a:off x="7178040" y="2825496"/>
            <a:ext cx="1828800" cy="201168"/>
          </a:xfrm>
          <a:prstGeom prst="rect">
            <a:avLst/>
          </a:prstGeom>
          <a:noFill/>
          <a:ln/>
        </p:spPr>
        <p:txBody>
          <a:bodyPr wrap="square" rtlCol="0" anchor="ctr"/>
          <a:lstStyle/>
          <a:p>
            <a:pPr marL="0" indent="0">
              <a:buNone/>
            </a:pPr>
            <a:r>
              <a:rPr lang="en-US" sz="700" dirty="0">
                <a:solidFill>
                  <a:srgbClr val="94A3B8"/>
                </a:solidFill>
              </a:rPr>
              <a:t>Escalated / In Progress / Resolved</a:t>
            </a:r>
            <a:endParaRPr lang="en-US" sz="700" dirty="0"/>
          </a:p>
        </p:txBody>
      </p:sp>
      <p:sp>
        <p:nvSpPr>
          <p:cNvPr id="44" name="Shape 41"/>
          <p:cNvSpPr/>
          <p:nvPr/>
        </p:nvSpPr>
        <p:spPr>
          <a:xfrm>
            <a:off x="6876288" y="3127248"/>
            <a:ext cx="237744" cy="237744"/>
          </a:xfrm>
          <a:prstGeom prst="ellipse">
            <a:avLst/>
          </a:prstGeom>
          <a:solidFill>
            <a:srgbClr val="F59E0B"/>
          </a:solidFill>
          <a:ln w="12700">
            <a:solidFill>
              <a:srgbClr val="1E3A5F"/>
            </a:solidFill>
            <a:prstDash val="solid"/>
          </a:ln>
        </p:spPr>
        <p:txBody>
          <a:bodyPr/>
          <a:lstStyle/>
          <a:p>
            <a:endParaRPr lang="en-US"/>
          </a:p>
        </p:txBody>
      </p:sp>
      <p:sp>
        <p:nvSpPr>
          <p:cNvPr id="45" name="Text 42"/>
          <p:cNvSpPr/>
          <p:nvPr/>
        </p:nvSpPr>
        <p:spPr>
          <a:xfrm>
            <a:off x="6876288" y="3127248"/>
            <a:ext cx="237744" cy="237744"/>
          </a:xfrm>
          <a:prstGeom prst="rect">
            <a:avLst/>
          </a:prstGeom>
          <a:noFill/>
          <a:ln/>
        </p:spPr>
        <p:txBody>
          <a:bodyPr wrap="square" rtlCol="0" anchor="ctr"/>
          <a:lstStyle/>
          <a:p>
            <a:pPr marL="0" indent="0" algn="ctr">
              <a:buNone/>
            </a:pPr>
            <a:r>
              <a:rPr lang="en-US" sz="800" b="1" dirty="0">
                <a:solidFill>
                  <a:srgbClr val="0F172A"/>
                </a:solidFill>
              </a:rPr>
              <a:t>6</a:t>
            </a:r>
            <a:endParaRPr lang="en-US" sz="800" dirty="0"/>
          </a:p>
        </p:txBody>
      </p:sp>
      <p:sp>
        <p:nvSpPr>
          <p:cNvPr id="46" name="Text 43"/>
          <p:cNvSpPr/>
          <p:nvPr/>
        </p:nvSpPr>
        <p:spPr>
          <a:xfrm>
            <a:off x="7178040" y="3118104"/>
            <a:ext cx="1828800" cy="201168"/>
          </a:xfrm>
          <a:prstGeom prst="rect">
            <a:avLst/>
          </a:prstGeom>
          <a:noFill/>
          <a:ln/>
        </p:spPr>
        <p:txBody>
          <a:bodyPr wrap="square" rtlCol="0" anchor="ctr"/>
          <a:lstStyle/>
          <a:p>
            <a:pPr marL="0" indent="0">
              <a:buNone/>
            </a:pPr>
            <a:r>
              <a:rPr lang="en-US" sz="850" b="1" dirty="0">
                <a:solidFill>
                  <a:srgbClr val="FFFFFF"/>
                </a:solidFill>
              </a:rPr>
              <a:t>Tags + Ticket</a:t>
            </a:r>
            <a:endParaRPr lang="en-US" sz="850" dirty="0"/>
          </a:p>
        </p:txBody>
      </p:sp>
      <p:sp>
        <p:nvSpPr>
          <p:cNvPr id="47" name="Text 44"/>
          <p:cNvSpPr/>
          <p:nvPr/>
        </p:nvSpPr>
        <p:spPr>
          <a:xfrm>
            <a:off x="7178040" y="3319272"/>
            <a:ext cx="1828800" cy="201168"/>
          </a:xfrm>
          <a:prstGeom prst="rect">
            <a:avLst/>
          </a:prstGeom>
          <a:noFill/>
          <a:ln/>
        </p:spPr>
        <p:txBody>
          <a:bodyPr wrap="square" rtlCol="0" anchor="ctr"/>
          <a:lstStyle/>
          <a:p>
            <a:pPr marL="0" indent="0">
              <a:buNone/>
            </a:pPr>
            <a:r>
              <a:rPr lang="en-US" sz="700" dirty="0">
                <a:solidFill>
                  <a:srgbClr val="94A3B8"/>
                </a:solidFill>
              </a:rPr>
              <a:t>#tags and linked SNOW/PD tickets</a:t>
            </a:r>
            <a:endParaRPr lang="en-US" sz="700" dirty="0"/>
          </a:p>
        </p:txBody>
      </p:sp>
      <p:sp>
        <p:nvSpPr>
          <p:cNvPr id="48" name="Shape 45"/>
          <p:cNvSpPr/>
          <p:nvPr/>
        </p:nvSpPr>
        <p:spPr>
          <a:xfrm>
            <a:off x="6876288" y="3621024"/>
            <a:ext cx="237744" cy="237744"/>
          </a:xfrm>
          <a:prstGeom prst="ellipse">
            <a:avLst/>
          </a:prstGeom>
          <a:solidFill>
            <a:srgbClr val="F59E0B"/>
          </a:solidFill>
          <a:ln w="12700">
            <a:solidFill>
              <a:srgbClr val="1E3A5F"/>
            </a:solidFill>
            <a:prstDash val="solid"/>
          </a:ln>
        </p:spPr>
        <p:txBody>
          <a:bodyPr/>
          <a:lstStyle/>
          <a:p>
            <a:endParaRPr lang="en-US"/>
          </a:p>
        </p:txBody>
      </p:sp>
      <p:sp>
        <p:nvSpPr>
          <p:cNvPr id="49" name="Text 46"/>
          <p:cNvSpPr/>
          <p:nvPr/>
        </p:nvSpPr>
        <p:spPr>
          <a:xfrm>
            <a:off x="6876288" y="3621024"/>
            <a:ext cx="237744" cy="237744"/>
          </a:xfrm>
          <a:prstGeom prst="rect">
            <a:avLst/>
          </a:prstGeom>
          <a:noFill/>
          <a:ln/>
        </p:spPr>
        <p:txBody>
          <a:bodyPr wrap="square" rtlCol="0" anchor="ctr"/>
          <a:lstStyle/>
          <a:p>
            <a:pPr marL="0" indent="0" algn="ctr">
              <a:buNone/>
            </a:pPr>
            <a:r>
              <a:rPr lang="en-US" sz="800" b="1" dirty="0">
                <a:solidFill>
                  <a:srgbClr val="0F172A"/>
                </a:solidFill>
              </a:rPr>
              <a:t>7</a:t>
            </a:r>
            <a:endParaRPr lang="en-US" sz="800" dirty="0"/>
          </a:p>
        </p:txBody>
      </p:sp>
      <p:sp>
        <p:nvSpPr>
          <p:cNvPr id="50" name="Text 47"/>
          <p:cNvSpPr/>
          <p:nvPr/>
        </p:nvSpPr>
        <p:spPr>
          <a:xfrm>
            <a:off x="7178040" y="3611880"/>
            <a:ext cx="1828800" cy="201168"/>
          </a:xfrm>
          <a:prstGeom prst="rect">
            <a:avLst/>
          </a:prstGeom>
          <a:noFill/>
          <a:ln/>
        </p:spPr>
        <p:txBody>
          <a:bodyPr wrap="square" rtlCol="0" anchor="ctr"/>
          <a:lstStyle/>
          <a:p>
            <a:pPr marL="0" indent="0">
              <a:buNone/>
            </a:pPr>
            <a:r>
              <a:rPr lang="en-US" sz="850" b="1" dirty="0">
                <a:solidFill>
                  <a:srgbClr val="FFFFFF"/>
                </a:solidFill>
              </a:rPr>
              <a:t>P2 Card</a:t>
            </a:r>
            <a:endParaRPr lang="en-US" sz="850" dirty="0"/>
          </a:p>
        </p:txBody>
      </p:sp>
      <p:sp>
        <p:nvSpPr>
          <p:cNvPr id="51" name="Text 48"/>
          <p:cNvSpPr/>
          <p:nvPr/>
        </p:nvSpPr>
        <p:spPr>
          <a:xfrm>
            <a:off x="7178040" y="3813048"/>
            <a:ext cx="1828800" cy="201168"/>
          </a:xfrm>
          <a:prstGeom prst="rect">
            <a:avLst/>
          </a:prstGeom>
          <a:noFill/>
          <a:ln/>
        </p:spPr>
        <p:txBody>
          <a:bodyPr wrap="square" rtlCol="0" anchor="ctr"/>
          <a:lstStyle/>
          <a:p>
            <a:pPr marL="0" indent="0">
              <a:buNone/>
            </a:pPr>
            <a:r>
              <a:rPr lang="en-US" sz="700" dirty="0">
                <a:solidFill>
                  <a:srgbClr val="94A3B8"/>
                </a:solidFill>
              </a:rPr>
              <a:t>Amber — warning level incidents</a:t>
            </a:r>
            <a:endParaRPr lang="en-US" sz="700" dirty="0"/>
          </a:p>
        </p:txBody>
      </p:sp>
      <p:sp>
        <p:nvSpPr>
          <p:cNvPr id="52" name="Shape 49"/>
          <p:cNvSpPr/>
          <p:nvPr/>
        </p:nvSpPr>
        <p:spPr>
          <a:xfrm>
            <a:off x="6876288" y="4114800"/>
            <a:ext cx="237744" cy="237744"/>
          </a:xfrm>
          <a:prstGeom prst="ellipse">
            <a:avLst/>
          </a:prstGeom>
          <a:solidFill>
            <a:srgbClr val="F59E0B"/>
          </a:solidFill>
          <a:ln w="12700">
            <a:solidFill>
              <a:srgbClr val="1E3A5F"/>
            </a:solidFill>
            <a:prstDash val="solid"/>
          </a:ln>
        </p:spPr>
        <p:txBody>
          <a:bodyPr/>
          <a:lstStyle/>
          <a:p>
            <a:endParaRPr lang="en-US"/>
          </a:p>
        </p:txBody>
      </p:sp>
      <p:sp>
        <p:nvSpPr>
          <p:cNvPr id="53" name="Text 50"/>
          <p:cNvSpPr/>
          <p:nvPr/>
        </p:nvSpPr>
        <p:spPr>
          <a:xfrm>
            <a:off x="6876288" y="4114800"/>
            <a:ext cx="237744" cy="237744"/>
          </a:xfrm>
          <a:prstGeom prst="rect">
            <a:avLst/>
          </a:prstGeom>
          <a:noFill/>
          <a:ln/>
        </p:spPr>
        <p:txBody>
          <a:bodyPr wrap="square" rtlCol="0" anchor="ctr"/>
          <a:lstStyle/>
          <a:p>
            <a:pPr marL="0" indent="0" algn="ctr">
              <a:buNone/>
            </a:pPr>
            <a:r>
              <a:rPr lang="en-US" sz="800" b="1" dirty="0">
                <a:solidFill>
                  <a:srgbClr val="0F172A"/>
                </a:solidFill>
              </a:rPr>
              <a:t>8</a:t>
            </a:r>
            <a:endParaRPr lang="en-US" sz="800" dirty="0"/>
          </a:p>
        </p:txBody>
      </p:sp>
      <p:sp>
        <p:nvSpPr>
          <p:cNvPr id="54" name="Text 51"/>
          <p:cNvSpPr/>
          <p:nvPr/>
        </p:nvSpPr>
        <p:spPr>
          <a:xfrm>
            <a:off x="7178040" y="4105656"/>
            <a:ext cx="1828800" cy="201168"/>
          </a:xfrm>
          <a:prstGeom prst="rect">
            <a:avLst/>
          </a:prstGeom>
          <a:noFill/>
          <a:ln/>
        </p:spPr>
        <p:txBody>
          <a:bodyPr wrap="square" rtlCol="0" anchor="ctr"/>
          <a:lstStyle/>
          <a:p>
            <a:pPr marL="0" indent="0">
              <a:buNone/>
            </a:pPr>
            <a:r>
              <a:rPr lang="en-US" sz="850" b="1" dirty="0">
                <a:solidFill>
                  <a:srgbClr val="FFFFFF"/>
                </a:solidFill>
              </a:rPr>
              <a:t>P3 Card</a:t>
            </a:r>
            <a:endParaRPr lang="en-US" sz="850" dirty="0"/>
          </a:p>
        </p:txBody>
      </p:sp>
      <p:sp>
        <p:nvSpPr>
          <p:cNvPr id="55" name="Text 52"/>
          <p:cNvSpPr/>
          <p:nvPr/>
        </p:nvSpPr>
        <p:spPr>
          <a:xfrm>
            <a:off x="7178040" y="4306824"/>
            <a:ext cx="1828800" cy="201168"/>
          </a:xfrm>
          <a:prstGeom prst="rect">
            <a:avLst/>
          </a:prstGeom>
          <a:noFill/>
          <a:ln/>
        </p:spPr>
        <p:txBody>
          <a:bodyPr wrap="square" rtlCol="0" anchor="ctr"/>
          <a:lstStyle/>
          <a:p>
            <a:pPr marL="0" indent="0">
              <a:buNone/>
            </a:pPr>
            <a:r>
              <a:rPr lang="en-US" sz="700" dirty="0">
                <a:solidFill>
                  <a:srgbClr val="94A3B8"/>
                </a:solidFill>
              </a:rPr>
              <a:t>Lower priority, still tracked</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64008"/>
            <a:ext cx="6400800" cy="310896"/>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Shift Hub</a:t>
            </a:r>
            <a:endParaRPr lang="en-US" sz="1800" dirty="0"/>
          </a:p>
        </p:txBody>
      </p:sp>
      <p:sp>
        <p:nvSpPr>
          <p:cNvPr id="4" name="Text 2"/>
          <p:cNvSpPr/>
          <p:nvPr/>
        </p:nvSpPr>
        <p:spPr>
          <a:xfrm>
            <a:off x="274320" y="365760"/>
            <a:ext cx="6400800" cy="182880"/>
          </a:xfrm>
          <a:prstGeom prst="rect">
            <a:avLst/>
          </a:prstGeom>
          <a:noFill/>
          <a:ln/>
        </p:spPr>
        <p:txBody>
          <a:bodyPr wrap="square" rtlCol="0" anchor="ctr"/>
          <a:lstStyle/>
          <a:p>
            <a:pPr marL="0" indent="0">
              <a:buNone/>
            </a:pPr>
            <a:r>
              <a:rPr lang="en-US" sz="900" dirty="0">
                <a:solidFill>
                  <a:srgbClr val="94A3B8"/>
                </a:solidFill>
              </a:rPr>
              <a:t>Shift cycle timeline, live team submissions, individual logs and KT progress per member</a:t>
            </a:r>
            <a:endParaRPr lang="en-US" sz="900" dirty="0"/>
          </a:p>
        </p:txBody>
      </p:sp>
      <p:pic>
        <p:nvPicPr>
          <p:cNvPr id="5" name="Image 0" descr="/sessions/dazzling-bold-euler/mnt/shiftbuddy/screenshots/screencapture-shiftbuddy-brahmateja-dashboard-handovers-2026-05-28-07_29_09.png"/>
          <p:cNvPicPr>
            <a:picLocks noChangeAspect="1"/>
          </p:cNvPicPr>
          <p:nvPr/>
        </p:nvPicPr>
        <p:blipFill>
          <a:blip r:embed="rId3"/>
          <a:stretch>
            <a:fillRect/>
          </a:stretch>
        </p:blipFill>
        <p:spPr>
          <a:xfrm>
            <a:off x="137160" y="621792"/>
            <a:ext cx="6420503" cy="4407408"/>
          </a:xfrm>
          <a:prstGeom prst="rect">
            <a:avLst/>
          </a:prstGeom>
        </p:spPr>
      </p:pic>
      <p:sp>
        <p:nvSpPr>
          <p:cNvPr id="6" name="Shape 3"/>
          <p:cNvSpPr/>
          <p:nvPr/>
        </p:nvSpPr>
        <p:spPr>
          <a:xfrm>
            <a:off x="137160" y="621792"/>
            <a:ext cx="6420503" cy="4407408"/>
          </a:xfrm>
          <a:prstGeom prst="rect">
            <a:avLst/>
          </a:prstGeom>
          <a:ln w="6350">
            <a:solidFill>
              <a:srgbClr val="E2E8F0"/>
            </a:solidFill>
            <a:prstDash val="solid"/>
          </a:ln>
        </p:spPr>
        <p:txBody>
          <a:bodyPr/>
          <a:lstStyle/>
          <a:p>
            <a:endParaRPr lang="en-US"/>
          </a:p>
        </p:txBody>
      </p:sp>
      <p:sp>
        <p:nvSpPr>
          <p:cNvPr id="7" name="Shape 4"/>
          <p:cNvSpPr/>
          <p:nvPr/>
        </p:nvSpPr>
        <p:spPr>
          <a:xfrm>
            <a:off x="962016" y="733259"/>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8" name="Text 5"/>
          <p:cNvSpPr/>
          <p:nvPr/>
        </p:nvSpPr>
        <p:spPr>
          <a:xfrm>
            <a:off x="962016" y="733259"/>
            <a:ext cx="274320" cy="274320"/>
          </a:xfrm>
          <a:prstGeom prst="rect">
            <a:avLst/>
          </a:prstGeom>
          <a:noFill/>
          <a:ln/>
        </p:spPr>
        <p:txBody>
          <a:bodyPr wrap="square" rtlCol="0" anchor="ctr"/>
          <a:lstStyle/>
          <a:p>
            <a:pPr marL="0" indent="0" algn="ctr">
              <a:buNone/>
            </a:pPr>
            <a:r>
              <a:rPr lang="en-US" sz="1000" b="1" dirty="0">
                <a:solidFill>
                  <a:srgbClr val="0F172A"/>
                </a:solidFill>
              </a:rPr>
              <a:t>1</a:t>
            </a:r>
            <a:endParaRPr lang="en-US" sz="1000" dirty="0"/>
          </a:p>
        </p:txBody>
      </p:sp>
      <p:sp>
        <p:nvSpPr>
          <p:cNvPr id="9" name="Shape 6"/>
          <p:cNvSpPr/>
          <p:nvPr/>
        </p:nvSpPr>
        <p:spPr>
          <a:xfrm>
            <a:off x="5420699" y="733259"/>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0" name="Text 7"/>
          <p:cNvSpPr/>
          <p:nvPr/>
        </p:nvSpPr>
        <p:spPr>
          <a:xfrm>
            <a:off x="5420699" y="733259"/>
            <a:ext cx="274320" cy="274320"/>
          </a:xfrm>
          <a:prstGeom prst="rect">
            <a:avLst/>
          </a:prstGeom>
          <a:noFill/>
          <a:ln/>
        </p:spPr>
        <p:txBody>
          <a:bodyPr wrap="square" rtlCol="0" anchor="ctr"/>
          <a:lstStyle/>
          <a:p>
            <a:pPr marL="0" indent="0" algn="ctr">
              <a:buNone/>
            </a:pPr>
            <a:r>
              <a:rPr lang="en-US" sz="1000" b="1" dirty="0">
                <a:solidFill>
                  <a:srgbClr val="0F172A"/>
                </a:solidFill>
              </a:rPr>
              <a:t>2</a:t>
            </a:r>
            <a:endParaRPr lang="en-US" sz="1000" dirty="0"/>
          </a:p>
        </p:txBody>
      </p:sp>
      <p:sp>
        <p:nvSpPr>
          <p:cNvPr id="11" name="Shape 8"/>
          <p:cNvSpPr/>
          <p:nvPr/>
        </p:nvSpPr>
        <p:spPr>
          <a:xfrm>
            <a:off x="962016" y="933900"/>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2" name="Text 9"/>
          <p:cNvSpPr/>
          <p:nvPr/>
        </p:nvSpPr>
        <p:spPr>
          <a:xfrm>
            <a:off x="962016" y="933900"/>
            <a:ext cx="274320" cy="274320"/>
          </a:xfrm>
          <a:prstGeom prst="rect">
            <a:avLst/>
          </a:prstGeom>
          <a:noFill/>
          <a:ln/>
        </p:spPr>
        <p:txBody>
          <a:bodyPr wrap="square" rtlCol="0" anchor="ctr"/>
          <a:lstStyle/>
          <a:p>
            <a:pPr marL="0" indent="0" algn="ctr">
              <a:buNone/>
            </a:pPr>
            <a:r>
              <a:rPr lang="en-US" sz="1000" b="1" dirty="0">
                <a:solidFill>
                  <a:srgbClr val="0F172A"/>
                </a:solidFill>
              </a:rPr>
              <a:t>3</a:t>
            </a:r>
            <a:endParaRPr lang="en-US" sz="1000" dirty="0"/>
          </a:p>
        </p:txBody>
      </p:sp>
      <p:sp>
        <p:nvSpPr>
          <p:cNvPr id="13" name="Shape 10"/>
          <p:cNvSpPr/>
          <p:nvPr/>
        </p:nvSpPr>
        <p:spPr>
          <a:xfrm>
            <a:off x="1920633" y="933900"/>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4" name="Text 11"/>
          <p:cNvSpPr/>
          <p:nvPr/>
        </p:nvSpPr>
        <p:spPr>
          <a:xfrm>
            <a:off x="1920633" y="933900"/>
            <a:ext cx="274320" cy="274320"/>
          </a:xfrm>
          <a:prstGeom prst="rect">
            <a:avLst/>
          </a:prstGeom>
          <a:noFill/>
          <a:ln/>
        </p:spPr>
        <p:txBody>
          <a:bodyPr wrap="square" rtlCol="0" anchor="ctr"/>
          <a:lstStyle/>
          <a:p>
            <a:pPr marL="0" indent="0" algn="ctr">
              <a:buNone/>
            </a:pPr>
            <a:r>
              <a:rPr lang="en-US" sz="1000" b="1" dirty="0">
                <a:solidFill>
                  <a:srgbClr val="0F172A"/>
                </a:solidFill>
              </a:rPr>
              <a:t>4</a:t>
            </a:r>
            <a:endParaRPr lang="en-US" sz="1000" dirty="0"/>
          </a:p>
        </p:txBody>
      </p:sp>
      <p:sp>
        <p:nvSpPr>
          <p:cNvPr id="15" name="Shape 12"/>
          <p:cNvSpPr/>
          <p:nvPr/>
        </p:nvSpPr>
        <p:spPr>
          <a:xfrm>
            <a:off x="4038507" y="933900"/>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6" name="Text 13"/>
          <p:cNvSpPr/>
          <p:nvPr/>
        </p:nvSpPr>
        <p:spPr>
          <a:xfrm>
            <a:off x="4038507" y="933900"/>
            <a:ext cx="274320" cy="274320"/>
          </a:xfrm>
          <a:prstGeom prst="rect">
            <a:avLst/>
          </a:prstGeom>
          <a:noFill/>
          <a:ln/>
        </p:spPr>
        <p:txBody>
          <a:bodyPr wrap="square" rtlCol="0" anchor="ctr"/>
          <a:lstStyle/>
          <a:p>
            <a:pPr marL="0" indent="0" algn="ctr">
              <a:buNone/>
            </a:pPr>
            <a:r>
              <a:rPr lang="en-US" sz="1000" b="1" dirty="0">
                <a:solidFill>
                  <a:srgbClr val="0F172A"/>
                </a:solidFill>
              </a:rPr>
              <a:t>5</a:t>
            </a:r>
            <a:endParaRPr lang="en-US" sz="1000" dirty="0"/>
          </a:p>
        </p:txBody>
      </p:sp>
      <p:sp>
        <p:nvSpPr>
          <p:cNvPr id="17" name="Shape 14"/>
          <p:cNvSpPr/>
          <p:nvPr/>
        </p:nvSpPr>
        <p:spPr>
          <a:xfrm>
            <a:off x="962016" y="1312888"/>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8" name="Text 15"/>
          <p:cNvSpPr/>
          <p:nvPr/>
        </p:nvSpPr>
        <p:spPr>
          <a:xfrm>
            <a:off x="962016" y="1312888"/>
            <a:ext cx="274320" cy="274320"/>
          </a:xfrm>
          <a:prstGeom prst="rect">
            <a:avLst/>
          </a:prstGeom>
          <a:noFill/>
          <a:ln/>
        </p:spPr>
        <p:txBody>
          <a:bodyPr wrap="square" rtlCol="0" anchor="ctr"/>
          <a:lstStyle/>
          <a:p>
            <a:pPr marL="0" indent="0" algn="ctr">
              <a:buNone/>
            </a:pPr>
            <a:r>
              <a:rPr lang="en-US" sz="1000" b="1" dirty="0">
                <a:solidFill>
                  <a:srgbClr val="0F172A"/>
                </a:solidFill>
              </a:rPr>
              <a:t>6</a:t>
            </a:r>
            <a:endParaRPr lang="en-US" sz="1000" dirty="0"/>
          </a:p>
        </p:txBody>
      </p:sp>
      <p:sp>
        <p:nvSpPr>
          <p:cNvPr id="19" name="Shape 16"/>
          <p:cNvSpPr/>
          <p:nvPr/>
        </p:nvSpPr>
        <p:spPr>
          <a:xfrm>
            <a:off x="1140364" y="1691876"/>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0" name="Text 17"/>
          <p:cNvSpPr/>
          <p:nvPr/>
        </p:nvSpPr>
        <p:spPr>
          <a:xfrm>
            <a:off x="1140364" y="1691876"/>
            <a:ext cx="274320" cy="274320"/>
          </a:xfrm>
          <a:prstGeom prst="rect">
            <a:avLst/>
          </a:prstGeom>
          <a:noFill/>
          <a:ln/>
        </p:spPr>
        <p:txBody>
          <a:bodyPr wrap="square" rtlCol="0" anchor="ctr"/>
          <a:lstStyle/>
          <a:p>
            <a:pPr marL="0" indent="0" algn="ctr">
              <a:buNone/>
            </a:pPr>
            <a:r>
              <a:rPr lang="en-US" sz="1000" b="1" dirty="0">
                <a:solidFill>
                  <a:srgbClr val="0F172A"/>
                </a:solidFill>
              </a:rPr>
              <a:t>7</a:t>
            </a:r>
            <a:endParaRPr lang="en-US" sz="1000" dirty="0"/>
          </a:p>
        </p:txBody>
      </p:sp>
      <p:sp>
        <p:nvSpPr>
          <p:cNvPr id="21" name="Shape 18"/>
          <p:cNvSpPr/>
          <p:nvPr/>
        </p:nvSpPr>
        <p:spPr>
          <a:xfrm>
            <a:off x="1140364" y="2405265"/>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2" name="Text 19"/>
          <p:cNvSpPr/>
          <p:nvPr/>
        </p:nvSpPr>
        <p:spPr>
          <a:xfrm>
            <a:off x="1140364" y="2405265"/>
            <a:ext cx="274320" cy="274320"/>
          </a:xfrm>
          <a:prstGeom prst="rect">
            <a:avLst/>
          </a:prstGeom>
          <a:noFill/>
          <a:ln/>
        </p:spPr>
        <p:txBody>
          <a:bodyPr wrap="square" rtlCol="0" anchor="ctr"/>
          <a:lstStyle/>
          <a:p>
            <a:pPr marL="0" indent="0" algn="ctr">
              <a:buNone/>
            </a:pPr>
            <a:r>
              <a:rPr lang="en-US" sz="1000" b="1" dirty="0">
                <a:solidFill>
                  <a:srgbClr val="0F172A"/>
                </a:solidFill>
              </a:rPr>
              <a:t>8</a:t>
            </a:r>
            <a:endParaRPr lang="en-US" sz="1000" dirty="0"/>
          </a:p>
        </p:txBody>
      </p:sp>
      <p:sp>
        <p:nvSpPr>
          <p:cNvPr id="23" name="Shape 20"/>
          <p:cNvSpPr/>
          <p:nvPr/>
        </p:nvSpPr>
        <p:spPr>
          <a:xfrm>
            <a:off x="6830568" y="576072"/>
            <a:ext cx="2267712" cy="4133088"/>
          </a:xfrm>
          <a:prstGeom prst="roundRect">
            <a:avLst/>
          </a:prstGeom>
          <a:solidFill>
            <a:srgbClr val="1E3A5F"/>
          </a:solidFill>
          <a:ln w="12700">
            <a:solidFill>
              <a:srgbClr val="1E3A5F"/>
            </a:solidFill>
            <a:prstDash val="solid"/>
          </a:ln>
        </p:spPr>
        <p:txBody>
          <a:bodyPr/>
          <a:lstStyle/>
          <a:p>
            <a:endParaRPr lang="en-US"/>
          </a:p>
        </p:txBody>
      </p:sp>
      <p:sp>
        <p:nvSpPr>
          <p:cNvPr id="24" name="Shape 21"/>
          <p:cNvSpPr/>
          <p:nvPr/>
        </p:nvSpPr>
        <p:spPr>
          <a:xfrm>
            <a:off x="6876288" y="658368"/>
            <a:ext cx="237744" cy="237744"/>
          </a:xfrm>
          <a:prstGeom prst="ellipse">
            <a:avLst/>
          </a:prstGeom>
          <a:solidFill>
            <a:srgbClr val="F59E0B"/>
          </a:solidFill>
          <a:ln w="12700">
            <a:solidFill>
              <a:srgbClr val="1E3A5F"/>
            </a:solidFill>
            <a:prstDash val="solid"/>
          </a:ln>
        </p:spPr>
        <p:txBody>
          <a:bodyPr/>
          <a:lstStyle/>
          <a:p>
            <a:endParaRPr lang="en-US"/>
          </a:p>
        </p:txBody>
      </p:sp>
      <p:sp>
        <p:nvSpPr>
          <p:cNvPr id="25" name="Text 22"/>
          <p:cNvSpPr/>
          <p:nvPr/>
        </p:nvSpPr>
        <p:spPr>
          <a:xfrm>
            <a:off x="6876288" y="658368"/>
            <a:ext cx="237744" cy="237744"/>
          </a:xfrm>
          <a:prstGeom prst="rect">
            <a:avLst/>
          </a:prstGeom>
          <a:noFill/>
          <a:ln/>
        </p:spPr>
        <p:txBody>
          <a:bodyPr wrap="square" rtlCol="0" anchor="ctr"/>
          <a:lstStyle/>
          <a:p>
            <a:pPr marL="0" indent="0" algn="ctr">
              <a:buNone/>
            </a:pPr>
            <a:r>
              <a:rPr lang="en-US" sz="800" b="1" dirty="0">
                <a:solidFill>
                  <a:srgbClr val="0F172A"/>
                </a:solidFill>
              </a:rPr>
              <a:t>1</a:t>
            </a:r>
            <a:endParaRPr lang="en-US" sz="800" dirty="0"/>
          </a:p>
        </p:txBody>
      </p:sp>
      <p:sp>
        <p:nvSpPr>
          <p:cNvPr id="26" name="Text 23"/>
          <p:cNvSpPr/>
          <p:nvPr/>
        </p:nvSpPr>
        <p:spPr>
          <a:xfrm>
            <a:off x="7178040" y="649224"/>
            <a:ext cx="1828800" cy="201168"/>
          </a:xfrm>
          <a:prstGeom prst="rect">
            <a:avLst/>
          </a:prstGeom>
          <a:noFill/>
          <a:ln/>
        </p:spPr>
        <p:txBody>
          <a:bodyPr wrap="square" rtlCol="0" anchor="ctr"/>
          <a:lstStyle/>
          <a:p>
            <a:pPr marL="0" indent="0">
              <a:buNone/>
            </a:pPr>
            <a:r>
              <a:rPr lang="en-US" sz="850" b="1" dirty="0">
                <a:solidFill>
                  <a:srgbClr val="FFFFFF"/>
                </a:solidFill>
              </a:rPr>
              <a:t>Tab Bar</a:t>
            </a:r>
            <a:endParaRPr lang="en-US" sz="850" dirty="0"/>
          </a:p>
        </p:txBody>
      </p:sp>
      <p:sp>
        <p:nvSpPr>
          <p:cNvPr id="27" name="Text 24"/>
          <p:cNvSpPr/>
          <p:nvPr/>
        </p:nvSpPr>
        <p:spPr>
          <a:xfrm>
            <a:off x="7178040" y="850392"/>
            <a:ext cx="1828800" cy="201168"/>
          </a:xfrm>
          <a:prstGeom prst="rect">
            <a:avLst/>
          </a:prstGeom>
          <a:noFill/>
          <a:ln/>
        </p:spPr>
        <p:txBody>
          <a:bodyPr wrap="square" rtlCol="0" anchor="ctr"/>
          <a:lstStyle/>
          <a:p>
            <a:pPr marL="0" indent="0">
              <a:buNone/>
            </a:pPr>
            <a:r>
              <a:rPr lang="en-US" sz="700" dirty="0">
                <a:solidFill>
                  <a:srgbClr val="94A3B8"/>
                </a:solidFill>
              </a:rPr>
              <a:t>Handovers vs Live Shifts toggle</a:t>
            </a:r>
            <a:endParaRPr lang="en-US" sz="700" dirty="0"/>
          </a:p>
        </p:txBody>
      </p:sp>
      <p:sp>
        <p:nvSpPr>
          <p:cNvPr id="28" name="Shape 25"/>
          <p:cNvSpPr/>
          <p:nvPr/>
        </p:nvSpPr>
        <p:spPr>
          <a:xfrm>
            <a:off x="6876288" y="1152144"/>
            <a:ext cx="237744" cy="237744"/>
          </a:xfrm>
          <a:prstGeom prst="ellipse">
            <a:avLst/>
          </a:prstGeom>
          <a:solidFill>
            <a:srgbClr val="F59E0B"/>
          </a:solidFill>
          <a:ln w="12700">
            <a:solidFill>
              <a:srgbClr val="1E3A5F"/>
            </a:solidFill>
            <a:prstDash val="solid"/>
          </a:ln>
        </p:spPr>
        <p:txBody>
          <a:bodyPr/>
          <a:lstStyle/>
          <a:p>
            <a:endParaRPr lang="en-US"/>
          </a:p>
        </p:txBody>
      </p:sp>
      <p:sp>
        <p:nvSpPr>
          <p:cNvPr id="29" name="Text 26"/>
          <p:cNvSpPr/>
          <p:nvPr/>
        </p:nvSpPr>
        <p:spPr>
          <a:xfrm>
            <a:off x="6876288" y="1152144"/>
            <a:ext cx="237744" cy="237744"/>
          </a:xfrm>
          <a:prstGeom prst="rect">
            <a:avLst/>
          </a:prstGeom>
          <a:noFill/>
          <a:ln/>
        </p:spPr>
        <p:txBody>
          <a:bodyPr wrap="square" rtlCol="0" anchor="ctr"/>
          <a:lstStyle/>
          <a:p>
            <a:pPr marL="0" indent="0" algn="ctr">
              <a:buNone/>
            </a:pPr>
            <a:r>
              <a:rPr lang="en-US" sz="800" b="1" dirty="0">
                <a:solidFill>
                  <a:srgbClr val="0F172A"/>
                </a:solidFill>
              </a:rPr>
              <a:t>2</a:t>
            </a:r>
            <a:endParaRPr lang="en-US" sz="800" dirty="0"/>
          </a:p>
        </p:txBody>
      </p:sp>
      <p:sp>
        <p:nvSpPr>
          <p:cNvPr id="30" name="Text 27"/>
          <p:cNvSpPr/>
          <p:nvPr/>
        </p:nvSpPr>
        <p:spPr>
          <a:xfrm>
            <a:off x="7178040" y="1143000"/>
            <a:ext cx="1828800" cy="201168"/>
          </a:xfrm>
          <a:prstGeom prst="rect">
            <a:avLst/>
          </a:prstGeom>
          <a:noFill/>
          <a:ln/>
        </p:spPr>
        <p:txBody>
          <a:bodyPr wrap="square" rtlCol="0" anchor="ctr"/>
          <a:lstStyle/>
          <a:p>
            <a:pPr marL="0" indent="0">
              <a:buNone/>
            </a:pPr>
            <a:r>
              <a:rPr lang="en-US" sz="850" b="1" dirty="0">
                <a:solidFill>
                  <a:srgbClr val="FFFFFF"/>
                </a:solidFill>
              </a:rPr>
              <a:t>Compile Handover</a:t>
            </a:r>
            <a:endParaRPr lang="en-US" sz="850" dirty="0"/>
          </a:p>
        </p:txBody>
      </p:sp>
      <p:sp>
        <p:nvSpPr>
          <p:cNvPr id="31" name="Text 28"/>
          <p:cNvSpPr/>
          <p:nvPr/>
        </p:nvSpPr>
        <p:spPr>
          <a:xfrm>
            <a:off x="7178040" y="1344168"/>
            <a:ext cx="1828800" cy="201168"/>
          </a:xfrm>
          <a:prstGeom prst="rect">
            <a:avLst/>
          </a:prstGeom>
          <a:noFill/>
          <a:ln/>
        </p:spPr>
        <p:txBody>
          <a:bodyPr wrap="square" rtlCol="0" anchor="ctr"/>
          <a:lstStyle/>
          <a:p>
            <a:pPr marL="0" indent="0">
              <a:buNone/>
            </a:pPr>
            <a:r>
              <a:rPr lang="en-US" sz="700" dirty="0">
                <a:solidFill>
                  <a:srgbClr val="94A3B8"/>
                </a:solidFill>
              </a:rPr>
              <a:t>Lead compiles the outgoing handover</a:t>
            </a:r>
            <a:endParaRPr lang="en-US" sz="700" dirty="0"/>
          </a:p>
        </p:txBody>
      </p:sp>
      <p:sp>
        <p:nvSpPr>
          <p:cNvPr id="32" name="Shape 29"/>
          <p:cNvSpPr/>
          <p:nvPr/>
        </p:nvSpPr>
        <p:spPr>
          <a:xfrm>
            <a:off x="6876288" y="1645920"/>
            <a:ext cx="237744" cy="237744"/>
          </a:xfrm>
          <a:prstGeom prst="ellipse">
            <a:avLst/>
          </a:prstGeom>
          <a:solidFill>
            <a:srgbClr val="F59E0B"/>
          </a:solidFill>
          <a:ln w="12700">
            <a:solidFill>
              <a:srgbClr val="1E3A5F"/>
            </a:solidFill>
            <a:prstDash val="solid"/>
          </a:ln>
        </p:spPr>
        <p:txBody>
          <a:bodyPr/>
          <a:lstStyle/>
          <a:p>
            <a:endParaRPr lang="en-US"/>
          </a:p>
        </p:txBody>
      </p:sp>
      <p:sp>
        <p:nvSpPr>
          <p:cNvPr id="33" name="Text 30"/>
          <p:cNvSpPr/>
          <p:nvPr/>
        </p:nvSpPr>
        <p:spPr>
          <a:xfrm>
            <a:off x="6876288" y="1645920"/>
            <a:ext cx="237744" cy="237744"/>
          </a:xfrm>
          <a:prstGeom prst="rect">
            <a:avLst/>
          </a:prstGeom>
          <a:noFill/>
          <a:ln/>
        </p:spPr>
        <p:txBody>
          <a:bodyPr wrap="square" rtlCol="0" anchor="ctr"/>
          <a:lstStyle/>
          <a:p>
            <a:pPr marL="0" indent="0" algn="ctr">
              <a:buNone/>
            </a:pPr>
            <a:r>
              <a:rPr lang="en-US" sz="800" b="1" dirty="0">
                <a:solidFill>
                  <a:srgbClr val="0F172A"/>
                </a:solidFill>
              </a:rPr>
              <a:t>3</a:t>
            </a:r>
            <a:endParaRPr lang="en-US" sz="800" dirty="0"/>
          </a:p>
        </p:txBody>
      </p:sp>
      <p:sp>
        <p:nvSpPr>
          <p:cNvPr id="34" name="Text 31"/>
          <p:cNvSpPr/>
          <p:nvPr/>
        </p:nvSpPr>
        <p:spPr>
          <a:xfrm>
            <a:off x="7178040" y="1636776"/>
            <a:ext cx="1828800" cy="201168"/>
          </a:xfrm>
          <a:prstGeom prst="rect">
            <a:avLst/>
          </a:prstGeom>
          <a:noFill/>
          <a:ln/>
        </p:spPr>
        <p:txBody>
          <a:bodyPr wrap="square" rtlCol="0" anchor="ctr"/>
          <a:lstStyle/>
          <a:p>
            <a:pPr marL="0" indent="0">
              <a:buNone/>
            </a:pPr>
            <a:r>
              <a:rPr lang="en-US" sz="850" b="1" dirty="0">
                <a:solidFill>
                  <a:srgbClr val="FFFFFF"/>
                </a:solidFill>
              </a:rPr>
              <a:t>Shift Cycle</a:t>
            </a:r>
            <a:endParaRPr lang="en-US" sz="850" dirty="0"/>
          </a:p>
        </p:txBody>
      </p:sp>
      <p:sp>
        <p:nvSpPr>
          <p:cNvPr id="35" name="Text 32"/>
          <p:cNvSpPr/>
          <p:nvPr/>
        </p:nvSpPr>
        <p:spPr>
          <a:xfrm>
            <a:off x="7178040" y="1837944"/>
            <a:ext cx="1828800" cy="201168"/>
          </a:xfrm>
          <a:prstGeom prst="rect">
            <a:avLst/>
          </a:prstGeom>
          <a:noFill/>
          <a:ln/>
        </p:spPr>
        <p:txBody>
          <a:bodyPr wrap="square" rtlCol="0" anchor="ctr"/>
          <a:lstStyle/>
          <a:p>
            <a:pPr marL="0" indent="0">
              <a:buNone/>
            </a:pPr>
            <a:r>
              <a:rPr lang="en-US" sz="700" dirty="0">
                <a:solidFill>
                  <a:srgbClr val="94A3B8"/>
                </a:solidFill>
              </a:rPr>
              <a:t>S3→S1, S1→S2, S2→S3 timeline</a:t>
            </a:r>
            <a:endParaRPr lang="en-US" sz="700" dirty="0"/>
          </a:p>
        </p:txBody>
      </p:sp>
      <p:sp>
        <p:nvSpPr>
          <p:cNvPr id="36" name="Shape 33"/>
          <p:cNvSpPr/>
          <p:nvPr/>
        </p:nvSpPr>
        <p:spPr>
          <a:xfrm>
            <a:off x="6876288" y="2139696"/>
            <a:ext cx="237744" cy="237744"/>
          </a:xfrm>
          <a:prstGeom prst="ellipse">
            <a:avLst/>
          </a:prstGeom>
          <a:solidFill>
            <a:srgbClr val="F59E0B"/>
          </a:solidFill>
          <a:ln w="12700">
            <a:solidFill>
              <a:srgbClr val="1E3A5F"/>
            </a:solidFill>
            <a:prstDash val="solid"/>
          </a:ln>
        </p:spPr>
        <p:txBody>
          <a:bodyPr/>
          <a:lstStyle/>
          <a:p>
            <a:endParaRPr lang="en-US"/>
          </a:p>
        </p:txBody>
      </p:sp>
      <p:sp>
        <p:nvSpPr>
          <p:cNvPr id="37" name="Text 34"/>
          <p:cNvSpPr/>
          <p:nvPr/>
        </p:nvSpPr>
        <p:spPr>
          <a:xfrm>
            <a:off x="6876288" y="2139696"/>
            <a:ext cx="237744" cy="237744"/>
          </a:xfrm>
          <a:prstGeom prst="rect">
            <a:avLst/>
          </a:prstGeom>
          <a:noFill/>
          <a:ln/>
        </p:spPr>
        <p:txBody>
          <a:bodyPr wrap="square" rtlCol="0" anchor="ctr"/>
          <a:lstStyle/>
          <a:p>
            <a:pPr marL="0" indent="0" algn="ctr">
              <a:buNone/>
            </a:pPr>
            <a:r>
              <a:rPr lang="en-US" sz="800" b="1" dirty="0">
                <a:solidFill>
                  <a:srgbClr val="0F172A"/>
                </a:solidFill>
              </a:rPr>
              <a:t>4</a:t>
            </a:r>
            <a:endParaRPr lang="en-US" sz="800" dirty="0"/>
          </a:p>
        </p:txBody>
      </p:sp>
      <p:sp>
        <p:nvSpPr>
          <p:cNvPr id="38" name="Text 35"/>
          <p:cNvSpPr/>
          <p:nvPr/>
        </p:nvSpPr>
        <p:spPr>
          <a:xfrm>
            <a:off x="7178040" y="2130552"/>
            <a:ext cx="1828800" cy="201168"/>
          </a:xfrm>
          <a:prstGeom prst="rect">
            <a:avLst/>
          </a:prstGeom>
          <a:noFill/>
          <a:ln/>
        </p:spPr>
        <p:txBody>
          <a:bodyPr wrap="square" rtlCol="0" anchor="ctr"/>
          <a:lstStyle/>
          <a:p>
            <a:pPr marL="0" indent="0">
              <a:buNone/>
            </a:pPr>
            <a:r>
              <a:rPr lang="en-US" sz="850" b="1" dirty="0">
                <a:solidFill>
                  <a:srgbClr val="FFFFFF"/>
                </a:solidFill>
              </a:rPr>
              <a:t>Completed Node</a:t>
            </a:r>
            <a:endParaRPr lang="en-US" sz="850" dirty="0"/>
          </a:p>
        </p:txBody>
      </p:sp>
      <p:sp>
        <p:nvSpPr>
          <p:cNvPr id="39" name="Text 36"/>
          <p:cNvSpPr/>
          <p:nvPr/>
        </p:nvSpPr>
        <p:spPr>
          <a:xfrm>
            <a:off x="7178040" y="2331720"/>
            <a:ext cx="1828800" cy="201168"/>
          </a:xfrm>
          <a:prstGeom prst="rect">
            <a:avLst/>
          </a:prstGeom>
          <a:noFill/>
          <a:ln/>
        </p:spPr>
        <p:txBody>
          <a:bodyPr wrap="square" rtlCol="0" anchor="ctr"/>
          <a:lstStyle/>
          <a:p>
            <a:pPr marL="0" indent="0">
              <a:buNone/>
            </a:pPr>
            <a:r>
              <a:rPr lang="en-US" sz="700" dirty="0">
                <a:solidFill>
                  <a:srgbClr val="94A3B8"/>
                </a:solidFill>
              </a:rPr>
              <a:t>Green check = handover submitted + acked</a:t>
            </a:r>
            <a:endParaRPr lang="en-US" sz="700" dirty="0"/>
          </a:p>
        </p:txBody>
      </p:sp>
      <p:sp>
        <p:nvSpPr>
          <p:cNvPr id="40" name="Shape 37"/>
          <p:cNvSpPr/>
          <p:nvPr/>
        </p:nvSpPr>
        <p:spPr>
          <a:xfrm>
            <a:off x="6876288" y="2633472"/>
            <a:ext cx="237744" cy="237744"/>
          </a:xfrm>
          <a:prstGeom prst="ellipse">
            <a:avLst/>
          </a:prstGeom>
          <a:solidFill>
            <a:srgbClr val="F59E0B"/>
          </a:solidFill>
          <a:ln w="12700">
            <a:solidFill>
              <a:srgbClr val="1E3A5F"/>
            </a:solidFill>
            <a:prstDash val="solid"/>
          </a:ln>
        </p:spPr>
        <p:txBody>
          <a:bodyPr/>
          <a:lstStyle/>
          <a:p>
            <a:endParaRPr lang="en-US"/>
          </a:p>
        </p:txBody>
      </p:sp>
      <p:sp>
        <p:nvSpPr>
          <p:cNvPr id="41" name="Text 38"/>
          <p:cNvSpPr/>
          <p:nvPr/>
        </p:nvSpPr>
        <p:spPr>
          <a:xfrm>
            <a:off x="6876288" y="2633472"/>
            <a:ext cx="237744" cy="237744"/>
          </a:xfrm>
          <a:prstGeom prst="rect">
            <a:avLst/>
          </a:prstGeom>
          <a:noFill/>
          <a:ln/>
        </p:spPr>
        <p:txBody>
          <a:bodyPr wrap="square" rtlCol="0" anchor="ctr"/>
          <a:lstStyle/>
          <a:p>
            <a:pPr marL="0" indent="0" algn="ctr">
              <a:buNone/>
            </a:pPr>
            <a:r>
              <a:rPr lang="en-US" sz="800" b="1" dirty="0">
                <a:solidFill>
                  <a:srgbClr val="0F172A"/>
                </a:solidFill>
              </a:rPr>
              <a:t>5</a:t>
            </a:r>
            <a:endParaRPr lang="en-US" sz="800" dirty="0"/>
          </a:p>
        </p:txBody>
      </p:sp>
      <p:sp>
        <p:nvSpPr>
          <p:cNvPr id="42" name="Text 39"/>
          <p:cNvSpPr/>
          <p:nvPr/>
        </p:nvSpPr>
        <p:spPr>
          <a:xfrm>
            <a:off x="7178040" y="2624328"/>
            <a:ext cx="1828800" cy="201168"/>
          </a:xfrm>
          <a:prstGeom prst="rect">
            <a:avLst/>
          </a:prstGeom>
          <a:noFill/>
          <a:ln/>
        </p:spPr>
        <p:txBody>
          <a:bodyPr wrap="square" rtlCol="0" anchor="ctr"/>
          <a:lstStyle/>
          <a:p>
            <a:pPr marL="0" indent="0">
              <a:buNone/>
            </a:pPr>
            <a:r>
              <a:rPr lang="en-US" sz="850" b="1" dirty="0">
                <a:solidFill>
                  <a:srgbClr val="FFFFFF"/>
                </a:solidFill>
              </a:rPr>
              <a:t>Upcoming Node</a:t>
            </a:r>
            <a:endParaRPr lang="en-US" sz="850" dirty="0"/>
          </a:p>
        </p:txBody>
      </p:sp>
      <p:sp>
        <p:nvSpPr>
          <p:cNvPr id="43" name="Text 40"/>
          <p:cNvSpPr/>
          <p:nvPr/>
        </p:nvSpPr>
        <p:spPr>
          <a:xfrm>
            <a:off x="7178040" y="2825496"/>
            <a:ext cx="1828800" cy="201168"/>
          </a:xfrm>
          <a:prstGeom prst="rect">
            <a:avLst/>
          </a:prstGeom>
          <a:noFill/>
          <a:ln/>
        </p:spPr>
        <p:txBody>
          <a:bodyPr wrap="square" rtlCol="0" anchor="ctr"/>
          <a:lstStyle/>
          <a:p>
            <a:pPr marL="0" indent="0">
              <a:buNone/>
            </a:pPr>
            <a:r>
              <a:rPr lang="en-US" sz="700" dirty="0">
                <a:solidFill>
                  <a:srgbClr val="94A3B8"/>
                </a:solidFill>
              </a:rPr>
              <a:t>Countdown to next shift cutoff</a:t>
            </a:r>
            <a:endParaRPr lang="en-US" sz="700" dirty="0"/>
          </a:p>
        </p:txBody>
      </p:sp>
      <p:sp>
        <p:nvSpPr>
          <p:cNvPr id="44" name="Shape 41"/>
          <p:cNvSpPr/>
          <p:nvPr/>
        </p:nvSpPr>
        <p:spPr>
          <a:xfrm>
            <a:off x="6876288" y="3127248"/>
            <a:ext cx="237744" cy="237744"/>
          </a:xfrm>
          <a:prstGeom prst="ellipse">
            <a:avLst/>
          </a:prstGeom>
          <a:solidFill>
            <a:srgbClr val="F59E0B"/>
          </a:solidFill>
          <a:ln w="12700">
            <a:solidFill>
              <a:srgbClr val="1E3A5F"/>
            </a:solidFill>
            <a:prstDash val="solid"/>
          </a:ln>
        </p:spPr>
        <p:txBody>
          <a:bodyPr/>
          <a:lstStyle/>
          <a:p>
            <a:endParaRPr lang="en-US"/>
          </a:p>
        </p:txBody>
      </p:sp>
      <p:sp>
        <p:nvSpPr>
          <p:cNvPr id="45" name="Text 42"/>
          <p:cNvSpPr/>
          <p:nvPr/>
        </p:nvSpPr>
        <p:spPr>
          <a:xfrm>
            <a:off x="6876288" y="3127248"/>
            <a:ext cx="237744" cy="237744"/>
          </a:xfrm>
          <a:prstGeom prst="rect">
            <a:avLst/>
          </a:prstGeom>
          <a:noFill/>
          <a:ln/>
        </p:spPr>
        <p:txBody>
          <a:bodyPr wrap="square" rtlCol="0" anchor="ctr"/>
          <a:lstStyle/>
          <a:p>
            <a:pPr marL="0" indent="0" algn="ctr">
              <a:buNone/>
            </a:pPr>
            <a:r>
              <a:rPr lang="en-US" sz="800" b="1" dirty="0">
                <a:solidFill>
                  <a:srgbClr val="0F172A"/>
                </a:solidFill>
              </a:rPr>
              <a:t>6</a:t>
            </a:r>
            <a:endParaRPr lang="en-US" sz="800" dirty="0"/>
          </a:p>
        </p:txBody>
      </p:sp>
      <p:sp>
        <p:nvSpPr>
          <p:cNvPr id="46" name="Text 43"/>
          <p:cNvSpPr/>
          <p:nvPr/>
        </p:nvSpPr>
        <p:spPr>
          <a:xfrm>
            <a:off x="7178040" y="3118104"/>
            <a:ext cx="1828800" cy="201168"/>
          </a:xfrm>
          <a:prstGeom prst="rect">
            <a:avLst/>
          </a:prstGeom>
          <a:noFill/>
          <a:ln/>
        </p:spPr>
        <p:txBody>
          <a:bodyPr wrap="square" rtlCol="0" anchor="ctr"/>
          <a:lstStyle/>
          <a:p>
            <a:pPr marL="0" indent="0">
              <a:buNone/>
            </a:pPr>
            <a:r>
              <a:rPr lang="en-US" sz="850" b="1" dirty="0">
                <a:solidFill>
                  <a:srgbClr val="FFFFFF"/>
                </a:solidFill>
              </a:rPr>
              <a:t>Live Shifts Stats</a:t>
            </a:r>
            <a:endParaRPr lang="en-US" sz="850" dirty="0"/>
          </a:p>
        </p:txBody>
      </p:sp>
      <p:sp>
        <p:nvSpPr>
          <p:cNvPr id="47" name="Text 44"/>
          <p:cNvSpPr/>
          <p:nvPr/>
        </p:nvSpPr>
        <p:spPr>
          <a:xfrm>
            <a:off x="7178040" y="3319272"/>
            <a:ext cx="1828800" cy="201168"/>
          </a:xfrm>
          <a:prstGeom prst="rect">
            <a:avLst/>
          </a:prstGeom>
          <a:noFill/>
          <a:ln/>
        </p:spPr>
        <p:txBody>
          <a:bodyPr wrap="square" rtlCol="0" anchor="ctr"/>
          <a:lstStyle/>
          <a:p>
            <a:pPr marL="0" indent="0">
              <a:buNone/>
            </a:pPr>
            <a:r>
              <a:rPr lang="en-US" sz="700" dirty="0">
                <a:solidFill>
                  <a:srgbClr val="94A3B8"/>
                </a:solidFill>
              </a:rPr>
              <a:t>On Shift, Active, Starting Soon</a:t>
            </a:r>
            <a:endParaRPr lang="en-US" sz="700" dirty="0"/>
          </a:p>
        </p:txBody>
      </p:sp>
      <p:sp>
        <p:nvSpPr>
          <p:cNvPr id="48" name="Shape 45"/>
          <p:cNvSpPr/>
          <p:nvPr/>
        </p:nvSpPr>
        <p:spPr>
          <a:xfrm>
            <a:off x="6876288" y="3621024"/>
            <a:ext cx="237744" cy="237744"/>
          </a:xfrm>
          <a:prstGeom prst="ellipse">
            <a:avLst/>
          </a:prstGeom>
          <a:solidFill>
            <a:srgbClr val="F59E0B"/>
          </a:solidFill>
          <a:ln w="12700">
            <a:solidFill>
              <a:srgbClr val="1E3A5F"/>
            </a:solidFill>
            <a:prstDash val="solid"/>
          </a:ln>
        </p:spPr>
        <p:txBody>
          <a:bodyPr/>
          <a:lstStyle/>
          <a:p>
            <a:endParaRPr lang="en-US"/>
          </a:p>
        </p:txBody>
      </p:sp>
      <p:sp>
        <p:nvSpPr>
          <p:cNvPr id="49" name="Text 46"/>
          <p:cNvSpPr/>
          <p:nvPr/>
        </p:nvSpPr>
        <p:spPr>
          <a:xfrm>
            <a:off x="6876288" y="3621024"/>
            <a:ext cx="237744" cy="237744"/>
          </a:xfrm>
          <a:prstGeom prst="rect">
            <a:avLst/>
          </a:prstGeom>
          <a:noFill/>
          <a:ln/>
        </p:spPr>
        <p:txBody>
          <a:bodyPr wrap="square" rtlCol="0" anchor="ctr"/>
          <a:lstStyle/>
          <a:p>
            <a:pPr marL="0" indent="0" algn="ctr">
              <a:buNone/>
            </a:pPr>
            <a:r>
              <a:rPr lang="en-US" sz="800" b="1" dirty="0">
                <a:solidFill>
                  <a:srgbClr val="0F172A"/>
                </a:solidFill>
              </a:rPr>
              <a:t>7</a:t>
            </a:r>
            <a:endParaRPr lang="en-US" sz="800" dirty="0"/>
          </a:p>
        </p:txBody>
      </p:sp>
      <p:sp>
        <p:nvSpPr>
          <p:cNvPr id="50" name="Text 47"/>
          <p:cNvSpPr/>
          <p:nvPr/>
        </p:nvSpPr>
        <p:spPr>
          <a:xfrm>
            <a:off x="7178040" y="3611880"/>
            <a:ext cx="1828800" cy="201168"/>
          </a:xfrm>
          <a:prstGeom prst="rect">
            <a:avLst/>
          </a:prstGeom>
          <a:noFill/>
          <a:ln/>
        </p:spPr>
        <p:txBody>
          <a:bodyPr wrap="square" rtlCol="0" anchor="ctr"/>
          <a:lstStyle/>
          <a:p>
            <a:pPr marL="0" indent="0">
              <a:buNone/>
            </a:pPr>
            <a:r>
              <a:rPr lang="en-US" sz="850" b="1" dirty="0">
                <a:solidFill>
                  <a:srgbClr val="FFFFFF"/>
                </a:solidFill>
              </a:rPr>
              <a:t>Member Cards</a:t>
            </a:r>
            <a:endParaRPr lang="en-US" sz="850" dirty="0"/>
          </a:p>
        </p:txBody>
      </p:sp>
      <p:sp>
        <p:nvSpPr>
          <p:cNvPr id="51" name="Text 48"/>
          <p:cNvSpPr/>
          <p:nvPr/>
        </p:nvSpPr>
        <p:spPr>
          <a:xfrm>
            <a:off x="7178040" y="3813048"/>
            <a:ext cx="1828800" cy="201168"/>
          </a:xfrm>
          <a:prstGeom prst="rect">
            <a:avLst/>
          </a:prstGeom>
          <a:noFill/>
          <a:ln/>
        </p:spPr>
        <p:txBody>
          <a:bodyPr wrap="square" rtlCol="0" anchor="ctr"/>
          <a:lstStyle/>
          <a:p>
            <a:pPr marL="0" indent="0">
              <a:buNone/>
            </a:pPr>
            <a:r>
              <a:rPr lang="en-US" sz="700" dirty="0">
                <a:solidFill>
                  <a:srgbClr val="94A3B8"/>
                </a:solidFill>
              </a:rPr>
              <a:t>Logs, Open items, KT % per person</a:t>
            </a:r>
            <a:endParaRPr lang="en-US" sz="700" dirty="0"/>
          </a:p>
        </p:txBody>
      </p:sp>
      <p:sp>
        <p:nvSpPr>
          <p:cNvPr id="52" name="Shape 49"/>
          <p:cNvSpPr/>
          <p:nvPr/>
        </p:nvSpPr>
        <p:spPr>
          <a:xfrm>
            <a:off x="6876288" y="4114800"/>
            <a:ext cx="237744" cy="237744"/>
          </a:xfrm>
          <a:prstGeom prst="ellipse">
            <a:avLst/>
          </a:prstGeom>
          <a:solidFill>
            <a:srgbClr val="F59E0B"/>
          </a:solidFill>
          <a:ln w="12700">
            <a:solidFill>
              <a:srgbClr val="1E3A5F"/>
            </a:solidFill>
            <a:prstDash val="solid"/>
          </a:ln>
        </p:spPr>
        <p:txBody>
          <a:bodyPr/>
          <a:lstStyle/>
          <a:p>
            <a:endParaRPr lang="en-US"/>
          </a:p>
        </p:txBody>
      </p:sp>
      <p:sp>
        <p:nvSpPr>
          <p:cNvPr id="53" name="Text 50"/>
          <p:cNvSpPr/>
          <p:nvPr/>
        </p:nvSpPr>
        <p:spPr>
          <a:xfrm>
            <a:off x="6876288" y="4114800"/>
            <a:ext cx="237744" cy="237744"/>
          </a:xfrm>
          <a:prstGeom prst="rect">
            <a:avLst/>
          </a:prstGeom>
          <a:noFill/>
          <a:ln/>
        </p:spPr>
        <p:txBody>
          <a:bodyPr wrap="square" rtlCol="0" anchor="ctr"/>
          <a:lstStyle/>
          <a:p>
            <a:pPr marL="0" indent="0" algn="ctr">
              <a:buNone/>
            </a:pPr>
            <a:r>
              <a:rPr lang="en-US" sz="800" b="1" dirty="0">
                <a:solidFill>
                  <a:srgbClr val="0F172A"/>
                </a:solidFill>
              </a:rPr>
              <a:t>8</a:t>
            </a:r>
            <a:endParaRPr lang="en-US" sz="800" dirty="0"/>
          </a:p>
        </p:txBody>
      </p:sp>
      <p:sp>
        <p:nvSpPr>
          <p:cNvPr id="54" name="Text 51"/>
          <p:cNvSpPr/>
          <p:nvPr/>
        </p:nvSpPr>
        <p:spPr>
          <a:xfrm>
            <a:off x="7178040" y="4105656"/>
            <a:ext cx="1828800" cy="201168"/>
          </a:xfrm>
          <a:prstGeom prst="rect">
            <a:avLst/>
          </a:prstGeom>
          <a:noFill/>
          <a:ln/>
        </p:spPr>
        <p:txBody>
          <a:bodyPr wrap="square" rtlCol="0" anchor="ctr"/>
          <a:lstStyle/>
          <a:p>
            <a:pPr marL="0" indent="0">
              <a:buNone/>
            </a:pPr>
            <a:r>
              <a:rPr lang="en-US" sz="850" b="1" dirty="0">
                <a:solidFill>
                  <a:srgbClr val="FFFFFF"/>
                </a:solidFill>
              </a:rPr>
              <a:t>KT Progress</a:t>
            </a:r>
            <a:endParaRPr lang="en-US" sz="850" dirty="0"/>
          </a:p>
        </p:txBody>
      </p:sp>
      <p:sp>
        <p:nvSpPr>
          <p:cNvPr id="55" name="Text 52"/>
          <p:cNvSpPr/>
          <p:nvPr/>
        </p:nvSpPr>
        <p:spPr>
          <a:xfrm>
            <a:off x="7178040" y="4306824"/>
            <a:ext cx="1828800" cy="201168"/>
          </a:xfrm>
          <a:prstGeom prst="rect">
            <a:avLst/>
          </a:prstGeom>
          <a:noFill/>
          <a:ln/>
        </p:spPr>
        <p:txBody>
          <a:bodyPr wrap="square" rtlCol="0" anchor="ctr"/>
          <a:lstStyle/>
          <a:p>
            <a:pPr marL="0" indent="0">
              <a:buNone/>
            </a:pPr>
            <a:r>
              <a:rPr lang="en-US" sz="700" dirty="0">
                <a:solidFill>
                  <a:srgbClr val="94A3B8"/>
                </a:solidFill>
              </a:rPr>
              <a:t>Knowledge Transfer completion bar</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64008"/>
            <a:ext cx="6400800" cy="310896"/>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Analytics</a:t>
            </a:r>
            <a:endParaRPr lang="en-US" sz="1800" dirty="0"/>
          </a:p>
        </p:txBody>
      </p:sp>
      <p:sp>
        <p:nvSpPr>
          <p:cNvPr id="4" name="Text 2"/>
          <p:cNvSpPr/>
          <p:nvPr/>
        </p:nvSpPr>
        <p:spPr>
          <a:xfrm>
            <a:off x="274320" y="365760"/>
            <a:ext cx="6400800" cy="182880"/>
          </a:xfrm>
          <a:prstGeom prst="rect">
            <a:avLst/>
          </a:prstGeom>
          <a:noFill/>
          <a:ln/>
        </p:spPr>
        <p:txBody>
          <a:bodyPr wrap="square" rtlCol="0" anchor="ctr"/>
          <a:lstStyle/>
          <a:p>
            <a:pPr marL="0" indent="0">
              <a:buNone/>
            </a:pPr>
            <a:r>
              <a:rPr lang="en-US" sz="900" dirty="0">
                <a:solidFill>
                  <a:srgbClr val="94A3B8"/>
                </a:solidFill>
              </a:rPr>
              <a:t>Period-based KPIs: SLA, resolution rate, P1/P2 counts, handover ack %, project breakdown</a:t>
            </a:r>
            <a:endParaRPr lang="en-US" sz="900" dirty="0"/>
          </a:p>
        </p:txBody>
      </p:sp>
      <p:pic>
        <p:nvPicPr>
          <p:cNvPr id="5" name="Image 0" descr="/sessions/dazzling-bold-euler/mnt/shiftbuddy/screenshots/screencapture-shiftbuddy-brahmateja-dashboard-analytics-2026-05-28-07_29_25.png"/>
          <p:cNvPicPr>
            <a:picLocks noChangeAspect="1"/>
          </p:cNvPicPr>
          <p:nvPr/>
        </p:nvPicPr>
        <p:blipFill>
          <a:blip r:embed="rId3"/>
          <a:stretch>
            <a:fillRect/>
          </a:stretch>
        </p:blipFill>
        <p:spPr>
          <a:xfrm>
            <a:off x="137160" y="621792"/>
            <a:ext cx="6010102" cy="4407408"/>
          </a:xfrm>
          <a:prstGeom prst="rect">
            <a:avLst/>
          </a:prstGeom>
        </p:spPr>
      </p:pic>
      <p:sp>
        <p:nvSpPr>
          <p:cNvPr id="6" name="Shape 3"/>
          <p:cNvSpPr/>
          <p:nvPr/>
        </p:nvSpPr>
        <p:spPr>
          <a:xfrm>
            <a:off x="137160" y="621792"/>
            <a:ext cx="6010102" cy="4407408"/>
          </a:xfrm>
          <a:prstGeom prst="rect">
            <a:avLst/>
          </a:prstGeom>
          <a:ln w="6350">
            <a:solidFill>
              <a:srgbClr val="E2E8F0"/>
            </a:solidFill>
            <a:prstDash val="solid"/>
          </a:ln>
        </p:spPr>
        <p:txBody>
          <a:bodyPr/>
          <a:lstStyle/>
          <a:p>
            <a:endParaRPr lang="en-US"/>
          </a:p>
        </p:txBody>
      </p:sp>
      <p:sp>
        <p:nvSpPr>
          <p:cNvPr id="7" name="Shape 4"/>
          <p:cNvSpPr/>
          <p:nvPr/>
        </p:nvSpPr>
        <p:spPr>
          <a:xfrm>
            <a:off x="909291" y="788739"/>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8" name="Text 5"/>
          <p:cNvSpPr/>
          <p:nvPr/>
        </p:nvSpPr>
        <p:spPr>
          <a:xfrm>
            <a:off x="909291" y="788739"/>
            <a:ext cx="274320" cy="274320"/>
          </a:xfrm>
          <a:prstGeom prst="rect">
            <a:avLst/>
          </a:prstGeom>
          <a:noFill/>
          <a:ln/>
        </p:spPr>
        <p:txBody>
          <a:bodyPr wrap="square" rtlCol="0" anchor="ctr"/>
          <a:lstStyle/>
          <a:p>
            <a:pPr marL="0" indent="0" algn="ctr">
              <a:buNone/>
            </a:pPr>
            <a:r>
              <a:rPr lang="en-US" sz="1000" b="1" dirty="0">
                <a:solidFill>
                  <a:srgbClr val="0F172A"/>
                </a:solidFill>
              </a:rPr>
              <a:t>1</a:t>
            </a:r>
            <a:endParaRPr lang="en-US" sz="1000" dirty="0"/>
          </a:p>
        </p:txBody>
      </p:sp>
      <p:sp>
        <p:nvSpPr>
          <p:cNvPr id="9" name="Shape 6"/>
          <p:cNvSpPr/>
          <p:nvPr/>
        </p:nvSpPr>
        <p:spPr>
          <a:xfrm>
            <a:off x="3580447" y="788739"/>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0" name="Text 7"/>
          <p:cNvSpPr/>
          <p:nvPr/>
        </p:nvSpPr>
        <p:spPr>
          <a:xfrm>
            <a:off x="3580447" y="788739"/>
            <a:ext cx="274320" cy="274320"/>
          </a:xfrm>
          <a:prstGeom prst="rect">
            <a:avLst/>
          </a:prstGeom>
          <a:noFill/>
          <a:ln/>
        </p:spPr>
        <p:txBody>
          <a:bodyPr wrap="square" rtlCol="0" anchor="ctr"/>
          <a:lstStyle/>
          <a:p>
            <a:pPr marL="0" indent="0" algn="ctr">
              <a:buNone/>
            </a:pPr>
            <a:r>
              <a:rPr lang="en-US" sz="1000" b="1" dirty="0">
                <a:solidFill>
                  <a:srgbClr val="0F172A"/>
                </a:solidFill>
              </a:rPr>
              <a:t>2</a:t>
            </a:r>
            <a:endParaRPr lang="en-US" sz="1000" dirty="0"/>
          </a:p>
        </p:txBody>
      </p:sp>
      <p:sp>
        <p:nvSpPr>
          <p:cNvPr id="11" name="Shape 8"/>
          <p:cNvSpPr/>
          <p:nvPr/>
        </p:nvSpPr>
        <p:spPr>
          <a:xfrm>
            <a:off x="5521210" y="788739"/>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2" name="Text 9"/>
          <p:cNvSpPr/>
          <p:nvPr/>
        </p:nvSpPr>
        <p:spPr>
          <a:xfrm>
            <a:off x="5521210" y="788739"/>
            <a:ext cx="274320" cy="274320"/>
          </a:xfrm>
          <a:prstGeom prst="rect">
            <a:avLst/>
          </a:prstGeom>
          <a:noFill/>
          <a:ln/>
        </p:spPr>
        <p:txBody>
          <a:bodyPr wrap="square" rtlCol="0" anchor="ctr"/>
          <a:lstStyle/>
          <a:p>
            <a:pPr marL="0" indent="0" algn="ctr">
              <a:buNone/>
            </a:pPr>
            <a:r>
              <a:rPr lang="en-US" sz="1000" b="1" dirty="0">
                <a:solidFill>
                  <a:srgbClr val="0F172A"/>
                </a:solidFill>
              </a:rPr>
              <a:t>3</a:t>
            </a:r>
            <a:endParaRPr lang="en-US" sz="1000" dirty="0"/>
          </a:p>
        </p:txBody>
      </p:sp>
      <p:sp>
        <p:nvSpPr>
          <p:cNvPr id="13" name="Shape 10"/>
          <p:cNvSpPr/>
          <p:nvPr/>
        </p:nvSpPr>
        <p:spPr>
          <a:xfrm>
            <a:off x="909291" y="1039160"/>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4" name="Text 11"/>
          <p:cNvSpPr/>
          <p:nvPr/>
        </p:nvSpPr>
        <p:spPr>
          <a:xfrm>
            <a:off x="909291" y="1039160"/>
            <a:ext cx="274320" cy="274320"/>
          </a:xfrm>
          <a:prstGeom prst="rect">
            <a:avLst/>
          </a:prstGeom>
          <a:noFill/>
          <a:ln/>
        </p:spPr>
        <p:txBody>
          <a:bodyPr wrap="square" rtlCol="0" anchor="ctr"/>
          <a:lstStyle/>
          <a:p>
            <a:pPr marL="0" indent="0" algn="ctr">
              <a:buNone/>
            </a:pPr>
            <a:r>
              <a:rPr lang="en-US" sz="1000" b="1" dirty="0">
                <a:solidFill>
                  <a:srgbClr val="0F172A"/>
                </a:solidFill>
              </a:rPr>
              <a:t>4</a:t>
            </a:r>
            <a:endParaRPr lang="en-US" sz="1000" dirty="0"/>
          </a:p>
        </p:txBody>
      </p:sp>
      <p:sp>
        <p:nvSpPr>
          <p:cNvPr id="15" name="Shape 12"/>
          <p:cNvSpPr/>
          <p:nvPr/>
        </p:nvSpPr>
        <p:spPr>
          <a:xfrm>
            <a:off x="909291" y="1393923"/>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6" name="Text 13"/>
          <p:cNvSpPr/>
          <p:nvPr/>
        </p:nvSpPr>
        <p:spPr>
          <a:xfrm>
            <a:off x="909291" y="1393923"/>
            <a:ext cx="274320" cy="274320"/>
          </a:xfrm>
          <a:prstGeom prst="rect">
            <a:avLst/>
          </a:prstGeom>
          <a:noFill/>
          <a:ln/>
        </p:spPr>
        <p:txBody>
          <a:bodyPr wrap="square" rtlCol="0" anchor="ctr"/>
          <a:lstStyle/>
          <a:p>
            <a:pPr marL="0" indent="0" algn="ctr">
              <a:buNone/>
            </a:pPr>
            <a:r>
              <a:rPr lang="en-US" sz="1000" b="1" dirty="0">
                <a:solidFill>
                  <a:srgbClr val="0F172A"/>
                </a:solidFill>
              </a:rPr>
              <a:t>5</a:t>
            </a:r>
            <a:endParaRPr lang="en-US" sz="1000" dirty="0"/>
          </a:p>
        </p:txBody>
      </p:sp>
      <p:sp>
        <p:nvSpPr>
          <p:cNvPr id="17" name="Shape 14"/>
          <p:cNvSpPr/>
          <p:nvPr/>
        </p:nvSpPr>
        <p:spPr>
          <a:xfrm>
            <a:off x="909291" y="1665212"/>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8" name="Text 15"/>
          <p:cNvSpPr/>
          <p:nvPr/>
        </p:nvSpPr>
        <p:spPr>
          <a:xfrm>
            <a:off x="909291" y="1665212"/>
            <a:ext cx="274320" cy="274320"/>
          </a:xfrm>
          <a:prstGeom prst="rect">
            <a:avLst/>
          </a:prstGeom>
          <a:noFill/>
          <a:ln/>
        </p:spPr>
        <p:txBody>
          <a:bodyPr wrap="square" rtlCol="0" anchor="ctr"/>
          <a:lstStyle/>
          <a:p>
            <a:pPr marL="0" indent="0" algn="ctr">
              <a:buNone/>
            </a:pPr>
            <a:r>
              <a:rPr lang="en-US" sz="1000" b="1" dirty="0">
                <a:solidFill>
                  <a:srgbClr val="0F172A"/>
                </a:solidFill>
              </a:rPr>
              <a:t>6</a:t>
            </a:r>
            <a:endParaRPr lang="en-US" sz="1000" dirty="0"/>
          </a:p>
        </p:txBody>
      </p:sp>
      <p:sp>
        <p:nvSpPr>
          <p:cNvPr id="19" name="Shape 16"/>
          <p:cNvSpPr/>
          <p:nvPr/>
        </p:nvSpPr>
        <p:spPr>
          <a:xfrm>
            <a:off x="909291" y="2103449"/>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0" name="Text 17"/>
          <p:cNvSpPr/>
          <p:nvPr/>
        </p:nvSpPr>
        <p:spPr>
          <a:xfrm>
            <a:off x="909291" y="2103449"/>
            <a:ext cx="274320" cy="274320"/>
          </a:xfrm>
          <a:prstGeom prst="rect">
            <a:avLst/>
          </a:prstGeom>
          <a:noFill/>
          <a:ln/>
        </p:spPr>
        <p:txBody>
          <a:bodyPr wrap="square" rtlCol="0" anchor="ctr"/>
          <a:lstStyle/>
          <a:p>
            <a:pPr marL="0" indent="0" algn="ctr">
              <a:buNone/>
            </a:pPr>
            <a:r>
              <a:rPr lang="en-US" sz="1000" b="1" dirty="0">
                <a:solidFill>
                  <a:srgbClr val="0F172A"/>
                </a:solidFill>
              </a:rPr>
              <a:t>7</a:t>
            </a:r>
            <a:endParaRPr lang="en-US" sz="1000" dirty="0"/>
          </a:p>
        </p:txBody>
      </p:sp>
      <p:sp>
        <p:nvSpPr>
          <p:cNvPr id="21" name="Shape 18"/>
          <p:cNvSpPr/>
          <p:nvPr/>
        </p:nvSpPr>
        <p:spPr>
          <a:xfrm>
            <a:off x="3580447" y="2103449"/>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2" name="Text 19"/>
          <p:cNvSpPr/>
          <p:nvPr/>
        </p:nvSpPr>
        <p:spPr>
          <a:xfrm>
            <a:off x="3580447" y="2103449"/>
            <a:ext cx="274320" cy="274320"/>
          </a:xfrm>
          <a:prstGeom prst="rect">
            <a:avLst/>
          </a:prstGeom>
          <a:noFill/>
          <a:ln/>
        </p:spPr>
        <p:txBody>
          <a:bodyPr wrap="square" rtlCol="0" anchor="ctr"/>
          <a:lstStyle/>
          <a:p>
            <a:pPr marL="0" indent="0" algn="ctr">
              <a:buNone/>
            </a:pPr>
            <a:r>
              <a:rPr lang="en-US" sz="1000" b="1" dirty="0">
                <a:solidFill>
                  <a:srgbClr val="0F172A"/>
                </a:solidFill>
              </a:rPr>
              <a:t>8</a:t>
            </a:r>
            <a:endParaRPr lang="en-US" sz="1000" dirty="0"/>
          </a:p>
        </p:txBody>
      </p:sp>
      <p:sp>
        <p:nvSpPr>
          <p:cNvPr id="23" name="Shape 20"/>
          <p:cNvSpPr/>
          <p:nvPr/>
        </p:nvSpPr>
        <p:spPr>
          <a:xfrm>
            <a:off x="909291" y="3084264"/>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4" name="Text 21"/>
          <p:cNvSpPr/>
          <p:nvPr/>
        </p:nvSpPr>
        <p:spPr>
          <a:xfrm>
            <a:off x="909291" y="3084264"/>
            <a:ext cx="274320" cy="274320"/>
          </a:xfrm>
          <a:prstGeom prst="rect">
            <a:avLst/>
          </a:prstGeom>
          <a:noFill/>
          <a:ln/>
        </p:spPr>
        <p:txBody>
          <a:bodyPr wrap="square" rtlCol="0" anchor="ctr"/>
          <a:lstStyle/>
          <a:p>
            <a:pPr marL="0" indent="0" algn="ctr">
              <a:buNone/>
            </a:pPr>
            <a:r>
              <a:rPr lang="en-US" sz="1000" b="1" dirty="0">
                <a:solidFill>
                  <a:srgbClr val="0F172A"/>
                </a:solidFill>
              </a:rPr>
              <a:t>9</a:t>
            </a:r>
            <a:endParaRPr lang="en-US" sz="1000" dirty="0"/>
          </a:p>
        </p:txBody>
      </p:sp>
      <p:sp>
        <p:nvSpPr>
          <p:cNvPr id="25" name="Shape 22"/>
          <p:cNvSpPr/>
          <p:nvPr/>
        </p:nvSpPr>
        <p:spPr>
          <a:xfrm>
            <a:off x="6830568" y="576072"/>
            <a:ext cx="2267712" cy="4626864"/>
          </a:xfrm>
          <a:prstGeom prst="roundRect">
            <a:avLst/>
          </a:prstGeom>
          <a:solidFill>
            <a:srgbClr val="1E3A5F"/>
          </a:solidFill>
          <a:ln w="12700">
            <a:solidFill>
              <a:srgbClr val="1E3A5F"/>
            </a:solidFill>
            <a:prstDash val="solid"/>
          </a:ln>
        </p:spPr>
        <p:txBody>
          <a:bodyPr/>
          <a:lstStyle/>
          <a:p>
            <a:endParaRPr lang="en-US"/>
          </a:p>
        </p:txBody>
      </p:sp>
      <p:sp>
        <p:nvSpPr>
          <p:cNvPr id="26" name="Shape 23"/>
          <p:cNvSpPr/>
          <p:nvPr/>
        </p:nvSpPr>
        <p:spPr>
          <a:xfrm>
            <a:off x="6876288" y="658368"/>
            <a:ext cx="237744" cy="237744"/>
          </a:xfrm>
          <a:prstGeom prst="ellipse">
            <a:avLst/>
          </a:prstGeom>
          <a:solidFill>
            <a:srgbClr val="F59E0B"/>
          </a:solidFill>
          <a:ln w="12700">
            <a:solidFill>
              <a:srgbClr val="1E3A5F"/>
            </a:solidFill>
            <a:prstDash val="solid"/>
          </a:ln>
        </p:spPr>
        <p:txBody>
          <a:bodyPr/>
          <a:lstStyle/>
          <a:p>
            <a:endParaRPr lang="en-US"/>
          </a:p>
        </p:txBody>
      </p:sp>
      <p:sp>
        <p:nvSpPr>
          <p:cNvPr id="27" name="Text 24"/>
          <p:cNvSpPr/>
          <p:nvPr/>
        </p:nvSpPr>
        <p:spPr>
          <a:xfrm>
            <a:off x="6876288" y="658368"/>
            <a:ext cx="237744" cy="237744"/>
          </a:xfrm>
          <a:prstGeom prst="rect">
            <a:avLst/>
          </a:prstGeom>
          <a:noFill/>
          <a:ln/>
        </p:spPr>
        <p:txBody>
          <a:bodyPr wrap="square" rtlCol="0" anchor="ctr"/>
          <a:lstStyle/>
          <a:p>
            <a:pPr marL="0" indent="0" algn="ctr">
              <a:buNone/>
            </a:pPr>
            <a:r>
              <a:rPr lang="en-US" sz="800" b="1" dirty="0">
                <a:solidFill>
                  <a:srgbClr val="0F172A"/>
                </a:solidFill>
              </a:rPr>
              <a:t>1</a:t>
            </a:r>
            <a:endParaRPr lang="en-US" sz="800" dirty="0"/>
          </a:p>
        </p:txBody>
      </p:sp>
      <p:sp>
        <p:nvSpPr>
          <p:cNvPr id="28" name="Text 25"/>
          <p:cNvSpPr/>
          <p:nvPr/>
        </p:nvSpPr>
        <p:spPr>
          <a:xfrm>
            <a:off x="7178040" y="649224"/>
            <a:ext cx="1828800" cy="201168"/>
          </a:xfrm>
          <a:prstGeom prst="rect">
            <a:avLst/>
          </a:prstGeom>
          <a:noFill/>
          <a:ln/>
        </p:spPr>
        <p:txBody>
          <a:bodyPr wrap="square" rtlCol="0" anchor="ctr"/>
          <a:lstStyle/>
          <a:p>
            <a:pPr marL="0" indent="0">
              <a:buNone/>
            </a:pPr>
            <a:r>
              <a:rPr lang="en-US" sz="850" b="1" dirty="0">
                <a:solidFill>
                  <a:srgbClr val="FFFFFF"/>
                </a:solidFill>
              </a:rPr>
              <a:t>Period Tabs</a:t>
            </a:r>
            <a:endParaRPr lang="en-US" sz="850" dirty="0"/>
          </a:p>
        </p:txBody>
      </p:sp>
      <p:sp>
        <p:nvSpPr>
          <p:cNvPr id="29" name="Text 26"/>
          <p:cNvSpPr/>
          <p:nvPr/>
        </p:nvSpPr>
        <p:spPr>
          <a:xfrm>
            <a:off x="7178040" y="850392"/>
            <a:ext cx="1828800" cy="201168"/>
          </a:xfrm>
          <a:prstGeom prst="rect">
            <a:avLst/>
          </a:prstGeom>
          <a:noFill/>
          <a:ln/>
        </p:spPr>
        <p:txBody>
          <a:bodyPr wrap="square" rtlCol="0" anchor="ctr"/>
          <a:lstStyle/>
          <a:p>
            <a:pPr marL="0" indent="0">
              <a:buNone/>
            </a:pPr>
            <a:r>
              <a:rPr lang="en-US" sz="700" dirty="0">
                <a:solidFill>
                  <a:srgbClr val="94A3B8"/>
                </a:solidFill>
              </a:rPr>
              <a:t>Daily/Weekly/Monthly/Quarterly...</a:t>
            </a:r>
            <a:endParaRPr lang="en-US" sz="700" dirty="0"/>
          </a:p>
        </p:txBody>
      </p:sp>
      <p:sp>
        <p:nvSpPr>
          <p:cNvPr id="30" name="Shape 27"/>
          <p:cNvSpPr/>
          <p:nvPr/>
        </p:nvSpPr>
        <p:spPr>
          <a:xfrm>
            <a:off x="6876288" y="1152144"/>
            <a:ext cx="237744" cy="237744"/>
          </a:xfrm>
          <a:prstGeom prst="ellipse">
            <a:avLst/>
          </a:prstGeom>
          <a:solidFill>
            <a:srgbClr val="F59E0B"/>
          </a:solidFill>
          <a:ln w="12700">
            <a:solidFill>
              <a:srgbClr val="1E3A5F"/>
            </a:solidFill>
            <a:prstDash val="solid"/>
          </a:ln>
        </p:spPr>
        <p:txBody>
          <a:bodyPr/>
          <a:lstStyle/>
          <a:p>
            <a:endParaRPr lang="en-US"/>
          </a:p>
        </p:txBody>
      </p:sp>
      <p:sp>
        <p:nvSpPr>
          <p:cNvPr id="31" name="Text 28"/>
          <p:cNvSpPr/>
          <p:nvPr/>
        </p:nvSpPr>
        <p:spPr>
          <a:xfrm>
            <a:off x="6876288" y="1152144"/>
            <a:ext cx="237744" cy="237744"/>
          </a:xfrm>
          <a:prstGeom prst="rect">
            <a:avLst/>
          </a:prstGeom>
          <a:noFill/>
          <a:ln/>
        </p:spPr>
        <p:txBody>
          <a:bodyPr wrap="square" rtlCol="0" anchor="ctr"/>
          <a:lstStyle/>
          <a:p>
            <a:pPr marL="0" indent="0" algn="ctr">
              <a:buNone/>
            </a:pPr>
            <a:r>
              <a:rPr lang="en-US" sz="800" b="1" dirty="0">
                <a:solidFill>
                  <a:srgbClr val="0F172A"/>
                </a:solidFill>
              </a:rPr>
              <a:t>2</a:t>
            </a:r>
            <a:endParaRPr lang="en-US" sz="800" dirty="0"/>
          </a:p>
        </p:txBody>
      </p:sp>
      <p:sp>
        <p:nvSpPr>
          <p:cNvPr id="32" name="Text 29"/>
          <p:cNvSpPr/>
          <p:nvPr/>
        </p:nvSpPr>
        <p:spPr>
          <a:xfrm>
            <a:off x="7178040" y="1143000"/>
            <a:ext cx="1828800" cy="201168"/>
          </a:xfrm>
          <a:prstGeom prst="rect">
            <a:avLst/>
          </a:prstGeom>
          <a:noFill/>
          <a:ln/>
        </p:spPr>
        <p:txBody>
          <a:bodyPr wrap="square" rtlCol="0" anchor="ctr"/>
          <a:lstStyle/>
          <a:p>
            <a:pPr marL="0" indent="0">
              <a:buNone/>
            </a:pPr>
            <a:r>
              <a:rPr lang="en-US" sz="850" b="1" dirty="0">
                <a:solidFill>
                  <a:srgbClr val="FFFFFF"/>
                </a:solidFill>
              </a:rPr>
              <a:t>Date Picker</a:t>
            </a:r>
            <a:endParaRPr lang="en-US" sz="850" dirty="0"/>
          </a:p>
        </p:txBody>
      </p:sp>
      <p:sp>
        <p:nvSpPr>
          <p:cNvPr id="33" name="Text 30"/>
          <p:cNvSpPr/>
          <p:nvPr/>
        </p:nvSpPr>
        <p:spPr>
          <a:xfrm>
            <a:off x="7178040" y="1344168"/>
            <a:ext cx="1828800" cy="201168"/>
          </a:xfrm>
          <a:prstGeom prst="rect">
            <a:avLst/>
          </a:prstGeom>
          <a:noFill/>
          <a:ln/>
        </p:spPr>
        <p:txBody>
          <a:bodyPr wrap="square" rtlCol="0" anchor="ctr"/>
          <a:lstStyle/>
          <a:p>
            <a:pPr marL="0" indent="0">
              <a:buNone/>
            </a:pPr>
            <a:r>
              <a:rPr lang="en-US" sz="700" dirty="0">
                <a:solidFill>
                  <a:srgbClr val="94A3B8"/>
                </a:solidFill>
              </a:rPr>
              <a:t>Custom date range filter</a:t>
            </a:r>
            <a:endParaRPr lang="en-US" sz="700" dirty="0"/>
          </a:p>
        </p:txBody>
      </p:sp>
      <p:sp>
        <p:nvSpPr>
          <p:cNvPr id="34" name="Shape 31"/>
          <p:cNvSpPr/>
          <p:nvPr/>
        </p:nvSpPr>
        <p:spPr>
          <a:xfrm>
            <a:off x="6876288" y="1645920"/>
            <a:ext cx="237744" cy="237744"/>
          </a:xfrm>
          <a:prstGeom prst="ellipse">
            <a:avLst/>
          </a:prstGeom>
          <a:solidFill>
            <a:srgbClr val="F59E0B"/>
          </a:solidFill>
          <a:ln w="12700">
            <a:solidFill>
              <a:srgbClr val="1E3A5F"/>
            </a:solidFill>
            <a:prstDash val="solid"/>
          </a:ln>
        </p:spPr>
        <p:txBody>
          <a:bodyPr/>
          <a:lstStyle/>
          <a:p>
            <a:endParaRPr lang="en-US"/>
          </a:p>
        </p:txBody>
      </p:sp>
      <p:sp>
        <p:nvSpPr>
          <p:cNvPr id="35" name="Text 32"/>
          <p:cNvSpPr/>
          <p:nvPr/>
        </p:nvSpPr>
        <p:spPr>
          <a:xfrm>
            <a:off x="6876288" y="1645920"/>
            <a:ext cx="237744" cy="237744"/>
          </a:xfrm>
          <a:prstGeom prst="rect">
            <a:avLst/>
          </a:prstGeom>
          <a:noFill/>
          <a:ln/>
        </p:spPr>
        <p:txBody>
          <a:bodyPr wrap="square" rtlCol="0" anchor="ctr"/>
          <a:lstStyle/>
          <a:p>
            <a:pPr marL="0" indent="0" algn="ctr">
              <a:buNone/>
            </a:pPr>
            <a:r>
              <a:rPr lang="en-US" sz="800" b="1" dirty="0">
                <a:solidFill>
                  <a:srgbClr val="0F172A"/>
                </a:solidFill>
              </a:rPr>
              <a:t>3</a:t>
            </a:r>
            <a:endParaRPr lang="en-US" sz="800" dirty="0"/>
          </a:p>
        </p:txBody>
      </p:sp>
      <p:sp>
        <p:nvSpPr>
          <p:cNvPr id="36" name="Text 33"/>
          <p:cNvSpPr/>
          <p:nvPr/>
        </p:nvSpPr>
        <p:spPr>
          <a:xfrm>
            <a:off x="7178040" y="1636776"/>
            <a:ext cx="1828800" cy="201168"/>
          </a:xfrm>
          <a:prstGeom prst="rect">
            <a:avLst/>
          </a:prstGeom>
          <a:noFill/>
          <a:ln/>
        </p:spPr>
        <p:txBody>
          <a:bodyPr wrap="square" rtlCol="0" anchor="ctr"/>
          <a:lstStyle/>
          <a:p>
            <a:pPr marL="0" indent="0">
              <a:buNone/>
            </a:pPr>
            <a:r>
              <a:rPr lang="en-US" sz="850" b="1" dirty="0">
                <a:solidFill>
                  <a:srgbClr val="FFFFFF"/>
                </a:solidFill>
              </a:rPr>
              <a:t>Export CSV</a:t>
            </a:r>
            <a:endParaRPr lang="en-US" sz="850" dirty="0"/>
          </a:p>
        </p:txBody>
      </p:sp>
      <p:sp>
        <p:nvSpPr>
          <p:cNvPr id="37" name="Text 34"/>
          <p:cNvSpPr/>
          <p:nvPr/>
        </p:nvSpPr>
        <p:spPr>
          <a:xfrm>
            <a:off x="7178040" y="1837944"/>
            <a:ext cx="1828800" cy="201168"/>
          </a:xfrm>
          <a:prstGeom prst="rect">
            <a:avLst/>
          </a:prstGeom>
          <a:noFill/>
          <a:ln/>
        </p:spPr>
        <p:txBody>
          <a:bodyPr wrap="square" rtlCol="0" anchor="ctr"/>
          <a:lstStyle/>
          <a:p>
            <a:pPr marL="0" indent="0">
              <a:buNone/>
            </a:pPr>
            <a:r>
              <a:rPr lang="en-US" sz="700" dirty="0">
                <a:solidFill>
                  <a:srgbClr val="94A3B8"/>
                </a:solidFill>
              </a:rPr>
              <a:t>Download all data for reporting</a:t>
            </a:r>
            <a:endParaRPr lang="en-US" sz="700" dirty="0"/>
          </a:p>
        </p:txBody>
      </p:sp>
      <p:sp>
        <p:nvSpPr>
          <p:cNvPr id="38" name="Shape 35"/>
          <p:cNvSpPr/>
          <p:nvPr/>
        </p:nvSpPr>
        <p:spPr>
          <a:xfrm>
            <a:off x="6876288" y="2139696"/>
            <a:ext cx="237744" cy="237744"/>
          </a:xfrm>
          <a:prstGeom prst="ellipse">
            <a:avLst/>
          </a:prstGeom>
          <a:solidFill>
            <a:srgbClr val="F59E0B"/>
          </a:solidFill>
          <a:ln w="12700">
            <a:solidFill>
              <a:srgbClr val="1E3A5F"/>
            </a:solidFill>
            <a:prstDash val="solid"/>
          </a:ln>
        </p:spPr>
        <p:txBody>
          <a:bodyPr/>
          <a:lstStyle/>
          <a:p>
            <a:endParaRPr lang="en-US"/>
          </a:p>
        </p:txBody>
      </p:sp>
      <p:sp>
        <p:nvSpPr>
          <p:cNvPr id="39" name="Text 36"/>
          <p:cNvSpPr/>
          <p:nvPr/>
        </p:nvSpPr>
        <p:spPr>
          <a:xfrm>
            <a:off x="6876288" y="2139696"/>
            <a:ext cx="237744" cy="237744"/>
          </a:xfrm>
          <a:prstGeom prst="rect">
            <a:avLst/>
          </a:prstGeom>
          <a:noFill/>
          <a:ln/>
        </p:spPr>
        <p:txBody>
          <a:bodyPr wrap="square" rtlCol="0" anchor="ctr"/>
          <a:lstStyle/>
          <a:p>
            <a:pPr marL="0" indent="0" algn="ctr">
              <a:buNone/>
            </a:pPr>
            <a:r>
              <a:rPr lang="en-US" sz="800" b="1" dirty="0">
                <a:solidFill>
                  <a:srgbClr val="0F172A"/>
                </a:solidFill>
              </a:rPr>
              <a:t>4</a:t>
            </a:r>
            <a:endParaRPr lang="en-US" sz="800" dirty="0"/>
          </a:p>
        </p:txBody>
      </p:sp>
      <p:sp>
        <p:nvSpPr>
          <p:cNvPr id="40" name="Text 37"/>
          <p:cNvSpPr/>
          <p:nvPr/>
        </p:nvSpPr>
        <p:spPr>
          <a:xfrm>
            <a:off x="7178040" y="2130552"/>
            <a:ext cx="1828800" cy="201168"/>
          </a:xfrm>
          <a:prstGeom prst="rect">
            <a:avLst/>
          </a:prstGeom>
          <a:noFill/>
          <a:ln/>
        </p:spPr>
        <p:txBody>
          <a:bodyPr wrap="square" rtlCol="0" anchor="ctr"/>
          <a:lstStyle/>
          <a:p>
            <a:pPr marL="0" indent="0">
              <a:buNone/>
            </a:pPr>
            <a:r>
              <a:rPr lang="en-US" sz="850" b="1" dirty="0">
                <a:solidFill>
                  <a:srgbClr val="FFFFFF"/>
                </a:solidFill>
              </a:rPr>
              <a:t>Top KPIs</a:t>
            </a:r>
            <a:endParaRPr lang="en-US" sz="850" dirty="0"/>
          </a:p>
        </p:txBody>
      </p:sp>
      <p:sp>
        <p:nvSpPr>
          <p:cNvPr id="41" name="Text 38"/>
          <p:cNvSpPr/>
          <p:nvPr/>
        </p:nvSpPr>
        <p:spPr>
          <a:xfrm>
            <a:off x="7178040" y="2331720"/>
            <a:ext cx="1828800" cy="201168"/>
          </a:xfrm>
          <a:prstGeom prst="rect">
            <a:avLst/>
          </a:prstGeom>
          <a:noFill/>
          <a:ln/>
        </p:spPr>
        <p:txBody>
          <a:bodyPr wrap="square" rtlCol="0" anchor="ctr"/>
          <a:lstStyle/>
          <a:p>
            <a:pPr marL="0" indent="0">
              <a:buNone/>
            </a:pPr>
            <a:r>
              <a:rPr lang="en-US" sz="700" dirty="0">
                <a:solidFill>
                  <a:srgbClr val="94A3B8"/>
                </a:solidFill>
              </a:rPr>
              <a:t>52 logs, 91% resolution, 96% SLA</a:t>
            </a:r>
            <a:endParaRPr lang="en-US" sz="700" dirty="0"/>
          </a:p>
        </p:txBody>
      </p:sp>
      <p:sp>
        <p:nvSpPr>
          <p:cNvPr id="42" name="Shape 39"/>
          <p:cNvSpPr/>
          <p:nvPr/>
        </p:nvSpPr>
        <p:spPr>
          <a:xfrm>
            <a:off x="6876288" y="2633472"/>
            <a:ext cx="237744" cy="237744"/>
          </a:xfrm>
          <a:prstGeom prst="ellipse">
            <a:avLst/>
          </a:prstGeom>
          <a:solidFill>
            <a:srgbClr val="F59E0B"/>
          </a:solidFill>
          <a:ln w="12700">
            <a:solidFill>
              <a:srgbClr val="1E3A5F"/>
            </a:solidFill>
            <a:prstDash val="solid"/>
          </a:ln>
        </p:spPr>
        <p:txBody>
          <a:bodyPr/>
          <a:lstStyle/>
          <a:p>
            <a:endParaRPr lang="en-US"/>
          </a:p>
        </p:txBody>
      </p:sp>
      <p:sp>
        <p:nvSpPr>
          <p:cNvPr id="43" name="Text 40"/>
          <p:cNvSpPr/>
          <p:nvPr/>
        </p:nvSpPr>
        <p:spPr>
          <a:xfrm>
            <a:off x="6876288" y="2633472"/>
            <a:ext cx="237744" cy="237744"/>
          </a:xfrm>
          <a:prstGeom prst="rect">
            <a:avLst/>
          </a:prstGeom>
          <a:noFill/>
          <a:ln/>
        </p:spPr>
        <p:txBody>
          <a:bodyPr wrap="square" rtlCol="0" anchor="ctr"/>
          <a:lstStyle/>
          <a:p>
            <a:pPr marL="0" indent="0" algn="ctr">
              <a:buNone/>
            </a:pPr>
            <a:r>
              <a:rPr lang="en-US" sz="800" b="1" dirty="0">
                <a:solidFill>
                  <a:srgbClr val="0F172A"/>
                </a:solidFill>
              </a:rPr>
              <a:t>5</a:t>
            </a:r>
            <a:endParaRPr lang="en-US" sz="800" dirty="0"/>
          </a:p>
        </p:txBody>
      </p:sp>
      <p:sp>
        <p:nvSpPr>
          <p:cNvPr id="44" name="Text 41"/>
          <p:cNvSpPr/>
          <p:nvPr/>
        </p:nvSpPr>
        <p:spPr>
          <a:xfrm>
            <a:off x="7178040" y="2624328"/>
            <a:ext cx="1828800" cy="201168"/>
          </a:xfrm>
          <a:prstGeom prst="rect">
            <a:avLst/>
          </a:prstGeom>
          <a:noFill/>
          <a:ln/>
        </p:spPr>
        <p:txBody>
          <a:bodyPr wrap="square" rtlCol="0" anchor="ctr"/>
          <a:lstStyle/>
          <a:p>
            <a:pPr marL="0" indent="0">
              <a:buNone/>
            </a:pPr>
            <a:r>
              <a:rPr lang="en-US" sz="850" b="1" dirty="0">
                <a:solidFill>
                  <a:srgbClr val="FFFFFF"/>
                </a:solidFill>
              </a:rPr>
              <a:t>Bottom KPIs</a:t>
            </a:r>
            <a:endParaRPr lang="en-US" sz="850" dirty="0"/>
          </a:p>
        </p:txBody>
      </p:sp>
      <p:sp>
        <p:nvSpPr>
          <p:cNvPr id="45" name="Text 42"/>
          <p:cNvSpPr/>
          <p:nvPr/>
        </p:nvSpPr>
        <p:spPr>
          <a:xfrm>
            <a:off x="7178040" y="2825496"/>
            <a:ext cx="1828800" cy="201168"/>
          </a:xfrm>
          <a:prstGeom prst="rect">
            <a:avLst/>
          </a:prstGeom>
          <a:noFill/>
          <a:ln/>
        </p:spPr>
        <p:txBody>
          <a:bodyPr wrap="square" rtlCol="0" anchor="ctr"/>
          <a:lstStyle/>
          <a:p>
            <a:pPr marL="0" indent="0">
              <a:buNone/>
            </a:pPr>
            <a:r>
              <a:rPr lang="en-US" sz="700" dirty="0">
                <a:solidFill>
                  <a:srgbClr val="94A3B8"/>
                </a:solidFill>
              </a:rPr>
              <a:t>P1=3, P2=8, Avg 3.1h, Ack 95%</a:t>
            </a:r>
            <a:endParaRPr lang="en-US" sz="700" dirty="0"/>
          </a:p>
        </p:txBody>
      </p:sp>
      <p:sp>
        <p:nvSpPr>
          <p:cNvPr id="46" name="Shape 43"/>
          <p:cNvSpPr/>
          <p:nvPr/>
        </p:nvSpPr>
        <p:spPr>
          <a:xfrm>
            <a:off x="6876288" y="3127248"/>
            <a:ext cx="237744" cy="237744"/>
          </a:xfrm>
          <a:prstGeom prst="ellipse">
            <a:avLst/>
          </a:prstGeom>
          <a:solidFill>
            <a:srgbClr val="F59E0B"/>
          </a:solidFill>
          <a:ln w="12700">
            <a:solidFill>
              <a:srgbClr val="1E3A5F"/>
            </a:solidFill>
            <a:prstDash val="solid"/>
          </a:ln>
        </p:spPr>
        <p:txBody>
          <a:bodyPr/>
          <a:lstStyle/>
          <a:p>
            <a:endParaRPr lang="en-US"/>
          </a:p>
        </p:txBody>
      </p:sp>
      <p:sp>
        <p:nvSpPr>
          <p:cNvPr id="47" name="Text 44"/>
          <p:cNvSpPr/>
          <p:nvPr/>
        </p:nvSpPr>
        <p:spPr>
          <a:xfrm>
            <a:off x="6876288" y="3127248"/>
            <a:ext cx="237744" cy="237744"/>
          </a:xfrm>
          <a:prstGeom prst="rect">
            <a:avLst/>
          </a:prstGeom>
          <a:noFill/>
          <a:ln/>
        </p:spPr>
        <p:txBody>
          <a:bodyPr wrap="square" rtlCol="0" anchor="ctr"/>
          <a:lstStyle/>
          <a:p>
            <a:pPr marL="0" indent="0" algn="ctr">
              <a:buNone/>
            </a:pPr>
            <a:r>
              <a:rPr lang="en-US" sz="800" b="1" dirty="0">
                <a:solidFill>
                  <a:srgbClr val="0F172A"/>
                </a:solidFill>
              </a:rPr>
              <a:t>6</a:t>
            </a:r>
            <a:endParaRPr lang="en-US" sz="800" dirty="0"/>
          </a:p>
        </p:txBody>
      </p:sp>
      <p:sp>
        <p:nvSpPr>
          <p:cNvPr id="48" name="Text 45"/>
          <p:cNvSpPr/>
          <p:nvPr/>
        </p:nvSpPr>
        <p:spPr>
          <a:xfrm>
            <a:off x="7178040" y="3118104"/>
            <a:ext cx="1828800" cy="201168"/>
          </a:xfrm>
          <a:prstGeom prst="rect">
            <a:avLst/>
          </a:prstGeom>
          <a:noFill/>
          <a:ln/>
        </p:spPr>
        <p:txBody>
          <a:bodyPr wrap="square" rtlCol="0" anchor="ctr"/>
          <a:lstStyle/>
          <a:p>
            <a:pPr marL="0" indent="0">
              <a:buNone/>
            </a:pPr>
            <a:r>
              <a:rPr lang="en-US" sz="850" b="1" dirty="0">
                <a:solidFill>
                  <a:srgbClr val="FFFFFF"/>
                </a:solidFill>
              </a:rPr>
              <a:t>Shift Stats</a:t>
            </a:r>
            <a:endParaRPr lang="en-US" sz="850" dirty="0"/>
          </a:p>
        </p:txBody>
      </p:sp>
      <p:sp>
        <p:nvSpPr>
          <p:cNvPr id="49" name="Text 46"/>
          <p:cNvSpPr/>
          <p:nvPr/>
        </p:nvSpPr>
        <p:spPr>
          <a:xfrm>
            <a:off x="7178040" y="3319272"/>
            <a:ext cx="1828800" cy="201168"/>
          </a:xfrm>
          <a:prstGeom prst="rect">
            <a:avLst/>
          </a:prstGeom>
          <a:noFill/>
          <a:ln/>
        </p:spPr>
        <p:txBody>
          <a:bodyPr wrap="square" rtlCol="0" anchor="ctr"/>
          <a:lstStyle/>
          <a:p>
            <a:pPr marL="0" indent="0">
              <a:buNone/>
            </a:pPr>
            <a:r>
              <a:rPr lang="en-US" sz="700" dirty="0">
                <a:solidFill>
                  <a:srgbClr val="94A3B8"/>
                </a:solidFill>
              </a:rPr>
              <a:t>Shifts completed, on-time %, handovers</a:t>
            </a:r>
            <a:endParaRPr lang="en-US" sz="700" dirty="0"/>
          </a:p>
        </p:txBody>
      </p:sp>
      <p:sp>
        <p:nvSpPr>
          <p:cNvPr id="50" name="Shape 47"/>
          <p:cNvSpPr/>
          <p:nvPr/>
        </p:nvSpPr>
        <p:spPr>
          <a:xfrm>
            <a:off x="6876288" y="3621024"/>
            <a:ext cx="237744" cy="237744"/>
          </a:xfrm>
          <a:prstGeom prst="ellipse">
            <a:avLst/>
          </a:prstGeom>
          <a:solidFill>
            <a:srgbClr val="F59E0B"/>
          </a:solidFill>
          <a:ln w="12700">
            <a:solidFill>
              <a:srgbClr val="1E3A5F"/>
            </a:solidFill>
            <a:prstDash val="solid"/>
          </a:ln>
        </p:spPr>
        <p:txBody>
          <a:bodyPr/>
          <a:lstStyle/>
          <a:p>
            <a:endParaRPr lang="en-US"/>
          </a:p>
        </p:txBody>
      </p:sp>
      <p:sp>
        <p:nvSpPr>
          <p:cNvPr id="51" name="Text 48"/>
          <p:cNvSpPr/>
          <p:nvPr/>
        </p:nvSpPr>
        <p:spPr>
          <a:xfrm>
            <a:off x="6876288" y="3621024"/>
            <a:ext cx="237744" cy="237744"/>
          </a:xfrm>
          <a:prstGeom prst="rect">
            <a:avLst/>
          </a:prstGeom>
          <a:noFill/>
          <a:ln/>
        </p:spPr>
        <p:txBody>
          <a:bodyPr wrap="square" rtlCol="0" anchor="ctr"/>
          <a:lstStyle/>
          <a:p>
            <a:pPr marL="0" indent="0" algn="ctr">
              <a:buNone/>
            </a:pPr>
            <a:r>
              <a:rPr lang="en-US" sz="800" b="1" dirty="0">
                <a:solidFill>
                  <a:srgbClr val="0F172A"/>
                </a:solidFill>
              </a:rPr>
              <a:t>7</a:t>
            </a:r>
            <a:endParaRPr lang="en-US" sz="800" dirty="0"/>
          </a:p>
        </p:txBody>
      </p:sp>
      <p:sp>
        <p:nvSpPr>
          <p:cNvPr id="52" name="Text 49"/>
          <p:cNvSpPr/>
          <p:nvPr/>
        </p:nvSpPr>
        <p:spPr>
          <a:xfrm>
            <a:off x="7178040" y="3611880"/>
            <a:ext cx="1828800" cy="201168"/>
          </a:xfrm>
          <a:prstGeom prst="rect">
            <a:avLst/>
          </a:prstGeom>
          <a:noFill/>
          <a:ln/>
        </p:spPr>
        <p:txBody>
          <a:bodyPr wrap="square" rtlCol="0" anchor="ctr"/>
          <a:lstStyle/>
          <a:p>
            <a:pPr marL="0" indent="0">
              <a:buNone/>
            </a:pPr>
            <a:r>
              <a:rPr lang="en-US" sz="850" b="1" dirty="0">
                <a:solidFill>
                  <a:srgbClr val="FFFFFF"/>
                </a:solidFill>
              </a:rPr>
              <a:t>By Source</a:t>
            </a:r>
            <a:endParaRPr lang="en-US" sz="850" dirty="0"/>
          </a:p>
        </p:txBody>
      </p:sp>
      <p:sp>
        <p:nvSpPr>
          <p:cNvPr id="53" name="Text 50"/>
          <p:cNvSpPr/>
          <p:nvPr/>
        </p:nvSpPr>
        <p:spPr>
          <a:xfrm>
            <a:off x="7178040" y="3813048"/>
            <a:ext cx="1828800" cy="201168"/>
          </a:xfrm>
          <a:prstGeom prst="rect">
            <a:avLst/>
          </a:prstGeom>
          <a:noFill/>
          <a:ln/>
        </p:spPr>
        <p:txBody>
          <a:bodyPr wrap="square" rtlCol="0" anchor="ctr"/>
          <a:lstStyle/>
          <a:p>
            <a:pPr marL="0" indent="0">
              <a:buNone/>
            </a:pPr>
            <a:r>
              <a:rPr lang="en-US" sz="700" dirty="0">
                <a:solidFill>
                  <a:srgbClr val="94A3B8"/>
                </a:solidFill>
              </a:rPr>
              <a:t>PagerDuty, SNOW, Slack breakdown</a:t>
            </a:r>
            <a:endParaRPr lang="en-US" sz="700" dirty="0"/>
          </a:p>
        </p:txBody>
      </p:sp>
      <p:sp>
        <p:nvSpPr>
          <p:cNvPr id="54" name="Shape 51"/>
          <p:cNvSpPr/>
          <p:nvPr/>
        </p:nvSpPr>
        <p:spPr>
          <a:xfrm>
            <a:off x="6876288" y="4114800"/>
            <a:ext cx="237744" cy="237744"/>
          </a:xfrm>
          <a:prstGeom prst="ellipse">
            <a:avLst/>
          </a:prstGeom>
          <a:solidFill>
            <a:srgbClr val="F59E0B"/>
          </a:solidFill>
          <a:ln w="12700">
            <a:solidFill>
              <a:srgbClr val="1E3A5F"/>
            </a:solidFill>
            <a:prstDash val="solid"/>
          </a:ln>
        </p:spPr>
        <p:txBody>
          <a:bodyPr/>
          <a:lstStyle/>
          <a:p>
            <a:endParaRPr lang="en-US"/>
          </a:p>
        </p:txBody>
      </p:sp>
      <p:sp>
        <p:nvSpPr>
          <p:cNvPr id="55" name="Text 52"/>
          <p:cNvSpPr/>
          <p:nvPr/>
        </p:nvSpPr>
        <p:spPr>
          <a:xfrm>
            <a:off x="6876288" y="4114800"/>
            <a:ext cx="237744" cy="237744"/>
          </a:xfrm>
          <a:prstGeom prst="rect">
            <a:avLst/>
          </a:prstGeom>
          <a:noFill/>
          <a:ln/>
        </p:spPr>
        <p:txBody>
          <a:bodyPr wrap="square" rtlCol="0" anchor="ctr"/>
          <a:lstStyle/>
          <a:p>
            <a:pPr marL="0" indent="0" algn="ctr">
              <a:buNone/>
            </a:pPr>
            <a:r>
              <a:rPr lang="en-US" sz="800" b="1" dirty="0">
                <a:solidFill>
                  <a:srgbClr val="0F172A"/>
                </a:solidFill>
              </a:rPr>
              <a:t>8</a:t>
            </a:r>
            <a:endParaRPr lang="en-US" sz="800" dirty="0"/>
          </a:p>
        </p:txBody>
      </p:sp>
      <p:sp>
        <p:nvSpPr>
          <p:cNvPr id="56" name="Text 53"/>
          <p:cNvSpPr/>
          <p:nvPr/>
        </p:nvSpPr>
        <p:spPr>
          <a:xfrm>
            <a:off x="7178040" y="4105656"/>
            <a:ext cx="1828800" cy="201168"/>
          </a:xfrm>
          <a:prstGeom prst="rect">
            <a:avLst/>
          </a:prstGeom>
          <a:noFill/>
          <a:ln/>
        </p:spPr>
        <p:txBody>
          <a:bodyPr wrap="square" rtlCol="0" anchor="ctr"/>
          <a:lstStyle/>
          <a:p>
            <a:pPr marL="0" indent="0">
              <a:buNone/>
            </a:pPr>
            <a:r>
              <a:rPr lang="en-US" sz="850" b="1" dirty="0">
                <a:solidFill>
                  <a:srgbClr val="FFFFFF"/>
                </a:solidFill>
              </a:rPr>
              <a:t>By Severity</a:t>
            </a:r>
            <a:endParaRPr lang="en-US" sz="850" dirty="0"/>
          </a:p>
        </p:txBody>
      </p:sp>
      <p:sp>
        <p:nvSpPr>
          <p:cNvPr id="57" name="Text 54"/>
          <p:cNvSpPr/>
          <p:nvPr/>
        </p:nvSpPr>
        <p:spPr>
          <a:xfrm>
            <a:off x="7178040" y="4306824"/>
            <a:ext cx="1828800" cy="201168"/>
          </a:xfrm>
          <a:prstGeom prst="rect">
            <a:avLst/>
          </a:prstGeom>
          <a:noFill/>
          <a:ln/>
        </p:spPr>
        <p:txBody>
          <a:bodyPr wrap="square" rtlCol="0" anchor="ctr"/>
          <a:lstStyle/>
          <a:p>
            <a:pPr marL="0" indent="0">
              <a:buNone/>
            </a:pPr>
            <a:r>
              <a:rPr lang="en-US" sz="700" dirty="0">
                <a:solidFill>
                  <a:srgbClr val="94A3B8"/>
                </a:solidFill>
              </a:rPr>
              <a:t>P1/P2/P3/P4 distribution</a:t>
            </a:r>
            <a:endParaRPr lang="en-US" sz="700" dirty="0"/>
          </a:p>
        </p:txBody>
      </p:sp>
      <p:sp>
        <p:nvSpPr>
          <p:cNvPr id="58" name="Shape 55"/>
          <p:cNvSpPr/>
          <p:nvPr/>
        </p:nvSpPr>
        <p:spPr>
          <a:xfrm>
            <a:off x="6876288" y="4608576"/>
            <a:ext cx="237744" cy="237744"/>
          </a:xfrm>
          <a:prstGeom prst="ellipse">
            <a:avLst/>
          </a:prstGeom>
          <a:solidFill>
            <a:srgbClr val="F59E0B"/>
          </a:solidFill>
          <a:ln w="12700">
            <a:solidFill>
              <a:srgbClr val="1E3A5F"/>
            </a:solidFill>
            <a:prstDash val="solid"/>
          </a:ln>
        </p:spPr>
        <p:txBody>
          <a:bodyPr/>
          <a:lstStyle/>
          <a:p>
            <a:endParaRPr lang="en-US"/>
          </a:p>
        </p:txBody>
      </p:sp>
      <p:sp>
        <p:nvSpPr>
          <p:cNvPr id="59" name="Text 56"/>
          <p:cNvSpPr/>
          <p:nvPr/>
        </p:nvSpPr>
        <p:spPr>
          <a:xfrm>
            <a:off x="6876288" y="4608576"/>
            <a:ext cx="237744" cy="237744"/>
          </a:xfrm>
          <a:prstGeom prst="rect">
            <a:avLst/>
          </a:prstGeom>
          <a:noFill/>
          <a:ln/>
        </p:spPr>
        <p:txBody>
          <a:bodyPr wrap="square" rtlCol="0" anchor="ctr"/>
          <a:lstStyle/>
          <a:p>
            <a:pPr marL="0" indent="0" algn="ctr">
              <a:buNone/>
            </a:pPr>
            <a:r>
              <a:rPr lang="en-US" sz="800" b="1" dirty="0">
                <a:solidFill>
                  <a:srgbClr val="0F172A"/>
                </a:solidFill>
              </a:rPr>
              <a:t>9</a:t>
            </a:r>
            <a:endParaRPr lang="en-US" sz="800" dirty="0"/>
          </a:p>
        </p:txBody>
      </p:sp>
      <p:sp>
        <p:nvSpPr>
          <p:cNvPr id="60" name="Text 57"/>
          <p:cNvSpPr/>
          <p:nvPr/>
        </p:nvSpPr>
        <p:spPr>
          <a:xfrm>
            <a:off x="7178040" y="4599432"/>
            <a:ext cx="1828800" cy="201168"/>
          </a:xfrm>
          <a:prstGeom prst="rect">
            <a:avLst/>
          </a:prstGeom>
          <a:noFill/>
          <a:ln/>
        </p:spPr>
        <p:txBody>
          <a:bodyPr wrap="square" rtlCol="0" anchor="ctr"/>
          <a:lstStyle/>
          <a:p>
            <a:pPr marL="0" indent="0">
              <a:buNone/>
            </a:pPr>
            <a:r>
              <a:rPr lang="en-US" sz="850" b="1" dirty="0">
                <a:solidFill>
                  <a:srgbClr val="FFFFFF"/>
                </a:solidFill>
              </a:rPr>
              <a:t>Project Table</a:t>
            </a:r>
            <a:endParaRPr lang="en-US" sz="850" dirty="0"/>
          </a:p>
        </p:txBody>
      </p:sp>
      <p:sp>
        <p:nvSpPr>
          <p:cNvPr id="61" name="Text 58"/>
          <p:cNvSpPr/>
          <p:nvPr/>
        </p:nvSpPr>
        <p:spPr>
          <a:xfrm>
            <a:off x="7178040" y="4800600"/>
            <a:ext cx="1828800" cy="201168"/>
          </a:xfrm>
          <a:prstGeom prst="rect">
            <a:avLst/>
          </a:prstGeom>
          <a:noFill/>
          <a:ln/>
        </p:spPr>
        <p:txBody>
          <a:bodyPr wrap="square" rtlCol="0" anchor="ctr"/>
          <a:lstStyle/>
          <a:p>
            <a:pPr marL="0" indent="0">
              <a:buNone/>
            </a:pPr>
            <a:r>
              <a:rPr lang="en-US" sz="700" dirty="0">
                <a:solidFill>
                  <a:srgbClr val="94A3B8"/>
                </a:solidFill>
              </a:rPr>
              <a:t>SLA rate + progress per project</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64008"/>
            <a:ext cx="6400800" cy="310896"/>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Daily Diary</a:t>
            </a:r>
            <a:endParaRPr lang="en-US" sz="1800" dirty="0"/>
          </a:p>
        </p:txBody>
      </p:sp>
      <p:sp>
        <p:nvSpPr>
          <p:cNvPr id="4" name="Text 2"/>
          <p:cNvSpPr/>
          <p:nvPr/>
        </p:nvSpPr>
        <p:spPr>
          <a:xfrm>
            <a:off x="274320" y="365760"/>
            <a:ext cx="6400800" cy="182880"/>
          </a:xfrm>
          <a:prstGeom prst="rect">
            <a:avLst/>
          </a:prstGeom>
          <a:noFill/>
          <a:ln/>
        </p:spPr>
        <p:txBody>
          <a:bodyPr wrap="square" rtlCol="0" anchor="ctr"/>
          <a:lstStyle/>
          <a:p>
            <a:pPr marL="0" indent="0">
              <a:buNone/>
            </a:pPr>
            <a:r>
              <a:rPr lang="en-US" sz="900" dirty="0">
                <a:solidFill>
                  <a:srgbClr val="94A3B8"/>
                </a:solidFill>
              </a:rPr>
              <a:t>Structured shift diary: incident count, KT progress, KTLO tasks, blockers, and submit to lead</a:t>
            </a:r>
            <a:endParaRPr lang="en-US" sz="900" dirty="0"/>
          </a:p>
        </p:txBody>
      </p:sp>
      <p:pic>
        <p:nvPicPr>
          <p:cNvPr id="5" name="Image 0" descr="/sessions/dazzling-bold-euler/mnt/shiftbuddy/screenshots/screencapture-shiftbuddy-brahmateja-dashboard-diary-2026-05-28-07_28_48_crop.png"/>
          <p:cNvPicPr>
            <a:picLocks noChangeAspect="1"/>
          </p:cNvPicPr>
          <p:nvPr/>
        </p:nvPicPr>
        <p:blipFill>
          <a:blip r:embed="rId3"/>
          <a:stretch>
            <a:fillRect/>
          </a:stretch>
        </p:blipFill>
        <p:spPr>
          <a:xfrm>
            <a:off x="137160" y="621792"/>
            <a:ext cx="5077334" cy="4407408"/>
          </a:xfrm>
          <a:prstGeom prst="rect">
            <a:avLst/>
          </a:prstGeom>
        </p:spPr>
      </p:pic>
      <p:sp>
        <p:nvSpPr>
          <p:cNvPr id="6" name="Shape 3"/>
          <p:cNvSpPr/>
          <p:nvPr/>
        </p:nvSpPr>
        <p:spPr>
          <a:xfrm>
            <a:off x="137160" y="621792"/>
            <a:ext cx="5077334" cy="4407408"/>
          </a:xfrm>
          <a:prstGeom prst="rect">
            <a:avLst/>
          </a:prstGeom>
          <a:ln w="6350">
            <a:solidFill>
              <a:srgbClr val="E2E8F0"/>
            </a:solidFill>
            <a:prstDash val="solid"/>
          </a:ln>
        </p:spPr>
        <p:txBody>
          <a:bodyPr/>
          <a:lstStyle/>
          <a:p>
            <a:endParaRPr lang="en-US"/>
          </a:p>
        </p:txBody>
      </p:sp>
      <p:sp>
        <p:nvSpPr>
          <p:cNvPr id="7" name="Shape 4"/>
          <p:cNvSpPr/>
          <p:nvPr/>
        </p:nvSpPr>
        <p:spPr>
          <a:xfrm>
            <a:off x="789456" y="674681"/>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8" name="Text 5"/>
          <p:cNvSpPr/>
          <p:nvPr/>
        </p:nvSpPr>
        <p:spPr>
          <a:xfrm>
            <a:off x="789456" y="674681"/>
            <a:ext cx="274320" cy="274320"/>
          </a:xfrm>
          <a:prstGeom prst="rect">
            <a:avLst/>
          </a:prstGeom>
          <a:noFill/>
          <a:ln/>
        </p:spPr>
        <p:txBody>
          <a:bodyPr wrap="square" rtlCol="0" anchor="ctr"/>
          <a:lstStyle/>
          <a:p>
            <a:pPr marL="0" indent="0" algn="ctr">
              <a:buNone/>
            </a:pPr>
            <a:r>
              <a:rPr lang="en-US" sz="1000" b="1" dirty="0">
                <a:solidFill>
                  <a:srgbClr val="0F172A"/>
                </a:solidFill>
              </a:rPr>
              <a:t>1</a:t>
            </a:r>
            <a:endParaRPr lang="en-US" sz="1000" dirty="0"/>
          </a:p>
        </p:txBody>
      </p:sp>
      <p:sp>
        <p:nvSpPr>
          <p:cNvPr id="9" name="Shape 6"/>
          <p:cNvSpPr/>
          <p:nvPr/>
        </p:nvSpPr>
        <p:spPr>
          <a:xfrm>
            <a:off x="2252716" y="674681"/>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0" name="Text 7"/>
          <p:cNvSpPr/>
          <p:nvPr/>
        </p:nvSpPr>
        <p:spPr>
          <a:xfrm>
            <a:off x="2252716" y="674681"/>
            <a:ext cx="274320" cy="274320"/>
          </a:xfrm>
          <a:prstGeom prst="rect">
            <a:avLst/>
          </a:prstGeom>
          <a:noFill/>
          <a:ln/>
        </p:spPr>
        <p:txBody>
          <a:bodyPr wrap="square" rtlCol="0" anchor="ctr"/>
          <a:lstStyle/>
          <a:p>
            <a:pPr marL="0" indent="0" algn="ctr">
              <a:buNone/>
            </a:pPr>
            <a:r>
              <a:rPr lang="en-US" sz="1000" b="1" dirty="0">
                <a:solidFill>
                  <a:srgbClr val="0F172A"/>
                </a:solidFill>
              </a:rPr>
              <a:t>2</a:t>
            </a:r>
            <a:endParaRPr lang="en-US" sz="1000" dirty="0"/>
          </a:p>
        </p:txBody>
      </p:sp>
      <p:sp>
        <p:nvSpPr>
          <p:cNvPr id="11" name="Shape 8"/>
          <p:cNvSpPr/>
          <p:nvPr/>
        </p:nvSpPr>
        <p:spPr>
          <a:xfrm>
            <a:off x="789456" y="824533"/>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2" name="Text 9"/>
          <p:cNvSpPr/>
          <p:nvPr/>
        </p:nvSpPr>
        <p:spPr>
          <a:xfrm>
            <a:off x="789456" y="824533"/>
            <a:ext cx="274320" cy="274320"/>
          </a:xfrm>
          <a:prstGeom prst="rect">
            <a:avLst/>
          </a:prstGeom>
          <a:noFill/>
          <a:ln/>
        </p:spPr>
        <p:txBody>
          <a:bodyPr wrap="square" rtlCol="0" anchor="ctr"/>
          <a:lstStyle/>
          <a:p>
            <a:pPr marL="0" indent="0" algn="ctr">
              <a:buNone/>
            </a:pPr>
            <a:r>
              <a:rPr lang="en-US" sz="1000" b="1" dirty="0">
                <a:solidFill>
                  <a:srgbClr val="0F172A"/>
                </a:solidFill>
              </a:rPr>
              <a:t>3</a:t>
            </a:r>
            <a:endParaRPr lang="en-US" sz="1000" dirty="0"/>
          </a:p>
        </p:txBody>
      </p:sp>
      <p:sp>
        <p:nvSpPr>
          <p:cNvPr id="13" name="Shape 10"/>
          <p:cNvSpPr/>
          <p:nvPr/>
        </p:nvSpPr>
        <p:spPr>
          <a:xfrm>
            <a:off x="789456" y="1053718"/>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4" name="Text 11"/>
          <p:cNvSpPr/>
          <p:nvPr/>
        </p:nvSpPr>
        <p:spPr>
          <a:xfrm>
            <a:off x="789456" y="1053718"/>
            <a:ext cx="274320" cy="274320"/>
          </a:xfrm>
          <a:prstGeom prst="rect">
            <a:avLst/>
          </a:prstGeom>
          <a:noFill/>
          <a:ln/>
        </p:spPr>
        <p:txBody>
          <a:bodyPr wrap="square" rtlCol="0" anchor="ctr"/>
          <a:lstStyle/>
          <a:p>
            <a:pPr marL="0" indent="0" algn="ctr">
              <a:buNone/>
            </a:pPr>
            <a:r>
              <a:rPr lang="en-US" sz="1000" b="1" dirty="0">
                <a:solidFill>
                  <a:srgbClr val="0F172A"/>
                </a:solidFill>
              </a:rPr>
              <a:t>4</a:t>
            </a:r>
            <a:endParaRPr lang="en-US" sz="1000" dirty="0"/>
          </a:p>
        </p:txBody>
      </p:sp>
      <p:sp>
        <p:nvSpPr>
          <p:cNvPr id="15" name="Shape 12"/>
          <p:cNvSpPr/>
          <p:nvPr/>
        </p:nvSpPr>
        <p:spPr>
          <a:xfrm>
            <a:off x="789456" y="1556162"/>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6" name="Text 13"/>
          <p:cNvSpPr/>
          <p:nvPr/>
        </p:nvSpPr>
        <p:spPr>
          <a:xfrm>
            <a:off x="789456" y="1556162"/>
            <a:ext cx="274320" cy="274320"/>
          </a:xfrm>
          <a:prstGeom prst="rect">
            <a:avLst/>
          </a:prstGeom>
          <a:noFill/>
          <a:ln/>
        </p:spPr>
        <p:txBody>
          <a:bodyPr wrap="square" rtlCol="0" anchor="ctr"/>
          <a:lstStyle/>
          <a:p>
            <a:pPr marL="0" indent="0" algn="ctr">
              <a:buNone/>
            </a:pPr>
            <a:r>
              <a:rPr lang="en-US" sz="1000" b="1" dirty="0">
                <a:solidFill>
                  <a:srgbClr val="0F172A"/>
                </a:solidFill>
              </a:rPr>
              <a:t>5</a:t>
            </a:r>
            <a:endParaRPr lang="en-US" sz="1000" dirty="0"/>
          </a:p>
        </p:txBody>
      </p:sp>
      <p:sp>
        <p:nvSpPr>
          <p:cNvPr id="17" name="Shape 14"/>
          <p:cNvSpPr/>
          <p:nvPr/>
        </p:nvSpPr>
        <p:spPr>
          <a:xfrm>
            <a:off x="789456" y="1996903"/>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8" name="Text 15"/>
          <p:cNvSpPr/>
          <p:nvPr/>
        </p:nvSpPr>
        <p:spPr>
          <a:xfrm>
            <a:off x="789456" y="1996903"/>
            <a:ext cx="274320" cy="274320"/>
          </a:xfrm>
          <a:prstGeom prst="rect">
            <a:avLst/>
          </a:prstGeom>
          <a:noFill/>
          <a:ln/>
        </p:spPr>
        <p:txBody>
          <a:bodyPr wrap="square" rtlCol="0" anchor="ctr"/>
          <a:lstStyle/>
          <a:p>
            <a:pPr marL="0" indent="0" algn="ctr">
              <a:buNone/>
            </a:pPr>
            <a:r>
              <a:rPr lang="en-US" sz="1000" b="1" dirty="0">
                <a:solidFill>
                  <a:srgbClr val="0F172A"/>
                </a:solidFill>
              </a:rPr>
              <a:t>6</a:t>
            </a:r>
            <a:endParaRPr lang="en-US" sz="1000" dirty="0"/>
          </a:p>
        </p:txBody>
      </p:sp>
      <p:sp>
        <p:nvSpPr>
          <p:cNvPr id="19" name="Shape 16"/>
          <p:cNvSpPr/>
          <p:nvPr/>
        </p:nvSpPr>
        <p:spPr>
          <a:xfrm>
            <a:off x="789456" y="2296607"/>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0" name="Text 17"/>
          <p:cNvSpPr/>
          <p:nvPr/>
        </p:nvSpPr>
        <p:spPr>
          <a:xfrm>
            <a:off x="789456" y="2296607"/>
            <a:ext cx="274320" cy="274320"/>
          </a:xfrm>
          <a:prstGeom prst="rect">
            <a:avLst/>
          </a:prstGeom>
          <a:noFill/>
          <a:ln/>
        </p:spPr>
        <p:txBody>
          <a:bodyPr wrap="square" rtlCol="0" anchor="ctr"/>
          <a:lstStyle/>
          <a:p>
            <a:pPr marL="0" indent="0" algn="ctr">
              <a:buNone/>
            </a:pPr>
            <a:r>
              <a:rPr lang="en-US" sz="1000" b="1" dirty="0">
                <a:solidFill>
                  <a:srgbClr val="0F172A"/>
                </a:solidFill>
              </a:rPr>
              <a:t>7</a:t>
            </a:r>
            <a:endParaRPr lang="en-US" sz="1000" dirty="0"/>
          </a:p>
        </p:txBody>
      </p:sp>
      <p:sp>
        <p:nvSpPr>
          <p:cNvPr id="21" name="Shape 18"/>
          <p:cNvSpPr/>
          <p:nvPr/>
        </p:nvSpPr>
        <p:spPr>
          <a:xfrm>
            <a:off x="789456" y="3019422"/>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2" name="Text 19"/>
          <p:cNvSpPr/>
          <p:nvPr/>
        </p:nvSpPr>
        <p:spPr>
          <a:xfrm>
            <a:off x="789456" y="3019422"/>
            <a:ext cx="274320" cy="274320"/>
          </a:xfrm>
          <a:prstGeom prst="rect">
            <a:avLst/>
          </a:prstGeom>
          <a:noFill/>
          <a:ln/>
        </p:spPr>
        <p:txBody>
          <a:bodyPr wrap="square" rtlCol="0" anchor="ctr"/>
          <a:lstStyle/>
          <a:p>
            <a:pPr marL="0" indent="0" algn="ctr">
              <a:buNone/>
            </a:pPr>
            <a:r>
              <a:rPr lang="en-US" sz="1000" b="1" dirty="0">
                <a:solidFill>
                  <a:srgbClr val="0F172A"/>
                </a:solidFill>
              </a:rPr>
              <a:t>8</a:t>
            </a:r>
            <a:endParaRPr lang="en-US" sz="1000" dirty="0"/>
          </a:p>
        </p:txBody>
      </p:sp>
      <p:sp>
        <p:nvSpPr>
          <p:cNvPr id="23" name="Shape 20"/>
          <p:cNvSpPr/>
          <p:nvPr/>
        </p:nvSpPr>
        <p:spPr>
          <a:xfrm>
            <a:off x="789456" y="3759866"/>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4" name="Text 21"/>
          <p:cNvSpPr/>
          <p:nvPr/>
        </p:nvSpPr>
        <p:spPr>
          <a:xfrm>
            <a:off x="789456" y="3759866"/>
            <a:ext cx="274320" cy="274320"/>
          </a:xfrm>
          <a:prstGeom prst="rect">
            <a:avLst/>
          </a:prstGeom>
          <a:noFill/>
          <a:ln/>
        </p:spPr>
        <p:txBody>
          <a:bodyPr wrap="square" rtlCol="0" anchor="ctr"/>
          <a:lstStyle/>
          <a:p>
            <a:pPr marL="0" indent="0" algn="ctr">
              <a:buNone/>
            </a:pPr>
            <a:r>
              <a:rPr lang="en-US" sz="1000" b="1" dirty="0">
                <a:solidFill>
                  <a:srgbClr val="0F172A"/>
                </a:solidFill>
              </a:rPr>
              <a:t>9</a:t>
            </a:r>
            <a:endParaRPr lang="en-US" sz="1000" dirty="0"/>
          </a:p>
        </p:txBody>
      </p:sp>
      <p:sp>
        <p:nvSpPr>
          <p:cNvPr id="25" name="Shape 22"/>
          <p:cNvSpPr/>
          <p:nvPr/>
        </p:nvSpPr>
        <p:spPr>
          <a:xfrm>
            <a:off x="789456" y="4235867"/>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6" name="Text 23"/>
          <p:cNvSpPr/>
          <p:nvPr/>
        </p:nvSpPr>
        <p:spPr>
          <a:xfrm>
            <a:off x="789456" y="4235867"/>
            <a:ext cx="274320" cy="274320"/>
          </a:xfrm>
          <a:prstGeom prst="rect">
            <a:avLst/>
          </a:prstGeom>
          <a:noFill/>
          <a:ln/>
        </p:spPr>
        <p:txBody>
          <a:bodyPr wrap="square" rtlCol="0" anchor="ctr"/>
          <a:lstStyle/>
          <a:p>
            <a:pPr marL="0" indent="0" algn="ctr">
              <a:buNone/>
            </a:pPr>
            <a:r>
              <a:rPr lang="en-US" sz="1000" b="1" dirty="0">
                <a:solidFill>
                  <a:srgbClr val="0F172A"/>
                </a:solidFill>
              </a:rPr>
              <a:t>10</a:t>
            </a:r>
            <a:endParaRPr lang="en-US" sz="1000" dirty="0"/>
          </a:p>
        </p:txBody>
      </p:sp>
      <p:sp>
        <p:nvSpPr>
          <p:cNvPr id="27" name="Shape 24"/>
          <p:cNvSpPr/>
          <p:nvPr/>
        </p:nvSpPr>
        <p:spPr>
          <a:xfrm>
            <a:off x="6830568" y="576072"/>
            <a:ext cx="2267712" cy="5120640"/>
          </a:xfrm>
          <a:prstGeom prst="roundRect">
            <a:avLst/>
          </a:prstGeom>
          <a:solidFill>
            <a:srgbClr val="1E3A5F"/>
          </a:solidFill>
          <a:ln w="12700">
            <a:solidFill>
              <a:srgbClr val="1E3A5F"/>
            </a:solidFill>
            <a:prstDash val="solid"/>
          </a:ln>
        </p:spPr>
        <p:txBody>
          <a:bodyPr/>
          <a:lstStyle/>
          <a:p>
            <a:endParaRPr lang="en-US"/>
          </a:p>
        </p:txBody>
      </p:sp>
      <p:sp>
        <p:nvSpPr>
          <p:cNvPr id="28" name="Shape 25"/>
          <p:cNvSpPr/>
          <p:nvPr/>
        </p:nvSpPr>
        <p:spPr>
          <a:xfrm>
            <a:off x="6876288" y="658368"/>
            <a:ext cx="237744" cy="237744"/>
          </a:xfrm>
          <a:prstGeom prst="ellipse">
            <a:avLst/>
          </a:prstGeom>
          <a:solidFill>
            <a:srgbClr val="F59E0B"/>
          </a:solidFill>
          <a:ln w="12700">
            <a:solidFill>
              <a:srgbClr val="1E3A5F"/>
            </a:solidFill>
            <a:prstDash val="solid"/>
          </a:ln>
        </p:spPr>
        <p:txBody>
          <a:bodyPr/>
          <a:lstStyle/>
          <a:p>
            <a:endParaRPr lang="en-US"/>
          </a:p>
        </p:txBody>
      </p:sp>
      <p:sp>
        <p:nvSpPr>
          <p:cNvPr id="29" name="Text 26"/>
          <p:cNvSpPr/>
          <p:nvPr/>
        </p:nvSpPr>
        <p:spPr>
          <a:xfrm>
            <a:off x="6876288" y="658368"/>
            <a:ext cx="237744" cy="237744"/>
          </a:xfrm>
          <a:prstGeom prst="rect">
            <a:avLst/>
          </a:prstGeom>
          <a:noFill/>
          <a:ln/>
        </p:spPr>
        <p:txBody>
          <a:bodyPr wrap="square" rtlCol="0" anchor="ctr"/>
          <a:lstStyle/>
          <a:p>
            <a:pPr marL="0" indent="0" algn="ctr">
              <a:buNone/>
            </a:pPr>
            <a:r>
              <a:rPr lang="en-US" sz="800" b="1" dirty="0">
                <a:solidFill>
                  <a:srgbClr val="0F172A"/>
                </a:solidFill>
              </a:rPr>
              <a:t>1</a:t>
            </a:r>
            <a:endParaRPr lang="en-US" sz="800" dirty="0"/>
          </a:p>
        </p:txBody>
      </p:sp>
      <p:sp>
        <p:nvSpPr>
          <p:cNvPr id="30" name="Text 27"/>
          <p:cNvSpPr/>
          <p:nvPr/>
        </p:nvSpPr>
        <p:spPr>
          <a:xfrm>
            <a:off x="7178040" y="649224"/>
            <a:ext cx="1828800" cy="201168"/>
          </a:xfrm>
          <a:prstGeom prst="rect">
            <a:avLst/>
          </a:prstGeom>
          <a:noFill/>
          <a:ln/>
        </p:spPr>
        <p:txBody>
          <a:bodyPr wrap="square" rtlCol="0" anchor="ctr"/>
          <a:lstStyle/>
          <a:p>
            <a:pPr marL="0" indent="0">
              <a:buNone/>
            </a:pPr>
            <a:r>
              <a:rPr lang="en-US" sz="850" b="1" dirty="0">
                <a:solidFill>
                  <a:srgbClr val="FFFFFF"/>
                </a:solidFill>
              </a:rPr>
              <a:t>Draft Header</a:t>
            </a:r>
            <a:endParaRPr lang="en-US" sz="850" dirty="0"/>
          </a:p>
        </p:txBody>
      </p:sp>
      <p:sp>
        <p:nvSpPr>
          <p:cNvPr id="31" name="Text 28"/>
          <p:cNvSpPr/>
          <p:nvPr/>
        </p:nvSpPr>
        <p:spPr>
          <a:xfrm>
            <a:off x="7178040" y="850392"/>
            <a:ext cx="1828800" cy="201168"/>
          </a:xfrm>
          <a:prstGeom prst="rect">
            <a:avLst/>
          </a:prstGeom>
          <a:noFill/>
          <a:ln/>
        </p:spPr>
        <p:txBody>
          <a:bodyPr wrap="square" rtlCol="0" anchor="ctr"/>
          <a:lstStyle/>
          <a:p>
            <a:pPr marL="0" indent="0">
              <a:buNone/>
            </a:pPr>
            <a:r>
              <a:rPr lang="en-US" sz="700" dirty="0">
                <a:solidFill>
                  <a:srgbClr val="94A3B8"/>
                </a:solidFill>
              </a:rPr>
              <a:t>Diary date, project, shift context</a:t>
            </a:r>
            <a:endParaRPr lang="en-US" sz="700" dirty="0"/>
          </a:p>
        </p:txBody>
      </p:sp>
      <p:sp>
        <p:nvSpPr>
          <p:cNvPr id="32" name="Shape 29"/>
          <p:cNvSpPr/>
          <p:nvPr/>
        </p:nvSpPr>
        <p:spPr>
          <a:xfrm>
            <a:off x="6876288" y="1152144"/>
            <a:ext cx="237744" cy="237744"/>
          </a:xfrm>
          <a:prstGeom prst="ellipse">
            <a:avLst/>
          </a:prstGeom>
          <a:solidFill>
            <a:srgbClr val="F59E0B"/>
          </a:solidFill>
          <a:ln w="12700">
            <a:solidFill>
              <a:srgbClr val="1E3A5F"/>
            </a:solidFill>
            <a:prstDash val="solid"/>
          </a:ln>
        </p:spPr>
        <p:txBody>
          <a:bodyPr/>
          <a:lstStyle/>
          <a:p>
            <a:endParaRPr lang="en-US"/>
          </a:p>
        </p:txBody>
      </p:sp>
      <p:sp>
        <p:nvSpPr>
          <p:cNvPr id="33" name="Text 30"/>
          <p:cNvSpPr/>
          <p:nvPr/>
        </p:nvSpPr>
        <p:spPr>
          <a:xfrm>
            <a:off x="6876288" y="1152144"/>
            <a:ext cx="237744" cy="237744"/>
          </a:xfrm>
          <a:prstGeom prst="rect">
            <a:avLst/>
          </a:prstGeom>
          <a:noFill/>
          <a:ln/>
        </p:spPr>
        <p:txBody>
          <a:bodyPr wrap="square" rtlCol="0" anchor="ctr"/>
          <a:lstStyle/>
          <a:p>
            <a:pPr marL="0" indent="0" algn="ctr">
              <a:buNone/>
            </a:pPr>
            <a:r>
              <a:rPr lang="en-US" sz="800" b="1" dirty="0">
                <a:solidFill>
                  <a:srgbClr val="0F172A"/>
                </a:solidFill>
              </a:rPr>
              <a:t>2</a:t>
            </a:r>
            <a:endParaRPr lang="en-US" sz="800" dirty="0"/>
          </a:p>
        </p:txBody>
      </p:sp>
      <p:sp>
        <p:nvSpPr>
          <p:cNvPr id="34" name="Text 31"/>
          <p:cNvSpPr/>
          <p:nvPr/>
        </p:nvSpPr>
        <p:spPr>
          <a:xfrm>
            <a:off x="7178040" y="1143000"/>
            <a:ext cx="1828800" cy="201168"/>
          </a:xfrm>
          <a:prstGeom prst="rect">
            <a:avLst/>
          </a:prstGeom>
          <a:noFill/>
          <a:ln/>
        </p:spPr>
        <p:txBody>
          <a:bodyPr wrap="square" rtlCol="0" anchor="ctr"/>
          <a:lstStyle/>
          <a:p>
            <a:pPr marL="0" indent="0">
              <a:buNone/>
            </a:pPr>
            <a:r>
              <a:rPr lang="en-US" sz="850" b="1" dirty="0">
                <a:solidFill>
                  <a:srgbClr val="FFFFFF"/>
                </a:solidFill>
              </a:rPr>
              <a:t>Sessions</a:t>
            </a:r>
            <a:endParaRPr lang="en-US" sz="850" dirty="0"/>
          </a:p>
        </p:txBody>
      </p:sp>
      <p:sp>
        <p:nvSpPr>
          <p:cNvPr id="35" name="Text 32"/>
          <p:cNvSpPr/>
          <p:nvPr/>
        </p:nvSpPr>
        <p:spPr>
          <a:xfrm>
            <a:off x="7178040" y="1344168"/>
            <a:ext cx="1828800" cy="201168"/>
          </a:xfrm>
          <a:prstGeom prst="rect">
            <a:avLst/>
          </a:prstGeom>
          <a:noFill/>
          <a:ln/>
        </p:spPr>
        <p:txBody>
          <a:bodyPr wrap="square" rtlCol="0" anchor="ctr"/>
          <a:lstStyle/>
          <a:p>
            <a:pPr marL="0" indent="0">
              <a:buNone/>
            </a:pPr>
            <a:r>
              <a:rPr lang="en-US" sz="700" dirty="0">
                <a:solidFill>
                  <a:srgbClr val="94A3B8"/>
                </a:solidFill>
              </a:rPr>
              <a:t>Active sessions, time left to submit</a:t>
            </a:r>
            <a:endParaRPr lang="en-US" sz="700" dirty="0"/>
          </a:p>
        </p:txBody>
      </p:sp>
      <p:sp>
        <p:nvSpPr>
          <p:cNvPr id="36" name="Shape 33"/>
          <p:cNvSpPr/>
          <p:nvPr/>
        </p:nvSpPr>
        <p:spPr>
          <a:xfrm>
            <a:off x="6876288" y="1645920"/>
            <a:ext cx="237744" cy="237744"/>
          </a:xfrm>
          <a:prstGeom prst="ellipse">
            <a:avLst/>
          </a:prstGeom>
          <a:solidFill>
            <a:srgbClr val="F59E0B"/>
          </a:solidFill>
          <a:ln w="12700">
            <a:solidFill>
              <a:srgbClr val="1E3A5F"/>
            </a:solidFill>
            <a:prstDash val="solid"/>
          </a:ln>
        </p:spPr>
        <p:txBody>
          <a:bodyPr/>
          <a:lstStyle/>
          <a:p>
            <a:endParaRPr lang="en-US"/>
          </a:p>
        </p:txBody>
      </p:sp>
      <p:sp>
        <p:nvSpPr>
          <p:cNvPr id="37" name="Text 34"/>
          <p:cNvSpPr/>
          <p:nvPr/>
        </p:nvSpPr>
        <p:spPr>
          <a:xfrm>
            <a:off x="6876288" y="1645920"/>
            <a:ext cx="237744" cy="237744"/>
          </a:xfrm>
          <a:prstGeom prst="rect">
            <a:avLst/>
          </a:prstGeom>
          <a:noFill/>
          <a:ln/>
        </p:spPr>
        <p:txBody>
          <a:bodyPr wrap="square" rtlCol="0" anchor="ctr"/>
          <a:lstStyle/>
          <a:p>
            <a:pPr marL="0" indent="0" algn="ctr">
              <a:buNone/>
            </a:pPr>
            <a:r>
              <a:rPr lang="en-US" sz="800" b="1" dirty="0">
                <a:solidFill>
                  <a:srgbClr val="0F172A"/>
                </a:solidFill>
              </a:rPr>
              <a:t>3</a:t>
            </a:r>
            <a:endParaRPr lang="en-US" sz="800" dirty="0"/>
          </a:p>
        </p:txBody>
      </p:sp>
      <p:sp>
        <p:nvSpPr>
          <p:cNvPr id="38" name="Text 35"/>
          <p:cNvSpPr/>
          <p:nvPr/>
        </p:nvSpPr>
        <p:spPr>
          <a:xfrm>
            <a:off x="7178040" y="1636776"/>
            <a:ext cx="1828800" cy="201168"/>
          </a:xfrm>
          <a:prstGeom prst="rect">
            <a:avLst/>
          </a:prstGeom>
          <a:noFill/>
          <a:ln/>
        </p:spPr>
        <p:txBody>
          <a:bodyPr wrap="square" rtlCol="0" anchor="ctr"/>
          <a:lstStyle/>
          <a:p>
            <a:pPr marL="0" indent="0">
              <a:buNone/>
            </a:pPr>
            <a:r>
              <a:rPr lang="en-US" sz="850" b="1" dirty="0">
                <a:solidFill>
                  <a:srgbClr val="FFFFFF"/>
                </a:solidFill>
              </a:rPr>
              <a:t>Incidents Counter</a:t>
            </a:r>
            <a:endParaRPr lang="en-US" sz="850" dirty="0"/>
          </a:p>
        </p:txBody>
      </p:sp>
      <p:sp>
        <p:nvSpPr>
          <p:cNvPr id="39" name="Text 36"/>
          <p:cNvSpPr/>
          <p:nvPr/>
        </p:nvSpPr>
        <p:spPr>
          <a:xfrm>
            <a:off x="7178040" y="1837944"/>
            <a:ext cx="1828800" cy="201168"/>
          </a:xfrm>
          <a:prstGeom prst="rect">
            <a:avLst/>
          </a:prstGeom>
          <a:noFill/>
          <a:ln/>
        </p:spPr>
        <p:txBody>
          <a:bodyPr wrap="square" rtlCol="0" anchor="ctr"/>
          <a:lstStyle/>
          <a:p>
            <a:pPr marL="0" indent="0">
              <a:buNone/>
            </a:pPr>
            <a:r>
              <a:rPr lang="en-US" sz="700" dirty="0">
                <a:solidFill>
                  <a:srgbClr val="94A3B8"/>
                </a:solidFill>
              </a:rPr>
              <a:t>+/- count of incidents this shift</a:t>
            </a:r>
            <a:endParaRPr lang="en-US" sz="700" dirty="0"/>
          </a:p>
        </p:txBody>
      </p:sp>
      <p:sp>
        <p:nvSpPr>
          <p:cNvPr id="40" name="Shape 37"/>
          <p:cNvSpPr/>
          <p:nvPr/>
        </p:nvSpPr>
        <p:spPr>
          <a:xfrm>
            <a:off x="6876288" y="2139696"/>
            <a:ext cx="237744" cy="237744"/>
          </a:xfrm>
          <a:prstGeom prst="ellipse">
            <a:avLst/>
          </a:prstGeom>
          <a:solidFill>
            <a:srgbClr val="F59E0B"/>
          </a:solidFill>
          <a:ln w="12700">
            <a:solidFill>
              <a:srgbClr val="1E3A5F"/>
            </a:solidFill>
            <a:prstDash val="solid"/>
          </a:ln>
        </p:spPr>
        <p:txBody>
          <a:bodyPr/>
          <a:lstStyle/>
          <a:p>
            <a:endParaRPr lang="en-US"/>
          </a:p>
        </p:txBody>
      </p:sp>
      <p:sp>
        <p:nvSpPr>
          <p:cNvPr id="41" name="Text 38"/>
          <p:cNvSpPr/>
          <p:nvPr/>
        </p:nvSpPr>
        <p:spPr>
          <a:xfrm>
            <a:off x="6876288" y="2139696"/>
            <a:ext cx="237744" cy="237744"/>
          </a:xfrm>
          <a:prstGeom prst="rect">
            <a:avLst/>
          </a:prstGeom>
          <a:noFill/>
          <a:ln/>
        </p:spPr>
        <p:txBody>
          <a:bodyPr wrap="square" rtlCol="0" anchor="ctr"/>
          <a:lstStyle/>
          <a:p>
            <a:pPr marL="0" indent="0" algn="ctr">
              <a:buNone/>
            </a:pPr>
            <a:r>
              <a:rPr lang="en-US" sz="800" b="1" dirty="0">
                <a:solidFill>
                  <a:srgbClr val="0F172A"/>
                </a:solidFill>
              </a:rPr>
              <a:t>4</a:t>
            </a:r>
            <a:endParaRPr lang="en-US" sz="800" dirty="0"/>
          </a:p>
        </p:txBody>
      </p:sp>
      <p:sp>
        <p:nvSpPr>
          <p:cNvPr id="42" name="Text 39"/>
          <p:cNvSpPr/>
          <p:nvPr/>
        </p:nvSpPr>
        <p:spPr>
          <a:xfrm>
            <a:off x="7178040" y="2130552"/>
            <a:ext cx="1828800" cy="201168"/>
          </a:xfrm>
          <a:prstGeom prst="rect">
            <a:avLst/>
          </a:prstGeom>
          <a:noFill/>
          <a:ln/>
        </p:spPr>
        <p:txBody>
          <a:bodyPr wrap="square" rtlCol="0" anchor="ctr"/>
          <a:lstStyle/>
          <a:p>
            <a:pPr marL="0" indent="0">
              <a:buNone/>
            </a:pPr>
            <a:r>
              <a:rPr lang="en-US" sz="850" b="1" dirty="0">
                <a:solidFill>
                  <a:srgbClr val="FFFFFF"/>
                </a:solidFill>
              </a:rPr>
              <a:t>Incident Detail</a:t>
            </a:r>
            <a:endParaRPr lang="en-US" sz="850" dirty="0"/>
          </a:p>
        </p:txBody>
      </p:sp>
      <p:sp>
        <p:nvSpPr>
          <p:cNvPr id="43" name="Text 40"/>
          <p:cNvSpPr/>
          <p:nvPr/>
        </p:nvSpPr>
        <p:spPr>
          <a:xfrm>
            <a:off x="7178040" y="2331720"/>
            <a:ext cx="1828800" cy="201168"/>
          </a:xfrm>
          <a:prstGeom prst="rect">
            <a:avLst/>
          </a:prstGeom>
          <a:noFill/>
          <a:ln/>
        </p:spPr>
        <p:txBody>
          <a:bodyPr wrap="square" rtlCol="0" anchor="ctr"/>
          <a:lstStyle/>
          <a:p>
            <a:pPr marL="0" indent="0">
              <a:buNone/>
            </a:pPr>
            <a:r>
              <a:rPr lang="en-US" sz="700" dirty="0">
                <a:solidFill>
                  <a:srgbClr val="94A3B8"/>
                </a:solidFill>
              </a:rPr>
              <a:t>Source, severity, SNOW ticket, status</a:t>
            </a:r>
            <a:endParaRPr lang="en-US" sz="700" dirty="0"/>
          </a:p>
        </p:txBody>
      </p:sp>
      <p:sp>
        <p:nvSpPr>
          <p:cNvPr id="44" name="Shape 41"/>
          <p:cNvSpPr/>
          <p:nvPr/>
        </p:nvSpPr>
        <p:spPr>
          <a:xfrm>
            <a:off x="6876288" y="2633472"/>
            <a:ext cx="237744" cy="237744"/>
          </a:xfrm>
          <a:prstGeom prst="ellipse">
            <a:avLst/>
          </a:prstGeom>
          <a:solidFill>
            <a:srgbClr val="F59E0B"/>
          </a:solidFill>
          <a:ln w="12700">
            <a:solidFill>
              <a:srgbClr val="1E3A5F"/>
            </a:solidFill>
            <a:prstDash val="solid"/>
          </a:ln>
        </p:spPr>
        <p:txBody>
          <a:bodyPr/>
          <a:lstStyle/>
          <a:p>
            <a:endParaRPr lang="en-US"/>
          </a:p>
        </p:txBody>
      </p:sp>
      <p:sp>
        <p:nvSpPr>
          <p:cNvPr id="45" name="Text 42"/>
          <p:cNvSpPr/>
          <p:nvPr/>
        </p:nvSpPr>
        <p:spPr>
          <a:xfrm>
            <a:off x="6876288" y="2633472"/>
            <a:ext cx="237744" cy="237744"/>
          </a:xfrm>
          <a:prstGeom prst="rect">
            <a:avLst/>
          </a:prstGeom>
          <a:noFill/>
          <a:ln/>
        </p:spPr>
        <p:txBody>
          <a:bodyPr wrap="square" rtlCol="0" anchor="ctr"/>
          <a:lstStyle/>
          <a:p>
            <a:pPr marL="0" indent="0" algn="ctr">
              <a:buNone/>
            </a:pPr>
            <a:r>
              <a:rPr lang="en-US" sz="800" b="1" dirty="0">
                <a:solidFill>
                  <a:srgbClr val="0F172A"/>
                </a:solidFill>
              </a:rPr>
              <a:t>5</a:t>
            </a:r>
            <a:endParaRPr lang="en-US" sz="800" dirty="0"/>
          </a:p>
        </p:txBody>
      </p:sp>
      <p:sp>
        <p:nvSpPr>
          <p:cNvPr id="46" name="Text 43"/>
          <p:cNvSpPr/>
          <p:nvPr/>
        </p:nvSpPr>
        <p:spPr>
          <a:xfrm>
            <a:off x="7178040" y="2624328"/>
            <a:ext cx="1828800" cy="201168"/>
          </a:xfrm>
          <a:prstGeom prst="rect">
            <a:avLst/>
          </a:prstGeom>
          <a:noFill/>
          <a:ln/>
        </p:spPr>
        <p:txBody>
          <a:bodyPr wrap="square" rtlCol="0" anchor="ctr"/>
          <a:lstStyle/>
          <a:p>
            <a:pPr marL="0" indent="0">
              <a:buNone/>
            </a:pPr>
            <a:r>
              <a:rPr lang="en-US" sz="850" b="1" dirty="0">
                <a:solidFill>
                  <a:srgbClr val="FFFFFF"/>
                </a:solidFill>
              </a:rPr>
              <a:t>2nd Incident</a:t>
            </a:r>
            <a:endParaRPr lang="en-US" sz="850" dirty="0"/>
          </a:p>
        </p:txBody>
      </p:sp>
      <p:sp>
        <p:nvSpPr>
          <p:cNvPr id="47" name="Text 44"/>
          <p:cNvSpPr/>
          <p:nvPr/>
        </p:nvSpPr>
        <p:spPr>
          <a:xfrm>
            <a:off x="7178040" y="2825496"/>
            <a:ext cx="1828800" cy="201168"/>
          </a:xfrm>
          <a:prstGeom prst="rect">
            <a:avLst/>
          </a:prstGeom>
          <a:noFill/>
          <a:ln/>
        </p:spPr>
        <p:txBody>
          <a:bodyPr wrap="square" rtlCol="0" anchor="ctr"/>
          <a:lstStyle/>
          <a:p>
            <a:pPr marL="0" indent="0">
              <a:buNone/>
            </a:pPr>
            <a:r>
              <a:rPr lang="en-US" sz="700" dirty="0">
                <a:solidFill>
                  <a:srgbClr val="94A3B8"/>
                </a:solidFill>
              </a:rPr>
              <a:t>Each incident structured + tagged</a:t>
            </a:r>
            <a:endParaRPr lang="en-US" sz="700" dirty="0"/>
          </a:p>
        </p:txBody>
      </p:sp>
      <p:sp>
        <p:nvSpPr>
          <p:cNvPr id="48" name="Shape 45"/>
          <p:cNvSpPr/>
          <p:nvPr/>
        </p:nvSpPr>
        <p:spPr>
          <a:xfrm>
            <a:off x="6876288" y="3127248"/>
            <a:ext cx="237744" cy="237744"/>
          </a:xfrm>
          <a:prstGeom prst="ellipse">
            <a:avLst/>
          </a:prstGeom>
          <a:solidFill>
            <a:srgbClr val="F59E0B"/>
          </a:solidFill>
          <a:ln w="12700">
            <a:solidFill>
              <a:srgbClr val="1E3A5F"/>
            </a:solidFill>
            <a:prstDash val="solid"/>
          </a:ln>
        </p:spPr>
        <p:txBody>
          <a:bodyPr/>
          <a:lstStyle/>
          <a:p>
            <a:endParaRPr lang="en-US"/>
          </a:p>
        </p:txBody>
      </p:sp>
      <p:sp>
        <p:nvSpPr>
          <p:cNvPr id="49" name="Text 46"/>
          <p:cNvSpPr/>
          <p:nvPr/>
        </p:nvSpPr>
        <p:spPr>
          <a:xfrm>
            <a:off x="6876288" y="3127248"/>
            <a:ext cx="237744" cy="237744"/>
          </a:xfrm>
          <a:prstGeom prst="rect">
            <a:avLst/>
          </a:prstGeom>
          <a:noFill/>
          <a:ln/>
        </p:spPr>
        <p:txBody>
          <a:bodyPr wrap="square" rtlCol="0" anchor="ctr"/>
          <a:lstStyle/>
          <a:p>
            <a:pPr marL="0" indent="0" algn="ctr">
              <a:buNone/>
            </a:pPr>
            <a:r>
              <a:rPr lang="en-US" sz="800" b="1" dirty="0">
                <a:solidFill>
                  <a:srgbClr val="0F172A"/>
                </a:solidFill>
              </a:rPr>
              <a:t>6</a:t>
            </a:r>
            <a:endParaRPr lang="en-US" sz="800" dirty="0"/>
          </a:p>
        </p:txBody>
      </p:sp>
      <p:sp>
        <p:nvSpPr>
          <p:cNvPr id="50" name="Text 47"/>
          <p:cNvSpPr/>
          <p:nvPr/>
        </p:nvSpPr>
        <p:spPr>
          <a:xfrm>
            <a:off x="7178040" y="3118104"/>
            <a:ext cx="1828800" cy="201168"/>
          </a:xfrm>
          <a:prstGeom prst="rect">
            <a:avLst/>
          </a:prstGeom>
          <a:noFill/>
          <a:ln/>
        </p:spPr>
        <p:txBody>
          <a:bodyPr wrap="square" rtlCol="0" anchor="ctr"/>
          <a:lstStyle/>
          <a:p>
            <a:pPr marL="0" indent="0">
              <a:buNone/>
            </a:pPr>
            <a:r>
              <a:rPr lang="en-US" sz="850" b="1" dirty="0">
                <a:solidFill>
                  <a:srgbClr val="FFFFFF"/>
                </a:solidFill>
              </a:rPr>
              <a:t>KT Progress</a:t>
            </a:r>
            <a:endParaRPr lang="en-US" sz="850" dirty="0"/>
          </a:p>
        </p:txBody>
      </p:sp>
      <p:sp>
        <p:nvSpPr>
          <p:cNvPr id="51" name="Text 48"/>
          <p:cNvSpPr/>
          <p:nvPr/>
        </p:nvSpPr>
        <p:spPr>
          <a:xfrm>
            <a:off x="7178040" y="3319272"/>
            <a:ext cx="1828800" cy="201168"/>
          </a:xfrm>
          <a:prstGeom prst="rect">
            <a:avLst/>
          </a:prstGeom>
          <a:noFill/>
          <a:ln/>
        </p:spPr>
        <p:txBody>
          <a:bodyPr wrap="square" rtlCol="0" anchor="ctr"/>
          <a:lstStyle/>
          <a:p>
            <a:pPr marL="0" indent="0">
              <a:buNone/>
            </a:pPr>
            <a:r>
              <a:rPr lang="en-US" sz="700" dirty="0">
                <a:solidFill>
                  <a:srgbClr val="94A3B8"/>
                </a:solidFill>
              </a:rPr>
              <a:t>Knowledge Transfer % with slider</a:t>
            </a:r>
            <a:endParaRPr lang="en-US" sz="700" dirty="0"/>
          </a:p>
        </p:txBody>
      </p:sp>
      <p:sp>
        <p:nvSpPr>
          <p:cNvPr id="52" name="Shape 49"/>
          <p:cNvSpPr/>
          <p:nvPr/>
        </p:nvSpPr>
        <p:spPr>
          <a:xfrm>
            <a:off x="6876288" y="3621024"/>
            <a:ext cx="237744" cy="237744"/>
          </a:xfrm>
          <a:prstGeom prst="ellipse">
            <a:avLst/>
          </a:prstGeom>
          <a:solidFill>
            <a:srgbClr val="F59E0B"/>
          </a:solidFill>
          <a:ln w="12700">
            <a:solidFill>
              <a:srgbClr val="1E3A5F"/>
            </a:solidFill>
            <a:prstDash val="solid"/>
          </a:ln>
        </p:spPr>
        <p:txBody>
          <a:bodyPr/>
          <a:lstStyle/>
          <a:p>
            <a:endParaRPr lang="en-US"/>
          </a:p>
        </p:txBody>
      </p:sp>
      <p:sp>
        <p:nvSpPr>
          <p:cNvPr id="53" name="Text 50"/>
          <p:cNvSpPr/>
          <p:nvPr/>
        </p:nvSpPr>
        <p:spPr>
          <a:xfrm>
            <a:off x="6876288" y="3621024"/>
            <a:ext cx="237744" cy="237744"/>
          </a:xfrm>
          <a:prstGeom prst="rect">
            <a:avLst/>
          </a:prstGeom>
          <a:noFill/>
          <a:ln/>
        </p:spPr>
        <p:txBody>
          <a:bodyPr wrap="square" rtlCol="0" anchor="ctr"/>
          <a:lstStyle/>
          <a:p>
            <a:pPr marL="0" indent="0" algn="ctr">
              <a:buNone/>
            </a:pPr>
            <a:r>
              <a:rPr lang="en-US" sz="800" b="1" dirty="0">
                <a:solidFill>
                  <a:srgbClr val="0F172A"/>
                </a:solidFill>
              </a:rPr>
              <a:t>7</a:t>
            </a:r>
            <a:endParaRPr lang="en-US" sz="800" dirty="0"/>
          </a:p>
        </p:txBody>
      </p:sp>
      <p:sp>
        <p:nvSpPr>
          <p:cNvPr id="54" name="Text 51"/>
          <p:cNvSpPr/>
          <p:nvPr/>
        </p:nvSpPr>
        <p:spPr>
          <a:xfrm>
            <a:off x="7178040" y="3611880"/>
            <a:ext cx="1828800" cy="201168"/>
          </a:xfrm>
          <a:prstGeom prst="rect">
            <a:avLst/>
          </a:prstGeom>
          <a:noFill/>
          <a:ln/>
        </p:spPr>
        <p:txBody>
          <a:bodyPr wrap="square" rtlCol="0" anchor="ctr"/>
          <a:lstStyle/>
          <a:p>
            <a:pPr marL="0" indent="0">
              <a:buNone/>
            </a:pPr>
            <a:r>
              <a:rPr lang="en-US" sz="850" b="1" dirty="0">
                <a:solidFill>
                  <a:srgbClr val="FFFFFF"/>
                </a:solidFill>
              </a:rPr>
              <a:t>KTLO Tasks</a:t>
            </a:r>
            <a:endParaRPr lang="en-US" sz="850" dirty="0"/>
          </a:p>
        </p:txBody>
      </p:sp>
      <p:sp>
        <p:nvSpPr>
          <p:cNvPr id="55" name="Text 52"/>
          <p:cNvSpPr/>
          <p:nvPr/>
        </p:nvSpPr>
        <p:spPr>
          <a:xfrm>
            <a:off x="7178040" y="3813048"/>
            <a:ext cx="1828800" cy="201168"/>
          </a:xfrm>
          <a:prstGeom prst="rect">
            <a:avLst/>
          </a:prstGeom>
          <a:noFill/>
          <a:ln/>
        </p:spPr>
        <p:txBody>
          <a:bodyPr wrap="square" rtlCol="0" anchor="ctr"/>
          <a:lstStyle/>
          <a:p>
            <a:pPr marL="0" indent="0">
              <a:buNone/>
            </a:pPr>
            <a:r>
              <a:rPr lang="en-US" sz="700" dirty="0">
                <a:solidFill>
                  <a:srgbClr val="94A3B8"/>
                </a:solidFill>
              </a:rPr>
              <a:t>Keep-The-Lights-On task checklist</a:t>
            </a:r>
            <a:endParaRPr lang="en-US" sz="700" dirty="0"/>
          </a:p>
        </p:txBody>
      </p:sp>
      <p:sp>
        <p:nvSpPr>
          <p:cNvPr id="56" name="Shape 53"/>
          <p:cNvSpPr/>
          <p:nvPr/>
        </p:nvSpPr>
        <p:spPr>
          <a:xfrm>
            <a:off x="6876288" y="4114800"/>
            <a:ext cx="237744" cy="237744"/>
          </a:xfrm>
          <a:prstGeom prst="ellipse">
            <a:avLst/>
          </a:prstGeom>
          <a:solidFill>
            <a:srgbClr val="F59E0B"/>
          </a:solidFill>
          <a:ln w="12700">
            <a:solidFill>
              <a:srgbClr val="1E3A5F"/>
            </a:solidFill>
            <a:prstDash val="solid"/>
          </a:ln>
        </p:spPr>
        <p:txBody>
          <a:bodyPr/>
          <a:lstStyle/>
          <a:p>
            <a:endParaRPr lang="en-US"/>
          </a:p>
        </p:txBody>
      </p:sp>
      <p:sp>
        <p:nvSpPr>
          <p:cNvPr id="57" name="Text 54"/>
          <p:cNvSpPr/>
          <p:nvPr/>
        </p:nvSpPr>
        <p:spPr>
          <a:xfrm>
            <a:off x="6876288" y="4114800"/>
            <a:ext cx="237744" cy="237744"/>
          </a:xfrm>
          <a:prstGeom prst="rect">
            <a:avLst/>
          </a:prstGeom>
          <a:noFill/>
          <a:ln/>
        </p:spPr>
        <p:txBody>
          <a:bodyPr wrap="square" rtlCol="0" anchor="ctr"/>
          <a:lstStyle/>
          <a:p>
            <a:pPr marL="0" indent="0" algn="ctr">
              <a:buNone/>
            </a:pPr>
            <a:r>
              <a:rPr lang="en-US" sz="800" b="1" dirty="0">
                <a:solidFill>
                  <a:srgbClr val="0F172A"/>
                </a:solidFill>
              </a:rPr>
              <a:t>8</a:t>
            </a:r>
            <a:endParaRPr lang="en-US" sz="800" dirty="0"/>
          </a:p>
        </p:txBody>
      </p:sp>
      <p:sp>
        <p:nvSpPr>
          <p:cNvPr id="58" name="Text 55"/>
          <p:cNvSpPr/>
          <p:nvPr/>
        </p:nvSpPr>
        <p:spPr>
          <a:xfrm>
            <a:off x="7178040" y="4105656"/>
            <a:ext cx="1828800" cy="201168"/>
          </a:xfrm>
          <a:prstGeom prst="rect">
            <a:avLst/>
          </a:prstGeom>
          <a:noFill/>
          <a:ln/>
        </p:spPr>
        <p:txBody>
          <a:bodyPr wrap="square" rtlCol="0" anchor="ctr"/>
          <a:lstStyle/>
          <a:p>
            <a:pPr marL="0" indent="0">
              <a:buNone/>
            </a:pPr>
            <a:r>
              <a:rPr lang="en-US" sz="850" b="1" dirty="0">
                <a:solidFill>
                  <a:srgbClr val="FFFFFF"/>
                </a:solidFill>
              </a:rPr>
              <a:t>New Tasks</a:t>
            </a:r>
            <a:endParaRPr lang="en-US" sz="850" dirty="0"/>
          </a:p>
        </p:txBody>
      </p:sp>
      <p:sp>
        <p:nvSpPr>
          <p:cNvPr id="59" name="Text 56"/>
          <p:cNvSpPr/>
          <p:nvPr/>
        </p:nvSpPr>
        <p:spPr>
          <a:xfrm>
            <a:off x="7178040" y="4306824"/>
            <a:ext cx="1828800" cy="201168"/>
          </a:xfrm>
          <a:prstGeom prst="rect">
            <a:avLst/>
          </a:prstGeom>
          <a:noFill/>
          <a:ln/>
        </p:spPr>
        <p:txBody>
          <a:bodyPr wrap="square" rtlCol="0" anchor="ctr"/>
          <a:lstStyle/>
          <a:p>
            <a:pPr marL="0" indent="0">
              <a:buNone/>
            </a:pPr>
            <a:r>
              <a:rPr lang="en-US" sz="700" dirty="0">
                <a:solidFill>
                  <a:srgbClr val="94A3B8"/>
                </a:solidFill>
              </a:rPr>
              <a:t>Tasks created this shift for follow-up</a:t>
            </a:r>
            <a:endParaRPr lang="en-US" sz="700" dirty="0"/>
          </a:p>
        </p:txBody>
      </p:sp>
      <p:sp>
        <p:nvSpPr>
          <p:cNvPr id="60" name="Shape 57"/>
          <p:cNvSpPr/>
          <p:nvPr/>
        </p:nvSpPr>
        <p:spPr>
          <a:xfrm>
            <a:off x="6876288" y="4608576"/>
            <a:ext cx="237744" cy="237744"/>
          </a:xfrm>
          <a:prstGeom prst="ellipse">
            <a:avLst/>
          </a:prstGeom>
          <a:solidFill>
            <a:srgbClr val="F59E0B"/>
          </a:solidFill>
          <a:ln w="12700">
            <a:solidFill>
              <a:srgbClr val="1E3A5F"/>
            </a:solidFill>
            <a:prstDash val="solid"/>
          </a:ln>
        </p:spPr>
        <p:txBody>
          <a:bodyPr/>
          <a:lstStyle/>
          <a:p>
            <a:endParaRPr lang="en-US"/>
          </a:p>
        </p:txBody>
      </p:sp>
      <p:sp>
        <p:nvSpPr>
          <p:cNvPr id="61" name="Text 58"/>
          <p:cNvSpPr/>
          <p:nvPr/>
        </p:nvSpPr>
        <p:spPr>
          <a:xfrm>
            <a:off x="6876288" y="4608576"/>
            <a:ext cx="237744" cy="237744"/>
          </a:xfrm>
          <a:prstGeom prst="rect">
            <a:avLst/>
          </a:prstGeom>
          <a:noFill/>
          <a:ln/>
        </p:spPr>
        <p:txBody>
          <a:bodyPr wrap="square" rtlCol="0" anchor="ctr"/>
          <a:lstStyle/>
          <a:p>
            <a:pPr marL="0" indent="0" algn="ctr">
              <a:buNone/>
            </a:pPr>
            <a:r>
              <a:rPr lang="en-US" sz="800" b="1" dirty="0">
                <a:solidFill>
                  <a:srgbClr val="0F172A"/>
                </a:solidFill>
              </a:rPr>
              <a:t>9</a:t>
            </a:r>
            <a:endParaRPr lang="en-US" sz="800" dirty="0"/>
          </a:p>
        </p:txBody>
      </p:sp>
      <p:sp>
        <p:nvSpPr>
          <p:cNvPr id="62" name="Text 59"/>
          <p:cNvSpPr/>
          <p:nvPr/>
        </p:nvSpPr>
        <p:spPr>
          <a:xfrm>
            <a:off x="7178040" y="4599432"/>
            <a:ext cx="1828800" cy="201168"/>
          </a:xfrm>
          <a:prstGeom prst="rect">
            <a:avLst/>
          </a:prstGeom>
          <a:noFill/>
          <a:ln/>
        </p:spPr>
        <p:txBody>
          <a:bodyPr wrap="square" rtlCol="0" anchor="ctr"/>
          <a:lstStyle/>
          <a:p>
            <a:pPr marL="0" indent="0">
              <a:buNone/>
            </a:pPr>
            <a:r>
              <a:rPr lang="en-US" sz="850" b="1" dirty="0">
                <a:solidFill>
                  <a:srgbClr val="FFFFFF"/>
                </a:solidFill>
              </a:rPr>
              <a:t>Blockers</a:t>
            </a:r>
            <a:endParaRPr lang="en-US" sz="850" dirty="0"/>
          </a:p>
        </p:txBody>
      </p:sp>
      <p:sp>
        <p:nvSpPr>
          <p:cNvPr id="63" name="Text 60"/>
          <p:cNvSpPr/>
          <p:nvPr/>
        </p:nvSpPr>
        <p:spPr>
          <a:xfrm>
            <a:off x="7178040" y="4800600"/>
            <a:ext cx="1828800" cy="201168"/>
          </a:xfrm>
          <a:prstGeom prst="rect">
            <a:avLst/>
          </a:prstGeom>
          <a:noFill/>
          <a:ln/>
        </p:spPr>
        <p:txBody>
          <a:bodyPr wrap="square" rtlCol="0" anchor="ctr"/>
          <a:lstStyle/>
          <a:p>
            <a:pPr marL="0" indent="0">
              <a:buNone/>
            </a:pPr>
            <a:r>
              <a:rPr lang="en-US" sz="700" dirty="0">
                <a:solidFill>
                  <a:srgbClr val="94A3B8"/>
                </a:solidFill>
              </a:rPr>
              <a:t>Flagged items for incoming shift</a:t>
            </a:r>
            <a:endParaRPr lang="en-US" sz="700" dirty="0"/>
          </a:p>
        </p:txBody>
      </p:sp>
      <p:sp>
        <p:nvSpPr>
          <p:cNvPr id="64" name="Shape 61"/>
          <p:cNvSpPr/>
          <p:nvPr/>
        </p:nvSpPr>
        <p:spPr>
          <a:xfrm>
            <a:off x="6876288" y="5102352"/>
            <a:ext cx="237744" cy="237744"/>
          </a:xfrm>
          <a:prstGeom prst="ellipse">
            <a:avLst/>
          </a:prstGeom>
          <a:solidFill>
            <a:srgbClr val="F59E0B"/>
          </a:solidFill>
          <a:ln w="12700">
            <a:solidFill>
              <a:srgbClr val="1E3A5F"/>
            </a:solidFill>
            <a:prstDash val="solid"/>
          </a:ln>
        </p:spPr>
        <p:txBody>
          <a:bodyPr/>
          <a:lstStyle/>
          <a:p>
            <a:endParaRPr lang="en-US"/>
          </a:p>
        </p:txBody>
      </p:sp>
      <p:sp>
        <p:nvSpPr>
          <p:cNvPr id="65" name="Text 62"/>
          <p:cNvSpPr/>
          <p:nvPr/>
        </p:nvSpPr>
        <p:spPr>
          <a:xfrm>
            <a:off x="6876288" y="5102352"/>
            <a:ext cx="237744" cy="237744"/>
          </a:xfrm>
          <a:prstGeom prst="rect">
            <a:avLst/>
          </a:prstGeom>
          <a:noFill/>
          <a:ln/>
        </p:spPr>
        <p:txBody>
          <a:bodyPr wrap="square" rtlCol="0" anchor="ctr"/>
          <a:lstStyle/>
          <a:p>
            <a:pPr marL="0" indent="0" algn="ctr">
              <a:buNone/>
            </a:pPr>
            <a:r>
              <a:rPr lang="en-US" sz="800" b="1" dirty="0">
                <a:solidFill>
                  <a:srgbClr val="0F172A"/>
                </a:solidFill>
              </a:rPr>
              <a:t>10</a:t>
            </a:r>
            <a:endParaRPr lang="en-US" sz="800" dirty="0"/>
          </a:p>
        </p:txBody>
      </p:sp>
      <p:sp>
        <p:nvSpPr>
          <p:cNvPr id="66" name="Text 63"/>
          <p:cNvSpPr/>
          <p:nvPr/>
        </p:nvSpPr>
        <p:spPr>
          <a:xfrm>
            <a:off x="7178040" y="5093208"/>
            <a:ext cx="1828800" cy="201168"/>
          </a:xfrm>
          <a:prstGeom prst="rect">
            <a:avLst/>
          </a:prstGeom>
          <a:noFill/>
          <a:ln/>
        </p:spPr>
        <p:txBody>
          <a:bodyPr wrap="square" rtlCol="0" anchor="ctr"/>
          <a:lstStyle/>
          <a:p>
            <a:pPr marL="0" indent="0">
              <a:buNone/>
            </a:pPr>
            <a:r>
              <a:rPr lang="en-US" sz="850" b="1" dirty="0">
                <a:solidFill>
                  <a:srgbClr val="FFFFFF"/>
                </a:solidFill>
              </a:rPr>
              <a:t>Submit Button</a:t>
            </a:r>
            <a:endParaRPr lang="en-US" sz="850" dirty="0"/>
          </a:p>
        </p:txBody>
      </p:sp>
      <p:sp>
        <p:nvSpPr>
          <p:cNvPr id="67" name="Text 64"/>
          <p:cNvSpPr/>
          <p:nvPr/>
        </p:nvSpPr>
        <p:spPr>
          <a:xfrm>
            <a:off x="7178040" y="5294376"/>
            <a:ext cx="1828800" cy="201168"/>
          </a:xfrm>
          <a:prstGeom prst="rect">
            <a:avLst/>
          </a:prstGeom>
          <a:noFill/>
          <a:ln/>
        </p:spPr>
        <p:txBody>
          <a:bodyPr wrap="square" rtlCol="0" anchor="ctr"/>
          <a:lstStyle/>
          <a:p>
            <a:pPr marL="0" indent="0">
              <a:buNone/>
            </a:pPr>
            <a:r>
              <a:rPr lang="en-US" sz="700" dirty="0">
                <a:solidFill>
                  <a:srgbClr val="94A3B8"/>
                </a:solidFill>
              </a:rPr>
              <a:t>Saves draft or submits to lead</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64008"/>
            <a:ext cx="6400800" cy="310896"/>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Roster Planner</a:t>
            </a:r>
            <a:endParaRPr lang="en-US" sz="1800" dirty="0"/>
          </a:p>
        </p:txBody>
      </p:sp>
      <p:sp>
        <p:nvSpPr>
          <p:cNvPr id="4" name="Text 2"/>
          <p:cNvSpPr/>
          <p:nvPr/>
        </p:nvSpPr>
        <p:spPr>
          <a:xfrm>
            <a:off x="274320" y="365760"/>
            <a:ext cx="6400800" cy="182880"/>
          </a:xfrm>
          <a:prstGeom prst="rect">
            <a:avLst/>
          </a:prstGeom>
          <a:noFill/>
          <a:ln/>
        </p:spPr>
        <p:txBody>
          <a:bodyPr wrap="square" rtlCol="0" anchor="ctr"/>
          <a:lstStyle/>
          <a:p>
            <a:pPr marL="0" indent="0">
              <a:buNone/>
            </a:pPr>
            <a:r>
              <a:rPr lang="en-US" sz="900" dirty="0">
                <a:solidFill>
                  <a:srgbClr val="94A3B8"/>
                </a:solidFill>
              </a:rPr>
              <a:t>Visual shift calendar across all projects — on-call indicators, holiday overlays, weekly and monthly views</a:t>
            </a:r>
            <a:endParaRPr lang="en-US" sz="900" dirty="0"/>
          </a:p>
        </p:txBody>
      </p:sp>
      <p:pic>
        <p:nvPicPr>
          <p:cNvPr id="5" name="Image 0" descr="/sessions/dazzling-bold-euler/mnt/shiftbuddy/screenshots/screencapture-shiftbuddy-brahmateja-dashboard-roster-2026-05-28-07_29_48.png"/>
          <p:cNvPicPr>
            <a:picLocks noChangeAspect="1"/>
          </p:cNvPicPr>
          <p:nvPr/>
        </p:nvPicPr>
        <p:blipFill>
          <a:blip r:embed="rId3"/>
          <a:stretch>
            <a:fillRect/>
          </a:stretch>
        </p:blipFill>
        <p:spPr>
          <a:xfrm>
            <a:off x="137160" y="621792"/>
            <a:ext cx="6509403" cy="4407408"/>
          </a:xfrm>
          <a:prstGeom prst="rect">
            <a:avLst/>
          </a:prstGeom>
        </p:spPr>
      </p:pic>
      <p:sp>
        <p:nvSpPr>
          <p:cNvPr id="6" name="Shape 3"/>
          <p:cNvSpPr/>
          <p:nvPr/>
        </p:nvSpPr>
        <p:spPr>
          <a:xfrm>
            <a:off x="137160" y="621792"/>
            <a:ext cx="6509403" cy="4407408"/>
          </a:xfrm>
          <a:prstGeom prst="rect">
            <a:avLst/>
          </a:prstGeom>
          <a:ln w="6350">
            <a:solidFill>
              <a:srgbClr val="E2E8F0"/>
            </a:solidFill>
            <a:prstDash val="solid"/>
          </a:ln>
        </p:spPr>
        <p:txBody>
          <a:bodyPr/>
          <a:lstStyle/>
          <a:p>
            <a:endParaRPr lang="en-US"/>
          </a:p>
        </p:txBody>
      </p:sp>
      <p:sp>
        <p:nvSpPr>
          <p:cNvPr id="7" name="Shape 4"/>
          <p:cNvSpPr/>
          <p:nvPr/>
        </p:nvSpPr>
        <p:spPr>
          <a:xfrm>
            <a:off x="724814" y="700899"/>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8" name="Text 5"/>
          <p:cNvSpPr/>
          <p:nvPr/>
        </p:nvSpPr>
        <p:spPr>
          <a:xfrm>
            <a:off x="724814" y="700899"/>
            <a:ext cx="274320" cy="274320"/>
          </a:xfrm>
          <a:prstGeom prst="rect">
            <a:avLst/>
          </a:prstGeom>
          <a:noFill/>
          <a:ln/>
        </p:spPr>
        <p:txBody>
          <a:bodyPr wrap="square" rtlCol="0" anchor="ctr"/>
          <a:lstStyle/>
          <a:p>
            <a:pPr marL="0" indent="0" algn="ctr">
              <a:buNone/>
            </a:pPr>
            <a:r>
              <a:rPr lang="en-US" sz="1000" b="1" dirty="0">
                <a:solidFill>
                  <a:srgbClr val="0F172A"/>
                </a:solidFill>
              </a:rPr>
              <a:t>1</a:t>
            </a:r>
            <a:endParaRPr lang="en-US" sz="1000" dirty="0"/>
          </a:p>
        </p:txBody>
      </p:sp>
      <p:sp>
        <p:nvSpPr>
          <p:cNvPr id="9" name="Shape 6"/>
          <p:cNvSpPr/>
          <p:nvPr/>
        </p:nvSpPr>
        <p:spPr>
          <a:xfrm>
            <a:off x="1945327" y="700899"/>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0" name="Text 7"/>
          <p:cNvSpPr/>
          <p:nvPr/>
        </p:nvSpPr>
        <p:spPr>
          <a:xfrm>
            <a:off x="1945327" y="700899"/>
            <a:ext cx="274320" cy="274320"/>
          </a:xfrm>
          <a:prstGeom prst="rect">
            <a:avLst/>
          </a:prstGeom>
          <a:noFill/>
          <a:ln/>
        </p:spPr>
        <p:txBody>
          <a:bodyPr wrap="square" rtlCol="0" anchor="ctr"/>
          <a:lstStyle/>
          <a:p>
            <a:pPr marL="0" indent="0" algn="ctr">
              <a:buNone/>
            </a:pPr>
            <a:r>
              <a:rPr lang="en-US" sz="1000" b="1" dirty="0">
                <a:solidFill>
                  <a:srgbClr val="0F172A"/>
                </a:solidFill>
              </a:rPr>
              <a:t>2</a:t>
            </a:r>
            <a:endParaRPr lang="en-US" sz="1000" dirty="0"/>
          </a:p>
        </p:txBody>
      </p:sp>
      <p:sp>
        <p:nvSpPr>
          <p:cNvPr id="11" name="Shape 8"/>
          <p:cNvSpPr/>
          <p:nvPr/>
        </p:nvSpPr>
        <p:spPr>
          <a:xfrm>
            <a:off x="5968500" y="700899"/>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2" name="Text 9"/>
          <p:cNvSpPr/>
          <p:nvPr/>
        </p:nvSpPr>
        <p:spPr>
          <a:xfrm>
            <a:off x="5968500" y="700899"/>
            <a:ext cx="274320" cy="274320"/>
          </a:xfrm>
          <a:prstGeom prst="rect">
            <a:avLst/>
          </a:prstGeom>
          <a:noFill/>
          <a:ln/>
        </p:spPr>
        <p:txBody>
          <a:bodyPr wrap="square" rtlCol="0" anchor="ctr"/>
          <a:lstStyle/>
          <a:p>
            <a:pPr marL="0" indent="0" algn="ctr">
              <a:buNone/>
            </a:pPr>
            <a:r>
              <a:rPr lang="en-US" sz="1000" b="1" dirty="0">
                <a:solidFill>
                  <a:srgbClr val="0F172A"/>
                </a:solidFill>
              </a:rPr>
              <a:t>3</a:t>
            </a:r>
            <a:endParaRPr lang="en-US" sz="1000" dirty="0"/>
          </a:p>
        </p:txBody>
      </p:sp>
      <p:sp>
        <p:nvSpPr>
          <p:cNvPr id="13" name="Shape 10"/>
          <p:cNvSpPr/>
          <p:nvPr/>
        </p:nvSpPr>
        <p:spPr>
          <a:xfrm>
            <a:off x="724814" y="881716"/>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4" name="Text 11"/>
          <p:cNvSpPr/>
          <p:nvPr/>
        </p:nvSpPr>
        <p:spPr>
          <a:xfrm>
            <a:off x="724814" y="881716"/>
            <a:ext cx="274320" cy="274320"/>
          </a:xfrm>
          <a:prstGeom prst="rect">
            <a:avLst/>
          </a:prstGeom>
          <a:noFill/>
          <a:ln/>
        </p:spPr>
        <p:txBody>
          <a:bodyPr wrap="square" rtlCol="0" anchor="ctr"/>
          <a:lstStyle/>
          <a:p>
            <a:pPr marL="0" indent="0" algn="ctr">
              <a:buNone/>
            </a:pPr>
            <a:r>
              <a:rPr lang="en-US" sz="1000" b="1" dirty="0">
                <a:solidFill>
                  <a:srgbClr val="0F172A"/>
                </a:solidFill>
              </a:rPr>
              <a:t>4</a:t>
            </a:r>
            <a:endParaRPr lang="en-US" sz="1000" dirty="0"/>
          </a:p>
        </p:txBody>
      </p:sp>
      <p:sp>
        <p:nvSpPr>
          <p:cNvPr id="15" name="Shape 12"/>
          <p:cNvSpPr/>
          <p:nvPr/>
        </p:nvSpPr>
        <p:spPr>
          <a:xfrm>
            <a:off x="2849411" y="881716"/>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6" name="Text 13"/>
          <p:cNvSpPr/>
          <p:nvPr/>
        </p:nvSpPr>
        <p:spPr>
          <a:xfrm>
            <a:off x="2849411" y="881716"/>
            <a:ext cx="274320" cy="274320"/>
          </a:xfrm>
          <a:prstGeom prst="rect">
            <a:avLst/>
          </a:prstGeom>
          <a:noFill/>
          <a:ln/>
        </p:spPr>
        <p:txBody>
          <a:bodyPr wrap="square" rtlCol="0" anchor="ctr"/>
          <a:lstStyle/>
          <a:p>
            <a:pPr marL="0" indent="0" algn="ctr">
              <a:buNone/>
            </a:pPr>
            <a:r>
              <a:rPr lang="en-US" sz="1000" b="1" dirty="0">
                <a:solidFill>
                  <a:srgbClr val="0F172A"/>
                </a:solidFill>
              </a:rPr>
              <a:t>5</a:t>
            </a:r>
            <a:endParaRPr lang="en-US" sz="1000" dirty="0"/>
          </a:p>
        </p:txBody>
      </p:sp>
      <p:sp>
        <p:nvSpPr>
          <p:cNvPr id="17" name="Shape 14"/>
          <p:cNvSpPr/>
          <p:nvPr/>
        </p:nvSpPr>
        <p:spPr>
          <a:xfrm>
            <a:off x="5561662" y="881716"/>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8" name="Text 15"/>
          <p:cNvSpPr/>
          <p:nvPr/>
        </p:nvSpPr>
        <p:spPr>
          <a:xfrm>
            <a:off x="5561662" y="881716"/>
            <a:ext cx="274320" cy="274320"/>
          </a:xfrm>
          <a:prstGeom prst="rect">
            <a:avLst/>
          </a:prstGeom>
          <a:noFill/>
          <a:ln/>
        </p:spPr>
        <p:txBody>
          <a:bodyPr wrap="square" rtlCol="0" anchor="ctr"/>
          <a:lstStyle/>
          <a:p>
            <a:pPr marL="0" indent="0" algn="ctr">
              <a:buNone/>
            </a:pPr>
            <a:r>
              <a:rPr lang="en-US" sz="1000" b="1" dirty="0">
                <a:solidFill>
                  <a:srgbClr val="0F172A"/>
                </a:solidFill>
              </a:rPr>
              <a:t>6</a:t>
            </a:r>
            <a:endParaRPr lang="en-US" sz="1000" dirty="0"/>
          </a:p>
        </p:txBody>
      </p:sp>
      <p:sp>
        <p:nvSpPr>
          <p:cNvPr id="19" name="Shape 16"/>
          <p:cNvSpPr/>
          <p:nvPr/>
        </p:nvSpPr>
        <p:spPr>
          <a:xfrm>
            <a:off x="724814" y="1062533"/>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0" name="Text 17"/>
          <p:cNvSpPr/>
          <p:nvPr/>
        </p:nvSpPr>
        <p:spPr>
          <a:xfrm>
            <a:off x="724814" y="1062533"/>
            <a:ext cx="274320" cy="274320"/>
          </a:xfrm>
          <a:prstGeom prst="rect">
            <a:avLst/>
          </a:prstGeom>
          <a:noFill/>
          <a:ln/>
        </p:spPr>
        <p:txBody>
          <a:bodyPr wrap="square" rtlCol="0" anchor="ctr"/>
          <a:lstStyle/>
          <a:p>
            <a:pPr marL="0" indent="0" algn="ctr">
              <a:buNone/>
            </a:pPr>
            <a:r>
              <a:rPr lang="en-US" sz="1000" b="1" dirty="0">
                <a:solidFill>
                  <a:srgbClr val="0F172A"/>
                </a:solidFill>
              </a:rPr>
              <a:t>7</a:t>
            </a:r>
            <a:endParaRPr lang="en-US" sz="1000" dirty="0"/>
          </a:p>
        </p:txBody>
      </p:sp>
      <p:sp>
        <p:nvSpPr>
          <p:cNvPr id="21" name="Shape 18"/>
          <p:cNvSpPr/>
          <p:nvPr/>
        </p:nvSpPr>
        <p:spPr>
          <a:xfrm>
            <a:off x="724814" y="1277253"/>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2" name="Text 19"/>
          <p:cNvSpPr/>
          <p:nvPr/>
        </p:nvSpPr>
        <p:spPr>
          <a:xfrm>
            <a:off x="724814" y="1277253"/>
            <a:ext cx="274320" cy="274320"/>
          </a:xfrm>
          <a:prstGeom prst="rect">
            <a:avLst/>
          </a:prstGeom>
          <a:noFill/>
          <a:ln/>
        </p:spPr>
        <p:txBody>
          <a:bodyPr wrap="square" rtlCol="0" anchor="ctr"/>
          <a:lstStyle/>
          <a:p>
            <a:pPr marL="0" indent="0" algn="ctr">
              <a:buNone/>
            </a:pPr>
            <a:r>
              <a:rPr lang="en-US" sz="1000" b="1" dirty="0">
                <a:solidFill>
                  <a:srgbClr val="0F172A"/>
                </a:solidFill>
              </a:rPr>
              <a:t>8</a:t>
            </a:r>
            <a:endParaRPr lang="en-US" sz="1000" dirty="0"/>
          </a:p>
        </p:txBody>
      </p:sp>
      <p:sp>
        <p:nvSpPr>
          <p:cNvPr id="23" name="Shape 20"/>
          <p:cNvSpPr/>
          <p:nvPr/>
        </p:nvSpPr>
        <p:spPr>
          <a:xfrm>
            <a:off x="860427" y="1265952"/>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4" name="Text 21"/>
          <p:cNvSpPr/>
          <p:nvPr/>
        </p:nvSpPr>
        <p:spPr>
          <a:xfrm>
            <a:off x="860427" y="1265952"/>
            <a:ext cx="274320" cy="274320"/>
          </a:xfrm>
          <a:prstGeom prst="rect">
            <a:avLst/>
          </a:prstGeom>
          <a:noFill/>
          <a:ln/>
        </p:spPr>
        <p:txBody>
          <a:bodyPr wrap="square" rtlCol="0" anchor="ctr"/>
          <a:lstStyle/>
          <a:p>
            <a:pPr marL="0" indent="0" algn="ctr">
              <a:buNone/>
            </a:pPr>
            <a:r>
              <a:rPr lang="en-US" sz="1000" b="1" dirty="0">
                <a:solidFill>
                  <a:srgbClr val="0F172A"/>
                </a:solidFill>
              </a:rPr>
              <a:t>9</a:t>
            </a:r>
            <a:endParaRPr lang="en-US" sz="1000" dirty="0"/>
          </a:p>
        </p:txBody>
      </p:sp>
      <p:sp>
        <p:nvSpPr>
          <p:cNvPr id="25" name="Shape 22"/>
          <p:cNvSpPr/>
          <p:nvPr/>
        </p:nvSpPr>
        <p:spPr>
          <a:xfrm>
            <a:off x="724814" y="1797101"/>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6" name="Text 23"/>
          <p:cNvSpPr/>
          <p:nvPr/>
        </p:nvSpPr>
        <p:spPr>
          <a:xfrm>
            <a:off x="724814" y="1797101"/>
            <a:ext cx="274320" cy="274320"/>
          </a:xfrm>
          <a:prstGeom prst="rect">
            <a:avLst/>
          </a:prstGeom>
          <a:noFill/>
          <a:ln/>
        </p:spPr>
        <p:txBody>
          <a:bodyPr wrap="square" rtlCol="0" anchor="ctr"/>
          <a:lstStyle/>
          <a:p>
            <a:pPr marL="0" indent="0" algn="ctr">
              <a:buNone/>
            </a:pPr>
            <a:r>
              <a:rPr lang="en-US" sz="1000" b="1" dirty="0">
                <a:solidFill>
                  <a:srgbClr val="0F172A"/>
                </a:solidFill>
              </a:rPr>
              <a:t>10</a:t>
            </a:r>
            <a:endParaRPr lang="en-US" sz="1000" dirty="0"/>
          </a:p>
        </p:txBody>
      </p:sp>
      <p:sp>
        <p:nvSpPr>
          <p:cNvPr id="27" name="Shape 24"/>
          <p:cNvSpPr/>
          <p:nvPr/>
        </p:nvSpPr>
        <p:spPr>
          <a:xfrm>
            <a:off x="6830568" y="576072"/>
            <a:ext cx="2267712" cy="5120640"/>
          </a:xfrm>
          <a:prstGeom prst="roundRect">
            <a:avLst/>
          </a:prstGeom>
          <a:solidFill>
            <a:srgbClr val="1E3A5F"/>
          </a:solidFill>
          <a:ln w="12700">
            <a:solidFill>
              <a:srgbClr val="1E3A5F"/>
            </a:solidFill>
            <a:prstDash val="solid"/>
          </a:ln>
        </p:spPr>
        <p:txBody>
          <a:bodyPr/>
          <a:lstStyle/>
          <a:p>
            <a:endParaRPr lang="en-US"/>
          </a:p>
        </p:txBody>
      </p:sp>
      <p:sp>
        <p:nvSpPr>
          <p:cNvPr id="28" name="Shape 25"/>
          <p:cNvSpPr/>
          <p:nvPr/>
        </p:nvSpPr>
        <p:spPr>
          <a:xfrm>
            <a:off x="6876288" y="658368"/>
            <a:ext cx="237744" cy="237744"/>
          </a:xfrm>
          <a:prstGeom prst="ellipse">
            <a:avLst/>
          </a:prstGeom>
          <a:solidFill>
            <a:srgbClr val="F59E0B"/>
          </a:solidFill>
          <a:ln w="12700">
            <a:solidFill>
              <a:srgbClr val="1E3A5F"/>
            </a:solidFill>
            <a:prstDash val="solid"/>
          </a:ln>
        </p:spPr>
        <p:txBody>
          <a:bodyPr/>
          <a:lstStyle/>
          <a:p>
            <a:endParaRPr lang="en-US"/>
          </a:p>
        </p:txBody>
      </p:sp>
      <p:sp>
        <p:nvSpPr>
          <p:cNvPr id="29" name="Text 26"/>
          <p:cNvSpPr/>
          <p:nvPr/>
        </p:nvSpPr>
        <p:spPr>
          <a:xfrm>
            <a:off x="6876288" y="658368"/>
            <a:ext cx="237744" cy="237744"/>
          </a:xfrm>
          <a:prstGeom prst="rect">
            <a:avLst/>
          </a:prstGeom>
          <a:noFill/>
          <a:ln/>
        </p:spPr>
        <p:txBody>
          <a:bodyPr wrap="square" rtlCol="0" anchor="ctr"/>
          <a:lstStyle/>
          <a:p>
            <a:pPr marL="0" indent="0" algn="ctr">
              <a:buNone/>
            </a:pPr>
            <a:r>
              <a:rPr lang="en-US" sz="800" b="1" dirty="0">
                <a:solidFill>
                  <a:srgbClr val="0F172A"/>
                </a:solidFill>
              </a:rPr>
              <a:t>1</a:t>
            </a:r>
            <a:endParaRPr lang="en-US" sz="800" dirty="0"/>
          </a:p>
        </p:txBody>
      </p:sp>
      <p:sp>
        <p:nvSpPr>
          <p:cNvPr id="30" name="Text 27"/>
          <p:cNvSpPr/>
          <p:nvPr/>
        </p:nvSpPr>
        <p:spPr>
          <a:xfrm>
            <a:off x="7178040" y="649224"/>
            <a:ext cx="1828800" cy="201168"/>
          </a:xfrm>
          <a:prstGeom prst="rect">
            <a:avLst/>
          </a:prstGeom>
          <a:noFill/>
          <a:ln/>
        </p:spPr>
        <p:txBody>
          <a:bodyPr wrap="square" rtlCol="0" anchor="ctr"/>
          <a:lstStyle/>
          <a:p>
            <a:pPr marL="0" indent="0">
              <a:buNone/>
            </a:pPr>
            <a:r>
              <a:rPr lang="en-US" sz="850" b="1" dirty="0">
                <a:solidFill>
                  <a:srgbClr val="FFFFFF"/>
                </a:solidFill>
              </a:rPr>
              <a:t>View Tabs</a:t>
            </a:r>
            <a:endParaRPr lang="en-US" sz="850" dirty="0"/>
          </a:p>
        </p:txBody>
      </p:sp>
      <p:sp>
        <p:nvSpPr>
          <p:cNvPr id="31" name="Text 28"/>
          <p:cNvSpPr/>
          <p:nvPr/>
        </p:nvSpPr>
        <p:spPr>
          <a:xfrm>
            <a:off x="7178040" y="850392"/>
            <a:ext cx="1828800" cy="201168"/>
          </a:xfrm>
          <a:prstGeom prst="rect">
            <a:avLst/>
          </a:prstGeom>
          <a:noFill/>
          <a:ln/>
        </p:spPr>
        <p:txBody>
          <a:bodyPr wrap="square" rtlCol="0" anchor="ctr"/>
          <a:lstStyle/>
          <a:p>
            <a:pPr marL="0" indent="0">
              <a:buNone/>
            </a:pPr>
            <a:r>
              <a:rPr lang="en-US" sz="700" dirty="0">
                <a:solidFill>
                  <a:srgbClr val="94A3B8"/>
                </a:solidFill>
              </a:rPr>
              <a:t>Calendar / Manage Shifts / Live Shifts</a:t>
            </a:r>
            <a:endParaRPr lang="en-US" sz="700" dirty="0"/>
          </a:p>
        </p:txBody>
      </p:sp>
      <p:sp>
        <p:nvSpPr>
          <p:cNvPr id="32" name="Shape 29"/>
          <p:cNvSpPr/>
          <p:nvPr/>
        </p:nvSpPr>
        <p:spPr>
          <a:xfrm>
            <a:off x="6876288" y="1152144"/>
            <a:ext cx="237744" cy="237744"/>
          </a:xfrm>
          <a:prstGeom prst="ellipse">
            <a:avLst/>
          </a:prstGeom>
          <a:solidFill>
            <a:srgbClr val="F59E0B"/>
          </a:solidFill>
          <a:ln w="12700">
            <a:solidFill>
              <a:srgbClr val="1E3A5F"/>
            </a:solidFill>
            <a:prstDash val="solid"/>
          </a:ln>
        </p:spPr>
        <p:txBody>
          <a:bodyPr/>
          <a:lstStyle/>
          <a:p>
            <a:endParaRPr lang="en-US"/>
          </a:p>
        </p:txBody>
      </p:sp>
      <p:sp>
        <p:nvSpPr>
          <p:cNvPr id="33" name="Text 30"/>
          <p:cNvSpPr/>
          <p:nvPr/>
        </p:nvSpPr>
        <p:spPr>
          <a:xfrm>
            <a:off x="6876288" y="1152144"/>
            <a:ext cx="237744" cy="237744"/>
          </a:xfrm>
          <a:prstGeom prst="rect">
            <a:avLst/>
          </a:prstGeom>
          <a:noFill/>
          <a:ln/>
        </p:spPr>
        <p:txBody>
          <a:bodyPr wrap="square" rtlCol="0" anchor="ctr"/>
          <a:lstStyle/>
          <a:p>
            <a:pPr marL="0" indent="0" algn="ctr">
              <a:buNone/>
            </a:pPr>
            <a:r>
              <a:rPr lang="en-US" sz="800" b="1" dirty="0">
                <a:solidFill>
                  <a:srgbClr val="0F172A"/>
                </a:solidFill>
              </a:rPr>
              <a:t>2</a:t>
            </a:r>
            <a:endParaRPr lang="en-US" sz="800" dirty="0"/>
          </a:p>
        </p:txBody>
      </p:sp>
      <p:sp>
        <p:nvSpPr>
          <p:cNvPr id="34" name="Text 31"/>
          <p:cNvSpPr/>
          <p:nvPr/>
        </p:nvSpPr>
        <p:spPr>
          <a:xfrm>
            <a:off x="7178040" y="1143000"/>
            <a:ext cx="1828800" cy="201168"/>
          </a:xfrm>
          <a:prstGeom prst="rect">
            <a:avLst/>
          </a:prstGeom>
          <a:noFill/>
          <a:ln/>
        </p:spPr>
        <p:txBody>
          <a:bodyPr wrap="square" rtlCol="0" anchor="ctr"/>
          <a:lstStyle/>
          <a:p>
            <a:pPr marL="0" indent="0">
              <a:buNone/>
            </a:pPr>
            <a:r>
              <a:rPr lang="en-US" sz="850" b="1" dirty="0">
                <a:solidFill>
                  <a:srgbClr val="FFFFFF"/>
                </a:solidFill>
              </a:rPr>
              <a:t>Project Tabs</a:t>
            </a:r>
            <a:endParaRPr lang="en-US" sz="850" dirty="0"/>
          </a:p>
        </p:txBody>
      </p:sp>
      <p:sp>
        <p:nvSpPr>
          <p:cNvPr id="35" name="Text 32"/>
          <p:cNvSpPr/>
          <p:nvPr/>
        </p:nvSpPr>
        <p:spPr>
          <a:xfrm>
            <a:off x="7178040" y="1344168"/>
            <a:ext cx="1828800" cy="201168"/>
          </a:xfrm>
          <a:prstGeom prst="rect">
            <a:avLst/>
          </a:prstGeom>
          <a:noFill/>
          <a:ln/>
        </p:spPr>
        <p:txBody>
          <a:bodyPr wrap="square" rtlCol="0" anchor="ctr"/>
          <a:lstStyle/>
          <a:p>
            <a:pPr marL="0" indent="0">
              <a:buNone/>
            </a:pPr>
            <a:r>
              <a:rPr lang="en-US" sz="700" dirty="0">
                <a:solidFill>
                  <a:srgbClr val="94A3B8"/>
                </a:solidFill>
              </a:rPr>
              <a:t>Switch between all projects</a:t>
            </a:r>
            <a:endParaRPr lang="en-US" sz="700" dirty="0"/>
          </a:p>
        </p:txBody>
      </p:sp>
      <p:sp>
        <p:nvSpPr>
          <p:cNvPr id="36" name="Shape 33"/>
          <p:cNvSpPr/>
          <p:nvPr/>
        </p:nvSpPr>
        <p:spPr>
          <a:xfrm>
            <a:off x="6876288" y="1645920"/>
            <a:ext cx="237744" cy="237744"/>
          </a:xfrm>
          <a:prstGeom prst="ellipse">
            <a:avLst/>
          </a:prstGeom>
          <a:solidFill>
            <a:srgbClr val="F59E0B"/>
          </a:solidFill>
          <a:ln w="12700">
            <a:solidFill>
              <a:srgbClr val="1E3A5F"/>
            </a:solidFill>
            <a:prstDash val="solid"/>
          </a:ln>
        </p:spPr>
        <p:txBody>
          <a:bodyPr/>
          <a:lstStyle/>
          <a:p>
            <a:endParaRPr lang="en-US"/>
          </a:p>
        </p:txBody>
      </p:sp>
      <p:sp>
        <p:nvSpPr>
          <p:cNvPr id="37" name="Text 34"/>
          <p:cNvSpPr/>
          <p:nvPr/>
        </p:nvSpPr>
        <p:spPr>
          <a:xfrm>
            <a:off x="6876288" y="1645920"/>
            <a:ext cx="237744" cy="237744"/>
          </a:xfrm>
          <a:prstGeom prst="rect">
            <a:avLst/>
          </a:prstGeom>
          <a:noFill/>
          <a:ln/>
        </p:spPr>
        <p:txBody>
          <a:bodyPr wrap="square" rtlCol="0" anchor="ctr"/>
          <a:lstStyle/>
          <a:p>
            <a:pPr marL="0" indent="0" algn="ctr">
              <a:buNone/>
            </a:pPr>
            <a:r>
              <a:rPr lang="en-US" sz="800" b="1" dirty="0">
                <a:solidFill>
                  <a:srgbClr val="0F172A"/>
                </a:solidFill>
              </a:rPr>
              <a:t>3</a:t>
            </a:r>
            <a:endParaRPr lang="en-US" sz="800" dirty="0"/>
          </a:p>
        </p:txBody>
      </p:sp>
      <p:sp>
        <p:nvSpPr>
          <p:cNvPr id="38" name="Text 35"/>
          <p:cNvSpPr/>
          <p:nvPr/>
        </p:nvSpPr>
        <p:spPr>
          <a:xfrm>
            <a:off x="7178040" y="1636776"/>
            <a:ext cx="1828800" cy="201168"/>
          </a:xfrm>
          <a:prstGeom prst="rect">
            <a:avLst/>
          </a:prstGeom>
          <a:noFill/>
          <a:ln/>
        </p:spPr>
        <p:txBody>
          <a:bodyPr wrap="square" rtlCol="0" anchor="ctr"/>
          <a:lstStyle/>
          <a:p>
            <a:pPr marL="0" indent="0">
              <a:buNone/>
            </a:pPr>
            <a:r>
              <a:rPr lang="en-US" sz="850" b="1" dirty="0">
                <a:solidFill>
                  <a:srgbClr val="FFFFFF"/>
                </a:solidFill>
              </a:rPr>
              <a:t>Active Count</a:t>
            </a:r>
            <a:endParaRPr lang="en-US" sz="850" dirty="0"/>
          </a:p>
        </p:txBody>
      </p:sp>
      <p:sp>
        <p:nvSpPr>
          <p:cNvPr id="39" name="Text 36"/>
          <p:cNvSpPr/>
          <p:nvPr/>
        </p:nvSpPr>
        <p:spPr>
          <a:xfrm>
            <a:off x="7178040" y="1837944"/>
            <a:ext cx="1828800" cy="201168"/>
          </a:xfrm>
          <a:prstGeom prst="rect">
            <a:avLst/>
          </a:prstGeom>
          <a:noFill/>
          <a:ln/>
        </p:spPr>
        <p:txBody>
          <a:bodyPr wrap="square" rtlCol="0" anchor="ctr"/>
          <a:lstStyle/>
          <a:p>
            <a:pPr marL="0" indent="0">
              <a:buNone/>
            </a:pPr>
            <a:r>
              <a:rPr lang="en-US" sz="700" dirty="0">
                <a:solidFill>
                  <a:srgbClr val="94A3B8"/>
                </a:solidFill>
              </a:rPr>
              <a:t>Staff on shift right now</a:t>
            </a:r>
            <a:endParaRPr lang="en-US" sz="700" dirty="0"/>
          </a:p>
        </p:txBody>
      </p:sp>
      <p:sp>
        <p:nvSpPr>
          <p:cNvPr id="40" name="Shape 37"/>
          <p:cNvSpPr/>
          <p:nvPr/>
        </p:nvSpPr>
        <p:spPr>
          <a:xfrm>
            <a:off x="6876288" y="2139696"/>
            <a:ext cx="237744" cy="237744"/>
          </a:xfrm>
          <a:prstGeom prst="ellipse">
            <a:avLst/>
          </a:prstGeom>
          <a:solidFill>
            <a:srgbClr val="F59E0B"/>
          </a:solidFill>
          <a:ln w="12700">
            <a:solidFill>
              <a:srgbClr val="1E3A5F"/>
            </a:solidFill>
            <a:prstDash val="solid"/>
          </a:ln>
        </p:spPr>
        <p:txBody>
          <a:bodyPr/>
          <a:lstStyle/>
          <a:p>
            <a:endParaRPr lang="en-US"/>
          </a:p>
        </p:txBody>
      </p:sp>
      <p:sp>
        <p:nvSpPr>
          <p:cNvPr id="41" name="Text 38"/>
          <p:cNvSpPr/>
          <p:nvPr/>
        </p:nvSpPr>
        <p:spPr>
          <a:xfrm>
            <a:off x="6876288" y="2139696"/>
            <a:ext cx="237744" cy="237744"/>
          </a:xfrm>
          <a:prstGeom prst="rect">
            <a:avLst/>
          </a:prstGeom>
          <a:noFill/>
          <a:ln/>
        </p:spPr>
        <p:txBody>
          <a:bodyPr wrap="square" rtlCol="0" anchor="ctr"/>
          <a:lstStyle/>
          <a:p>
            <a:pPr marL="0" indent="0" algn="ctr">
              <a:buNone/>
            </a:pPr>
            <a:r>
              <a:rPr lang="en-US" sz="800" b="1" dirty="0">
                <a:solidFill>
                  <a:srgbClr val="0F172A"/>
                </a:solidFill>
              </a:rPr>
              <a:t>4</a:t>
            </a:r>
            <a:endParaRPr lang="en-US" sz="800" dirty="0"/>
          </a:p>
        </p:txBody>
      </p:sp>
      <p:sp>
        <p:nvSpPr>
          <p:cNvPr id="42" name="Text 39"/>
          <p:cNvSpPr/>
          <p:nvPr/>
        </p:nvSpPr>
        <p:spPr>
          <a:xfrm>
            <a:off x="7178040" y="2130552"/>
            <a:ext cx="1828800" cy="201168"/>
          </a:xfrm>
          <a:prstGeom prst="rect">
            <a:avLst/>
          </a:prstGeom>
          <a:noFill/>
          <a:ln/>
        </p:spPr>
        <p:txBody>
          <a:bodyPr wrap="square" rtlCol="0" anchor="ctr"/>
          <a:lstStyle/>
          <a:p>
            <a:pPr marL="0" indent="0">
              <a:buNone/>
            </a:pPr>
            <a:r>
              <a:rPr lang="en-US" sz="850" b="1" dirty="0">
                <a:solidFill>
                  <a:srgbClr val="FFFFFF"/>
                </a:solidFill>
              </a:rPr>
              <a:t>Week/Month</a:t>
            </a:r>
            <a:endParaRPr lang="en-US" sz="850" dirty="0"/>
          </a:p>
        </p:txBody>
      </p:sp>
      <p:sp>
        <p:nvSpPr>
          <p:cNvPr id="43" name="Text 40"/>
          <p:cNvSpPr/>
          <p:nvPr/>
        </p:nvSpPr>
        <p:spPr>
          <a:xfrm>
            <a:off x="7178040" y="2331720"/>
            <a:ext cx="1828800" cy="201168"/>
          </a:xfrm>
          <a:prstGeom prst="rect">
            <a:avLst/>
          </a:prstGeom>
          <a:noFill/>
          <a:ln/>
        </p:spPr>
        <p:txBody>
          <a:bodyPr wrap="square" rtlCol="0" anchor="ctr"/>
          <a:lstStyle/>
          <a:p>
            <a:pPr marL="0" indent="0">
              <a:buNone/>
            </a:pPr>
            <a:r>
              <a:rPr lang="en-US" sz="700" dirty="0">
                <a:solidFill>
                  <a:srgbClr val="94A3B8"/>
                </a:solidFill>
              </a:rPr>
              <a:t>Toggle + date navigation</a:t>
            </a:r>
            <a:endParaRPr lang="en-US" sz="700" dirty="0"/>
          </a:p>
        </p:txBody>
      </p:sp>
      <p:sp>
        <p:nvSpPr>
          <p:cNvPr id="44" name="Shape 41"/>
          <p:cNvSpPr/>
          <p:nvPr/>
        </p:nvSpPr>
        <p:spPr>
          <a:xfrm>
            <a:off x="6876288" y="2633472"/>
            <a:ext cx="237744" cy="237744"/>
          </a:xfrm>
          <a:prstGeom prst="ellipse">
            <a:avLst/>
          </a:prstGeom>
          <a:solidFill>
            <a:srgbClr val="F59E0B"/>
          </a:solidFill>
          <a:ln w="12700">
            <a:solidFill>
              <a:srgbClr val="1E3A5F"/>
            </a:solidFill>
            <a:prstDash val="solid"/>
          </a:ln>
        </p:spPr>
        <p:txBody>
          <a:bodyPr/>
          <a:lstStyle/>
          <a:p>
            <a:endParaRPr lang="en-US"/>
          </a:p>
        </p:txBody>
      </p:sp>
      <p:sp>
        <p:nvSpPr>
          <p:cNvPr id="45" name="Text 42"/>
          <p:cNvSpPr/>
          <p:nvPr/>
        </p:nvSpPr>
        <p:spPr>
          <a:xfrm>
            <a:off x="6876288" y="2633472"/>
            <a:ext cx="237744" cy="237744"/>
          </a:xfrm>
          <a:prstGeom prst="rect">
            <a:avLst/>
          </a:prstGeom>
          <a:noFill/>
          <a:ln/>
        </p:spPr>
        <p:txBody>
          <a:bodyPr wrap="square" rtlCol="0" anchor="ctr"/>
          <a:lstStyle/>
          <a:p>
            <a:pPr marL="0" indent="0" algn="ctr">
              <a:buNone/>
            </a:pPr>
            <a:r>
              <a:rPr lang="en-US" sz="800" b="1" dirty="0">
                <a:solidFill>
                  <a:srgbClr val="0F172A"/>
                </a:solidFill>
              </a:rPr>
              <a:t>5</a:t>
            </a:r>
            <a:endParaRPr lang="en-US" sz="800" dirty="0"/>
          </a:p>
        </p:txBody>
      </p:sp>
      <p:sp>
        <p:nvSpPr>
          <p:cNvPr id="46" name="Text 43"/>
          <p:cNvSpPr/>
          <p:nvPr/>
        </p:nvSpPr>
        <p:spPr>
          <a:xfrm>
            <a:off x="7178040" y="2624328"/>
            <a:ext cx="1828800" cy="201168"/>
          </a:xfrm>
          <a:prstGeom prst="rect">
            <a:avLst/>
          </a:prstGeom>
          <a:noFill/>
          <a:ln/>
        </p:spPr>
        <p:txBody>
          <a:bodyPr wrap="square" rtlCol="0" anchor="ctr"/>
          <a:lstStyle/>
          <a:p>
            <a:pPr marL="0" indent="0">
              <a:buNone/>
            </a:pPr>
            <a:r>
              <a:rPr lang="en-US" sz="850" b="1" dirty="0">
                <a:solidFill>
                  <a:srgbClr val="FFFFFF"/>
                </a:solidFill>
              </a:rPr>
              <a:t>Holiday Filters</a:t>
            </a:r>
            <a:endParaRPr lang="en-US" sz="850" dirty="0"/>
          </a:p>
        </p:txBody>
      </p:sp>
      <p:sp>
        <p:nvSpPr>
          <p:cNvPr id="47" name="Text 44"/>
          <p:cNvSpPr/>
          <p:nvPr/>
        </p:nvSpPr>
        <p:spPr>
          <a:xfrm>
            <a:off x="7178040" y="2825496"/>
            <a:ext cx="1828800" cy="201168"/>
          </a:xfrm>
          <a:prstGeom prst="rect">
            <a:avLst/>
          </a:prstGeom>
          <a:noFill/>
          <a:ln/>
        </p:spPr>
        <p:txBody>
          <a:bodyPr wrap="square" rtlCol="0" anchor="ctr"/>
          <a:lstStyle/>
          <a:p>
            <a:pPr marL="0" indent="0">
              <a:buNone/>
            </a:pPr>
            <a:r>
              <a:rPr lang="en-US" sz="700" dirty="0">
                <a:solidFill>
                  <a:srgbClr val="94A3B8"/>
                </a:solidFill>
              </a:rPr>
              <a:t>India + US holiday overlays</a:t>
            </a:r>
            <a:endParaRPr lang="en-US" sz="700" dirty="0"/>
          </a:p>
        </p:txBody>
      </p:sp>
      <p:sp>
        <p:nvSpPr>
          <p:cNvPr id="48" name="Shape 45"/>
          <p:cNvSpPr/>
          <p:nvPr/>
        </p:nvSpPr>
        <p:spPr>
          <a:xfrm>
            <a:off x="6876288" y="3127248"/>
            <a:ext cx="237744" cy="237744"/>
          </a:xfrm>
          <a:prstGeom prst="ellipse">
            <a:avLst/>
          </a:prstGeom>
          <a:solidFill>
            <a:srgbClr val="F59E0B"/>
          </a:solidFill>
          <a:ln w="12700">
            <a:solidFill>
              <a:srgbClr val="1E3A5F"/>
            </a:solidFill>
            <a:prstDash val="solid"/>
          </a:ln>
        </p:spPr>
        <p:txBody>
          <a:bodyPr/>
          <a:lstStyle/>
          <a:p>
            <a:endParaRPr lang="en-US"/>
          </a:p>
        </p:txBody>
      </p:sp>
      <p:sp>
        <p:nvSpPr>
          <p:cNvPr id="49" name="Text 46"/>
          <p:cNvSpPr/>
          <p:nvPr/>
        </p:nvSpPr>
        <p:spPr>
          <a:xfrm>
            <a:off x="6876288" y="3127248"/>
            <a:ext cx="237744" cy="237744"/>
          </a:xfrm>
          <a:prstGeom prst="rect">
            <a:avLst/>
          </a:prstGeom>
          <a:noFill/>
          <a:ln/>
        </p:spPr>
        <p:txBody>
          <a:bodyPr wrap="square" rtlCol="0" anchor="ctr"/>
          <a:lstStyle/>
          <a:p>
            <a:pPr marL="0" indent="0" algn="ctr">
              <a:buNone/>
            </a:pPr>
            <a:r>
              <a:rPr lang="en-US" sz="800" b="1" dirty="0">
                <a:solidFill>
                  <a:srgbClr val="0F172A"/>
                </a:solidFill>
              </a:rPr>
              <a:t>6</a:t>
            </a:r>
            <a:endParaRPr lang="en-US" sz="800" dirty="0"/>
          </a:p>
        </p:txBody>
      </p:sp>
      <p:sp>
        <p:nvSpPr>
          <p:cNvPr id="50" name="Text 47"/>
          <p:cNvSpPr/>
          <p:nvPr/>
        </p:nvSpPr>
        <p:spPr>
          <a:xfrm>
            <a:off x="7178040" y="3118104"/>
            <a:ext cx="1828800" cy="201168"/>
          </a:xfrm>
          <a:prstGeom prst="rect">
            <a:avLst/>
          </a:prstGeom>
          <a:noFill/>
          <a:ln/>
        </p:spPr>
        <p:txBody>
          <a:bodyPr wrap="square" rtlCol="0" anchor="ctr"/>
          <a:lstStyle/>
          <a:p>
            <a:pPr marL="0" indent="0">
              <a:buNone/>
            </a:pPr>
            <a:r>
              <a:rPr lang="en-US" sz="850" b="1" dirty="0">
                <a:solidFill>
                  <a:srgbClr val="FFFFFF"/>
                </a:solidFill>
              </a:rPr>
              <a:t>Timezone</a:t>
            </a:r>
            <a:endParaRPr lang="en-US" sz="850" dirty="0"/>
          </a:p>
        </p:txBody>
      </p:sp>
      <p:sp>
        <p:nvSpPr>
          <p:cNvPr id="51" name="Text 48"/>
          <p:cNvSpPr/>
          <p:nvPr/>
        </p:nvSpPr>
        <p:spPr>
          <a:xfrm>
            <a:off x="7178040" y="3319272"/>
            <a:ext cx="1828800" cy="201168"/>
          </a:xfrm>
          <a:prstGeom prst="rect">
            <a:avLst/>
          </a:prstGeom>
          <a:noFill/>
          <a:ln/>
        </p:spPr>
        <p:txBody>
          <a:bodyPr wrap="square" rtlCol="0" anchor="ctr"/>
          <a:lstStyle/>
          <a:p>
            <a:pPr marL="0" indent="0">
              <a:buNone/>
            </a:pPr>
            <a:r>
              <a:rPr lang="en-US" sz="700" dirty="0">
                <a:solidFill>
                  <a:srgbClr val="94A3B8"/>
                </a:solidFill>
              </a:rPr>
              <a:t>Display in PST / IST / Chicago</a:t>
            </a:r>
            <a:endParaRPr lang="en-US" sz="700" dirty="0"/>
          </a:p>
        </p:txBody>
      </p:sp>
      <p:sp>
        <p:nvSpPr>
          <p:cNvPr id="52" name="Shape 49"/>
          <p:cNvSpPr/>
          <p:nvPr/>
        </p:nvSpPr>
        <p:spPr>
          <a:xfrm>
            <a:off x="6876288" y="3621024"/>
            <a:ext cx="237744" cy="237744"/>
          </a:xfrm>
          <a:prstGeom prst="ellipse">
            <a:avLst/>
          </a:prstGeom>
          <a:solidFill>
            <a:srgbClr val="F59E0B"/>
          </a:solidFill>
          <a:ln w="12700">
            <a:solidFill>
              <a:srgbClr val="1E3A5F"/>
            </a:solidFill>
            <a:prstDash val="solid"/>
          </a:ln>
        </p:spPr>
        <p:txBody>
          <a:bodyPr/>
          <a:lstStyle/>
          <a:p>
            <a:endParaRPr lang="en-US"/>
          </a:p>
        </p:txBody>
      </p:sp>
      <p:sp>
        <p:nvSpPr>
          <p:cNvPr id="53" name="Text 50"/>
          <p:cNvSpPr/>
          <p:nvPr/>
        </p:nvSpPr>
        <p:spPr>
          <a:xfrm>
            <a:off x="6876288" y="3621024"/>
            <a:ext cx="237744" cy="237744"/>
          </a:xfrm>
          <a:prstGeom prst="rect">
            <a:avLst/>
          </a:prstGeom>
          <a:noFill/>
          <a:ln/>
        </p:spPr>
        <p:txBody>
          <a:bodyPr wrap="square" rtlCol="0" anchor="ctr"/>
          <a:lstStyle/>
          <a:p>
            <a:pPr marL="0" indent="0" algn="ctr">
              <a:buNone/>
            </a:pPr>
            <a:r>
              <a:rPr lang="en-US" sz="800" b="1" dirty="0">
                <a:solidFill>
                  <a:srgbClr val="0F172A"/>
                </a:solidFill>
              </a:rPr>
              <a:t>7</a:t>
            </a:r>
            <a:endParaRPr lang="en-US" sz="800" dirty="0"/>
          </a:p>
        </p:txBody>
      </p:sp>
      <p:sp>
        <p:nvSpPr>
          <p:cNvPr id="54" name="Text 51"/>
          <p:cNvSpPr/>
          <p:nvPr/>
        </p:nvSpPr>
        <p:spPr>
          <a:xfrm>
            <a:off x="7178040" y="3611880"/>
            <a:ext cx="1828800" cy="201168"/>
          </a:xfrm>
          <a:prstGeom prst="rect">
            <a:avLst/>
          </a:prstGeom>
          <a:noFill/>
          <a:ln/>
        </p:spPr>
        <p:txBody>
          <a:bodyPr wrap="square" rtlCol="0" anchor="ctr"/>
          <a:lstStyle/>
          <a:p>
            <a:pPr marL="0" indent="0">
              <a:buNone/>
            </a:pPr>
            <a:r>
              <a:rPr lang="en-US" sz="850" b="1" dirty="0">
                <a:solidFill>
                  <a:srgbClr val="FFFFFF"/>
                </a:solidFill>
              </a:rPr>
              <a:t>Calendar Header</a:t>
            </a:r>
            <a:endParaRPr lang="en-US" sz="850" dirty="0"/>
          </a:p>
        </p:txBody>
      </p:sp>
      <p:sp>
        <p:nvSpPr>
          <p:cNvPr id="55" name="Text 52"/>
          <p:cNvSpPr/>
          <p:nvPr/>
        </p:nvSpPr>
        <p:spPr>
          <a:xfrm>
            <a:off x="7178040" y="3813048"/>
            <a:ext cx="1828800" cy="201168"/>
          </a:xfrm>
          <a:prstGeom prst="rect">
            <a:avLst/>
          </a:prstGeom>
          <a:noFill/>
          <a:ln/>
        </p:spPr>
        <p:txBody>
          <a:bodyPr wrap="square" rtlCol="0" anchor="ctr"/>
          <a:lstStyle/>
          <a:p>
            <a:pPr marL="0" indent="0">
              <a:buNone/>
            </a:pPr>
            <a:r>
              <a:rPr lang="en-US" sz="700" dirty="0">
                <a:solidFill>
                  <a:srgbClr val="94A3B8"/>
                </a:solidFill>
              </a:rPr>
              <a:t>Mon-Sun with shift date</a:t>
            </a:r>
            <a:endParaRPr lang="en-US" sz="700" dirty="0"/>
          </a:p>
        </p:txBody>
      </p:sp>
      <p:sp>
        <p:nvSpPr>
          <p:cNvPr id="56" name="Shape 53"/>
          <p:cNvSpPr/>
          <p:nvPr/>
        </p:nvSpPr>
        <p:spPr>
          <a:xfrm>
            <a:off x="6876288" y="4114800"/>
            <a:ext cx="237744" cy="237744"/>
          </a:xfrm>
          <a:prstGeom prst="ellipse">
            <a:avLst/>
          </a:prstGeom>
          <a:solidFill>
            <a:srgbClr val="F59E0B"/>
          </a:solidFill>
          <a:ln w="12700">
            <a:solidFill>
              <a:srgbClr val="1E3A5F"/>
            </a:solidFill>
            <a:prstDash val="solid"/>
          </a:ln>
        </p:spPr>
        <p:txBody>
          <a:bodyPr/>
          <a:lstStyle/>
          <a:p>
            <a:endParaRPr lang="en-US"/>
          </a:p>
        </p:txBody>
      </p:sp>
      <p:sp>
        <p:nvSpPr>
          <p:cNvPr id="57" name="Text 54"/>
          <p:cNvSpPr/>
          <p:nvPr/>
        </p:nvSpPr>
        <p:spPr>
          <a:xfrm>
            <a:off x="6876288" y="4114800"/>
            <a:ext cx="237744" cy="237744"/>
          </a:xfrm>
          <a:prstGeom prst="rect">
            <a:avLst/>
          </a:prstGeom>
          <a:noFill/>
          <a:ln/>
        </p:spPr>
        <p:txBody>
          <a:bodyPr wrap="square" rtlCol="0" anchor="ctr"/>
          <a:lstStyle/>
          <a:p>
            <a:pPr marL="0" indent="0" algn="ctr">
              <a:buNone/>
            </a:pPr>
            <a:r>
              <a:rPr lang="en-US" sz="800" b="1" dirty="0">
                <a:solidFill>
                  <a:srgbClr val="0F172A"/>
                </a:solidFill>
              </a:rPr>
              <a:t>8</a:t>
            </a:r>
            <a:endParaRPr lang="en-US" sz="800" dirty="0"/>
          </a:p>
        </p:txBody>
      </p:sp>
      <p:sp>
        <p:nvSpPr>
          <p:cNvPr id="58" name="Text 55"/>
          <p:cNvSpPr/>
          <p:nvPr/>
        </p:nvSpPr>
        <p:spPr>
          <a:xfrm>
            <a:off x="7178040" y="4105656"/>
            <a:ext cx="1828800" cy="201168"/>
          </a:xfrm>
          <a:prstGeom prst="rect">
            <a:avLst/>
          </a:prstGeom>
          <a:noFill/>
          <a:ln/>
        </p:spPr>
        <p:txBody>
          <a:bodyPr wrap="square" rtlCol="0" anchor="ctr"/>
          <a:lstStyle/>
          <a:p>
            <a:pPr marL="0" indent="0">
              <a:buNone/>
            </a:pPr>
            <a:r>
              <a:rPr lang="en-US" sz="850" b="1" dirty="0">
                <a:solidFill>
                  <a:srgbClr val="FFFFFF"/>
                </a:solidFill>
              </a:rPr>
              <a:t>Roster Cells</a:t>
            </a:r>
            <a:endParaRPr lang="en-US" sz="850" dirty="0"/>
          </a:p>
        </p:txBody>
      </p:sp>
      <p:sp>
        <p:nvSpPr>
          <p:cNvPr id="59" name="Text 56"/>
          <p:cNvSpPr/>
          <p:nvPr/>
        </p:nvSpPr>
        <p:spPr>
          <a:xfrm>
            <a:off x="7178040" y="4306824"/>
            <a:ext cx="1828800" cy="201168"/>
          </a:xfrm>
          <a:prstGeom prst="rect">
            <a:avLst/>
          </a:prstGeom>
          <a:noFill/>
          <a:ln/>
        </p:spPr>
        <p:txBody>
          <a:bodyPr wrap="square" rtlCol="0" anchor="ctr"/>
          <a:lstStyle/>
          <a:p>
            <a:pPr marL="0" indent="0">
              <a:buNone/>
            </a:pPr>
            <a:r>
              <a:rPr lang="en-US" sz="700" dirty="0">
                <a:solidFill>
                  <a:srgbClr val="94A3B8"/>
                </a:solidFill>
              </a:rPr>
              <a:t>Member name + MORNING/NIGHT shift</a:t>
            </a:r>
            <a:endParaRPr lang="en-US" sz="700" dirty="0"/>
          </a:p>
        </p:txBody>
      </p:sp>
      <p:sp>
        <p:nvSpPr>
          <p:cNvPr id="60" name="Shape 57"/>
          <p:cNvSpPr/>
          <p:nvPr/>
        </p:nvSpPr>
        <p:spPr>
          <a:xfrm>
            <a:off x="6876288" y="4608576"/>
            <a:ext cx="237744" cy="237744"/>
          </a:xfrm>
          <a:prstGeom prst="ellipse">
            <a:avLst/>
          </a:prstGeom>
          <a:solidFill>
            <a:srgbClr val="F59E0B"/>
          </a:solidFill>
          <a:ln w="12700">
            <a:solidFill>
              <a:srgbClr val="1E3A5F"/>
            </a:solidFill>
            <a:prstDash val="solid"/>
          </a:ln>
        </p:spPr>
        <p:txBody>
          <a:bodyPr/>
          <a:lstStyle/>
          <a:p>
            <a:endParaRPr lang="en-US"/>
          </a:p>
        </p:txBody>
      </p:sp>
      <p:sp>
        <p:nvSpPr>
          <p:cNvPr id="61" name="Text 58"/>
          <p:cNvSpPr/>
          <p:nvPr/>
        </p:nvSpPr>
        <p:spPr>
          <a:xfrm>
            <a:off x="6876288" y="4608576"/>
            <a:ext cx="237744" cy="237744"/>
          </a:xfrm>
          <a:prstGeom prst="rect">
            <a:avLst/>
          </a:prstGeom>
          <a:noFill/>
          <a:ln/>
        </p:spPr>
        <p:txBody>
          <a:bodyPr wrap="square" rtlCol="0" anchor="ctr"/>
          <a:lstStyle/>
          <a:p>
            <a:pPr marL="0" indent="0" algn="ctr">
              <a:buNone/>
            </a:pPr>
            <a:r>
              <a:rPr lang="en-US" sz="800" b="1" dirty="0">
                <a:solidFill>
                  <a:srgbClr val="0F172A"/>
                </a:solidFill>
              </a:rPr>
              <a:t>9</a:t>
            </a:r>
            <a:endParaRPr lang="en-US" sz="800" dirty="0"/>
          </a:p>
        </p:txBody>
      </p:sp>
      <p:sp>
        <p:nvSpPr>
          <p:cNvPr id="62" name="Text 59"/>
          <p:cNvSpPr/>
          <p:nvPr/>
        </p:nvSpPr>
        <p:spPr>
          <a:xfrm>
            <a:off x="7178040" y="4599432"/>
            <a:ext cx="1828800" cy="201168"/>
          </a:xfrm>
          <a:prstGeom prst="rect">
            <a:avLst/>
          </a:prstGeom>
          <a:noFill/>
          <a:ln/>
        </p:spPr>
        <p:txBody>
          <a:bodyPr wrap="square" rtlCol="0" anchor="ctr"/>
          <a:lstStyle/>
          <a:p>
            <a:pPr marL="0" indent="0">
              <a:buNone/>
            </a:pPr>
            <a:r>
              <a:rPr lang="en-US" sz="850" b="1" dirty="0">
                <a:solidFill>
                  <a:srgbClr val="FFFFFF"/>
                </a:solidFill>
              </a:rPr>
              <a:t>On-Call Badge</a:t>
            </a:r>
            <a:endParaRPr lang="en-US" sz="850" dirty="0"/>
          </a:p>
        </p:txBody>
      </p:sp>
      <p:sp>
        <p:nvSpPr>
          <p:cNvPr id="63" name="Text 60"/>
          <p:cNvSpPr/>
          <p:nvPr/>
        </p:nvSpPr>
        <p:spPr>
          <a:xfrm>
            <a:off x="7178040" y="4800600"/>
            <a:ext cx="1828800" cy="201168"/>
          </a:xfrm>
          <a:prstGeom prst="rect">
            <a:avLst/>
          </a:prstGeom>
          <a:noFill/>
          <a:ln/>
        </p:spPr>
        <p:txBody>
          <a:bodyPr wrap="square" rtlCol="0" anchor="ctr"/>
          <a:lstStyle/>
          <a:p>
            <a:pPr marL="0" indent="0">
              <a:buNone/>
            </a:pPr>
            <a:r>
              <a:rPr lang="en-US" sz="700" dirty="0">
                <a:solidFill>
                  <a:srgbClr val="94A3B8"/>
                </a:solidFill>
              </a:rPr>
              <a:t>Red dot = on-call for escalations</a:t>
            </a:r>
            <a:endParaRPr lang="en-US" sz="700" dirty="0"/>
          </a:p>
        </p:txBody>
      </p:sp>
      <p:sp>
        <p:nvSpPr>
          <p:cNvPr id="64" name="Shape 61"/>
          <p:cNvSpPr/>
          <p:nvPr/>
        </p:nvSpPr>
        <p:spPr>
          <a:xfrm>
            <a:off x="6876288" y="5102352"/>
            <a:ext cx="237744" cy="237744"/>
          </a:xfrm>
          <a:prstGeom prst="ellipse">
            <a:avLst/>
          </a:prstGeom>
          <a:solidFill>
            <a:srgbClr val="F59E0B"/>
          </a:solidFill>
          <a:ln w="12700">
            <a:solidFill>
              <a:srgbClr val="1E3A5F"/>
            </a:solidFill>
            <a:prstDash val="solid"/>
          </a:ln>
        </p:spPr>
        <p:txBody>
          <a:bodyPr/>
          <a:lstStyle/>
          <a:p>
            <a:endParaRPr lang="en-US"/>
          </a:p>
        </p:txBody>
      </p:sp>
      <p:sp>
        <p:nvSpPr>
          <p:cNvPr id="65" name="Text 62"/>
          <p:cNvSpPr/>
          <p:nvPr/>
        </p:nvSpPr>
        <p:spPr>
          <a:xfrm>
            <a:off x="6876288" y="5102352"/>
            <a:ext cx="237744" cy="237744"/>
          </a:xfrm>
          <a:prstGeom prst="rect">
            <a:avLst/>
          </a:prstGeom>
          <a:noFill/>
          <a:ln/>
        </p:spPr>
        <p:txBody>
          <a:bodyPr wrap="square" rtlCol="0" anchor="ctr"/>
          <a:lstStyle/>
          <a:p>
            <a:pPr marL="0" indent="0" algn="ctr">
              <a:buNone/>
            </a:pPr>
            <a:r>
              <a:rPr lang="en-US" sz="800" b="1" dirty="0">
                <a:solidFill>
                  <a:srgbClr val="0F172A"/>
                </a:solidFill>
              </a:rPr>
              <a:t>10</a:t>
            </a:r>
            <a:endParaRPr lang="en-US" sz="800" dirty="0"/>
          </a:p>
        </p:txBody>
      </p:sp>
      <p:sp>
        <p:nvSpPr>
          <p:cNvPr id="66" name="Text 63"/>
          <p:cNvSpPr/>
          <p:nvPr/>
        </p:nvSpPr>
        <p:spPr>
          <a:xfrm>
            <a:off x="7178040" y="5093208"/>
            <a:ext cx="1828800" cy="201168"/>
          </a:xfrm>
          <a:prstGeom prst="rect">
            <a:avLst/>
          </a:prstGeom>
          <a:noFill/>
          <a:ln/>
        </p:spPr>
        <p:txBody>
          <a:bodyPr wrap="square" rtlCol="0" anchor="ctr"/>
          <a:lstStyle/>
          <a:p>
            <a:pPr marL="0" indent="0">
              <a:buNone/>
            </a:pPr>
            <a:r>
              <a:rPr lang="en-US" sz="850" b="1" dirty="0">
                <a:solidFill>
                  <a:srgbClr val="FFFFFF"/>
                </a:solidFill>
              </a:rPr>
              <a:t>Holiday Row</a:t>
            </a:r>
            <a:endParaRPr lang="en-US" sz="850" dirty="0"/>
          </a:p>
        </p:txBody>
      </p:sp>
      <p:sp>
        <p:nvSpPr>
          <p:cNvPr id="67" name="Text 64"/>
          <p:cNvSpPr/>
          <p:nvPr/>
        </p:nvSpPr>
        <p:spPr>
          <a:xfrm>
            <a:off x="7178040" y="5294376"/>
            <a:ext cx="1828800" cy="201168"/>
          </a:xfrm>
          <a:prstGeom prst="rect">
            <a:avLst/>
          </a:prstGeom>
          <a:noFill/>
          <a:ln/>
        </p:spPr>
        <p:txBody>
          <a:bodyPr wrap="square" rtlCol="0" anchor="ctr"/>
          <a:lstStyle/>
          <a:p>
            <a:pPr marL="0" indent="0">
              <a:buNone/>
            </a:pPr>
            <a:r>
              <a:rPr lang="en-US" sz="700" dirty="0">
                <a:solidFill>
                  <a:srgbClr val="94A3B8"/>
                </a:solidFill>
              </a:rPr>
              <a:t>Amber = public holiday, staffing risk</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E3A5F"/>
          </a:solidFill>
          <a:ln w="12700">
            <a:solidFill>
              <a:srgbClr val="1E3A5F"/>
            </a:solidFill>
            <a:prstDash val="solid"/>
          </a:ln>
        </p:spPr>
        <p:txBody>
          <a:bodyPr/>
          <a:lstStyle/>
          <a:p>
            <a:endParaRPr lang="en-US"/>
          </a:p>
        </p:txBody>
      </p:sp>
      <p:sp>
        <p:nvSpPr>
          <p:cNvPr id="3" name="Text 1"/>
          <p:cNvSpPr/>
          <p:nvPr/>
        </p:nvSpPr>
        <p:spPr>
          <a:xfrm>
            <a:off x="274320" y="64008"/>
            <a:ext cx="6400800" cy="310896"/>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PT Coverage</a:t>
            </a:r>
            <a:endParaRPr lang="en-US" sz="1800" dirty="0"/>
          </a:p>
        </p:txBody>
      </p:sp>
      <p:sp>
        <p:nvSpPr>
          <p:cNvPr id="4" name="Text 2"/>
          <p:cNvSpPr/>
          <p:nvPr/>
        </p:nvSpPr>
        <p:spPr>
          <a:xfrm>
            <a:off x="274320" y="365760"/>
            <a:ext cx="6400800" cy="182880"/>
          </a:xfrm>
          <a:prstGeom prst="rect">
            <a:avLst/>
          </a:prstGeom>
          <a:noFill/>
          <a:ln/>
        </p:spPr>
        <p:txBody>
          <a:bodyPr wrap="square" rtlCol="0" anchor="ctr"/>
          <a:lstStyle/>
          <a:p>
            <a:pPr marL="0" indent="0">
              <a:buNone/>
            </a:pPr>
            <a:r>
              <a:rPr lang="en-US" sz="900" dirty="0">
                <a:solidFill>
                  <a:srgbClr val="94A3B8"/>
                </a:solidFill>
              </a:rPr>
              <a:t>Per-shift YCI SPOC and Client SME contacts across every project — live, not a stale spreadsheet</a:t>
            </a:r>
            <a:endParaRPr lang="en-US" sz="900" dirty="0"/>
          </a:p>
        </p:txBody>
      </p:sp>
      <p:pic>
        <p:nvPicPr>
          <p:cNvPr id="5" name="Image 0" descr="/sessions/dazzling-bold-euler/mnt/shiftbuddy/screenshots/screencapture-shiftbuddy-brahmateja-dashboard-coverage-2026-05-28-07_28_28_crop.png"/>
          <p:cNvPicPr>
            <a:picLocks noChangeAspect="1"/>
          </p:cNvPicPr>
          <p:nvPr/>
        </p:nvPicPr>
        <p:blipFill>
          <a:blip r:embed="rId3"/>
          <a:stretch>
            <a:fillRect/>
          </a:stretch>
        </p:blipFill>
        <p:spPr>
          <a:xfrm>
            <a:off x="137160" y="621792"/>
            <a:ext cx="4533334" cy="4407408"/>
          </a:xfrm>
          <a:prstGeom prst="rect">
            <a:avLst/>
          </a:prstGeom>
        </p:spPr>
      </p:pic>
      <p:sp>
        <p:nvSpPr>
          <p:cNvPr id="6" name="Shape 3"/>
          <p:cNvSpPr/>
          <p:nvPr/>
        </p:nvSpPr>
        <p:spPr>
          <a:xfrm>
            <a:off x="137160" y="621792"/>
            <a:ext cx="4533334" cy="4407408"/>
          </a:xfrm>
          <a:prstGeom prst="rect">
            <a:avLst/>
          </a:prstGeom>
          <a:ln w="6350">
            <a:solidFill>
              <a:srgbClr val="E2E8F0"/>
            </a:solidFill>
            <a:prstDash val="solid"/>
          </a:ln>
        </p:spPr>
        <p:txBody>
          <a:bodyPr/>
          <a:lstStyle/>
          <a:p>
            <a:endParaRPr lang="en-US"/>
          </a:p>
        </p:txBody>
      </p:sp>
      <p:sp>
        <p:nvSpPr>
          <p:cNvPr id="7" name="Shape 4"/>
          <p:cNvSpPr/>
          <p:nvPr/>
        </p:nvSpPr>
        <p:spPr>
          <a:xfrm>
            <a:off x="546419" y="669014"/>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8" name="Text 5"/>
          <p:cNvSpPr/>
          <p:nvPr/>
        </p:nvSpPr>
        <p:spPr>
          <a:xfrm>
            <a:off x="546419" y="669014"/>
            <a:ext cx="274320" cy="274320"/>
          </a:xfrm>
          <a:prstGeom prst="rect">
            <a:avLst/>
          </a:prstGeom>
          <a:noFill/>
          <a:ln/>
        </p:spPr>
        <p:txBody>
          <a:bodyPr wrap="square" rtlCol="0" anchor="ctr"/>
          <a:lstStyle/>
          <a:p>
            <a:pPr marL="0" indent="0" algn="ctr">
              <a:buNone/>
            </a:pPr>
            <a:r>
              <a:rPr lang="en-US" sz="1000" b="1" dirty="0">
                <a:solidFill>
                  <a:srgbClr val="0F172A"/>
                </a:solidFill>
              </a:rPr>
              <a:t>1</a:t>
            </a:r>
            <a:endParaRPr lang="en-US" sz="1000" dirty="0"/>
          </a:p>
        </p:txBody>
      </p:sp>
      <p:sp>
        <p:nvSpPr>
          <p:cNvPr id="9" name="Shape 6"/>
          <p:cNvSpPr/>
          <p:nvPr/>
        </p:nvSpPr>
        <p:spPr>
          <a:xfrm>
            <a:off x="3285309" y="669014"/>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0" name="Text 7"/>
          <p:cNvSpPr/>
          <p:nvPr/>
        </p:nvSpPr>
        <p:spPr>
          <a:xfrm>
            <a:off x="3285309" y="669014"/>
            <a:ext cx="274320" cy="274320"/>
          </a:xfrm>
          <a:prstGeom prst="rect">
            <a:avLst/>
          </a:prstGeom>
          <a:noFill/>
          <a:ln/>
        </p:spPr>
        <p:txBody>
          <a:bodyPr wrap="square" rtlCol="0" anchor="ctr"/>
          <a:lstStyle/>
          <a:p>
            <a:pPr marL="0" indent="0" algn="ctr">
              <a:buNone/>
            </a:pPr>
            <a:r>
              <a:rPr lang="en-US" sz="1000" b="1" dirty="0">
                <a:solidFill>
                  <a:srgbClr val="0F172A"/>
                </a:solidFill>
              </a:rPr>
              <a:t>2</a:t>
            </a:r>
            <a:endParaRPr lang="en-US" sz="1000" dirty="0"/>
          </a:p>
        </p:txBody>
      </p:sp>
      <p:sp>
        <p:nvSpPr>
          <p:cNvPr id="11" name="Shape 8"/>
          <p:cNvSpPr/>
          <p:nvPr/>
        </p:nvSpPr>
        <p:spPr>
          <a:xfrm>
            <a:off x="546419" y="779199"/>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2" name="Text 9"/>
          <p:cNvSpPr/>
          <p:nvPr/>
        </p:nvSpPr>
        <p:spPr>
          <a:xfrm>
            <a:off x="546419" y="779199"/>
            <a:ext cx="274320" cy="274320"/>
          </a:xfrm>
          <a:prstGeom prst="rect">
            <a:avLst/>
          </a:prstGeom>
          <a:noFill/>
          <a:ln/>
        </p:spPr>
        <p:txBody>
          <a:bodyPr wrap="square" rtlCol="0" anchor="ctr"/>
          <a:lstStyle/>
          <a:p>
            <a:pPr marL="0" indent="0" algn="ctr">
              <a:buNone/>
            </a:pPr>
            <a:r>
              <a:rPr lang="en-US" sz="1000" b="1" dirty="0">
                <a:solidFill>
                  <a:srgbClr val="0F172A"/>
                </a:solidFill>
              </a:rPr>
              <a:t>3</a:t>
            </a:r>
            <a:endParaRPr lang="en-US" sz="1000" dirty="0"/>
          </a:p>
        </p:txBody>
      </p:sp>
      <p:sp>
        <p:nvSpPr>
          <p:cNvPr id="13" name="Shape 10"/>
          <p:cNvSpPr/>
          <p:nvPr/>
        </p:nvSpPr>
        <p:spPr>
          <a:xfrm>
            <a:off x="593642" y="842162"/>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4" name="Text 11"/>
          <p:cNvSpPr/>
          <p:nvPr/>
        </p:nvSpPr>
        <p:spPr>
          <a:xfrm>
            <a:off x="593642" y="842162"/>
            <a:ext cx="274320" cy="274320"/>
          </a:xfrm>
          <a:prstGeom prst="rect">
            <a:avLst/>
          </a:prstGeom>
          <a:noFill/>
          <a:ln/>
        </p:spPr>
        <p:txBody>
          <a:bodyPr wrap="square" rtlCol="0" anchor="ctr"/>
          <a:lstStyle/>
          <a:p>
            <a:pPr marL="0" indent="0" algn="ctr">
              <a:buNone/>
            </a:pPr>
            <a:r>
              <a:rPr lang="en-US" sz="1000" b="1" dirty="0">
                <a:solidFill>
                  <a:srgbClr val="0F172A"/>
                </a:solidFill>
              </a:rPr>
              <a:t>4</a:t>
            </a:r>
            <a:endParaRPr lang="en-US" sz="1000" dirty="0"/>
          </a:p>
        </p:txBody>
      </p:sp>
      <p:sp>
        <p:nvSpPr>
          <p:cNvPr id="15" name="Shape 12"/>
          <p:cNvSpPr/>
          <p:nvPr/>
        </p:nvSpPr>
        <p:spPr>
          <a:xfrm>
            <a:off x="2498271" y="842162"/>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6" name="Text 13"/>
          <p:cNvSpPr/>
          <p:nvPr/>
        </p:nvSpPr>
        <p:spPr>
          <a:xfrm>
            <a:off x="2498271" y="842162"/>
            <a:ext cx="274320" cy="274320"/>
          </a:xfrm>
          <a:prstGeom prst="rect">
            <a:avLst/>
          </a:prstGeom>
          <a:noFill/>
          <a:ln/>
        </p:spPr>
        <p:txBody>
          <a:bodyPr wrap="square" rtlCol="0" anchor="ctr"/>
          <a:lstStyle/>
          <a:p>
            <a:pPr marL="0" indent="0" algn="ctr">
              <a:buNone/>
            </a:pPr>
            <a:r>
              <a:rPr lang="en-US" sz="1000" b="1" dirty="0">
                <a:solidFill>
                  <a:srgbClr val="0F172A"/>
                </a:solidFill>
              </a:rPr>
              <a:t>5</a:t>
            </a:r>
            <a:endParaRPr lang="en-US" sz="1000" dirty="0"/>
          </a:p>
        </p:txBody>
      </p:sp>
      <p:sp>
        <p:nvSpPr>
          <p:cNvPr id="17" name="Shape 14"/>
          <p:cNvSpPr/>
          <p:nvPr/>
        </p:nvSpPr>
        <p:spPr>
          <a:xfrm>
            <a:off x="546419" y="1141237"/>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18" name="Text 15"/>
          <p:cNvSpPr/>
          <p:nvPr/>
        </p:nvSpPr>
        <p:spPr>
          <a:xfrm>
            <a:off x="546419" y="1141237"/>
            <a:ext cx="274320" cy="274320"/>
          </a:xfrm>
          <a:prstGeom prst="rect">
            <a:avLst/>
          </a:prstGeom>
          <a:noFill/>
          <a:ln/>
        </p:spPr>
        <p:txBody>
          <a:bodyPr wrap="square" rtlCol="0" anchor="ctr"/>
          <a:lstStyle/>
          <a:p>
            <a:pPr marL="0" indent="0" algn="ctr">
              <a:buNone/>
            </a:pPr>
            <a:r>
              <a:rPr lang="en-US" sz="1000" b="1" dirty="0">
                <a:solidFill>
                  <a:srgbClr val="0F172A"/>
                </a:solidFill>
              </a:rPr>
              <a:t>6</a:t>
            </a:r>
            <a:endParaRPr lang="en-US" sz="1000" dirty="0"/>
          </a:p>
        </p:txBody>
      </p:sp>
      <p:sp>
        <p:nvSpPr>
          <p:cNvPr id="19" name="Shape 16"/>
          <p:cNvSpPr/>
          <p:nvPr/>
        </p:nvSpPr>
        <p:spPr>
          <a:xfrm>
            <a:off x="546419" y="1471792"/>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0" name="Text 17"/>
          <p:cNvSpPr/>
          <p:nvPr/>
        </p:nvSpPr>
        <p:spPr>
          <a:xfrm>
            <a:off x="546419" y="1471792"/>
            <a:ext cx="274320" cy="274320"/>
          </a:xfrm>
          <a:prstGeom prst="rect">
            <a:avLst/>
          </a:prstGeom>
          <a:noFill/>
          <a:ln/>
        </p:spPr>
        <p:txBody>
          <a:bodyPr wrap="square" rtlCol="0" anchor="ctr"/>
          <a:lstStyle/>
          <a:p>
            <a:pPr marL="0" indent="0" algn="ctr">
              <a:buNone/>
            </a:pPr>
            <a:r>
              <a:rPr lang="en-US" sz="1000" b="1" dirty="0">
                <a:solidFill>
                  <a:srgbClr val="0F172A"/>
                </a:solidFill>
              </a:rPr>
              <a:t>7</a:t>
            </a:r>
            <a:endParaRPr lang="en-US" sz="1000" dirty="0"/>
          </a:p>
        </p:txBody>
      </p:sp>
      <p:sp>
        <p:nvSpPr>
          <p:cNvPr id="21" name="Shape 18"/>
          <p:cNvSpPr/>
          <p:nvPr/>
        </p:nvSpPr>
        <p:spPr>
          <a:xfrm>
            <a:off x="2498271" y="1566237"/>
            <a:ext cx="274320" cy="274320"/>
          </a:xfrm>
          <a:prstGeom prst="ellipse">
            <a:avLst/>
          </a:prstGeom>
          <a:solidFill>
            <a:srgbClr val="F59E0B"/>
          </a:solidFill>
          <a:ln w="19050">
            <a:solidFill>
              <a:srgbClr val="FFFFFF"/>
            </a:solidFill>
            <a:prstDash val="solid"/>
          </a:ln>
          <a:effectLst>
            <a:outerShdw blurRad="38100" dist="12700" dir="2700000" algn="bl" rotWithShape="0">
              <a:srgbClr val="000000">
                <a:alpha val="30000"/>
              </a:srgbClr>
            </a:outerShdw>
          </a:effectLst>
        </p:spPr>
        <p:txBody>
          <a:bodyPr/>
          <a:lstStyle/>
          <a:p>
            <a:endParaRPr lang="en-US"/>
          </a:p>
        </p:txBody>
      </p:sp>
      <p:sp>
        <p:nvSpPr>
          <p:cNvPr id="22" name="Text 19"/>
          <p:cNvSpPr/>
          <p:nvPr/>
        </p:nvSpPr>
        <p:spPr>
          <a:xfrm>
            <a:off x="2498271" y="1566237"/>
            <a:ext cx="274320" cy="274320"/>
          </a:xfrm>
          <a:prstGeom prst="rect">
            <a:avLst/>
          </a:prstGeom>
          <a:noFill/>
          <a:ln/>
        </p:spPr>
        <p:txBody>
          <a:bodyPr wrap="square" rtlCol="0" anchor="ctr"/>
          <a:lstStyle/>
          <a:p>
            <a:pPr marL="0" indent="0" algn="ctr">
              <a:buNone/>
            </a:pPr>
            <a:r>
              <a:rPr lang="en-US" sz="1000" b="1" dirty="0">
                <a:solidFill>
                  <a:srgbClr val="0F172A"/>
                </a:solidFill>
              </a:rPr>
              <a:t>8</a:t>
            </a:r>
            <a:endParaRPr lang="en-US" sz="1000" dirty="0"/>
          </a:p>
        </p:txBody>
      </p:sp>
      <p:sp>
        <p:nvSpPr>
          <p:cNvPr id="23" name="Shape 20"/>
          <p:cNvSpPr/>
          <p:nvPr/>
        </p:nvSpPr>
        <p:spPr>
          <a:xfrm>
            <a:off x="6830568" y="576072"/>
            <a:ext cx="2267712" cy="4133088"/>
          </a:xfrm>
          <a:prstGeom prst="roundRect">
            <a:avLst/>
          </a:prstGeom>
          <a:solidFill>
            <a:srgbClr val="1E3A5F"/>
          </a:solidFill>
          <a:ln w="12700">
            <a:solidFill>
              <a:srgbClr val="1E3A5F"/>
            </a:solidFill>
            <a:prstDash val="solid"/>
          </a:ln>
        </p:spPr>
        <p:txBody>
          <a:bodyPr/>
          <a:lstStyle/>
          <a:p>
            <a:endParaRPr lang="en-US"/>
          </a:p>
        </p:txBody>
      </p:sp>
      <p:sp>
        <p:nvSpPr>
          <p:cNvPr id="24" name="Shape 21"/>
          <p:cNvSpPr/>
          <p:nvPr/>
        </p:nvSpPr>
        <p:spPr>
          <a:xfrm>
            <a:off x="6876288" y="658368"/>
            <a:ext cx="237744" cy="237744"/>
          </a:xfrm>
          <a:prstGeom prst="ellipse">
            <a:avLst/>
          </a:prstGeom>
          <a:solidFill>
            <a:srgbClr val="F59E0B"/>
          </a:solidFill>
          <a:ln w="12700">
            <a:solidFill>
              <a:srgbClr val="1E3A5F"/>
            </a:solidFill>
            <a:prstDash val="solid"/>
          </a:ln>
        </p:spPr>
        <p:txBody>
          <a:bodyPr/>
          <a:lstStyle/>
          <a:p>
            <a:endParaRPr lang="en-US"/>
          </a:p>
        </p:txBody>
      </p:sp>
      <p:sp>
        <p:nvSpPr>
          <p:cNvPr id="25" name="Text 22"/>
          <p:cNvSpPr/>
          <p:nvPr/>
        </p:nvSpPr>
        <p:spPr>
          <a:xfrm>
            <a:off x="6876288" y="658368"/>
            <a:ext cx="237744" cy="237744"/>
          </a:xfrm>
          <a:prstGeom prst="rect">
            <a:avLst/>
          </a:prstGeom>
          <a:noFill/>
          <a:ln/>
        </p:spPr>
        <p:txBody>
          <a:bodyPr wrap="square" rtlCol="0" anchor="ctr"/>
          <a:lstStyle/>
          <a:p>
            <a:pPr marL="0" indent="0" algn="ctr">
              <a:buNone/>
            </a:pPr>
            <a:r>
              <a:rPr lang="en-US" sz="800" b="1" dirty="0">
                <a:solidFill>
                  <a:srgbClr val="0F172A"/>
                </a:solidFill>
              </a:rPr>
              <a:t>1</a:t>
            </a:r>
            <a:endParaRPr lang="en-US" sz="800" dirty="0"/>
          </a:p>
        </p:txBody>
      </p:sp>
      <p:sp>
        <p:nvSpPr>
          <p:cNvPr id="26" name="Text 23"/>
          <p:cNvSpPr/>
          <p:nvPr/>
        </p:nvSpPr>
        <p:spPr>
          <a:xfrm>
            <a:off x="7178040" y="649224"/>
            <a:ext cx="1828800" cy="201168"/>
          </a:xfrm>
          <a:prstGeom prst="rect">
            <a:avLst/>
          </a:prstGeom>
          <a:noFill/>
          <a:ln/>
        </p:spPr>
        <p:txBody>
          <a:bodyPr wrap="square" rtlCol="0" anchor="ctr"/>
          <a:lstStyle/>
          <a:p>
            <a:pPr marL="0" indent="0">
              <a:buNone/>
            </a:pPr>
            <a:r>
              <a:rPr lang="en-US" sz="850" b="1" dirty="0">
                <a:solidFill>
                  <a:srgbClr val="FFFFFF"/>
                </a:solidFill>
              </a:rPr>
              <a:t>Page Header</a:t>
            </a:r>
            <a:endParaRPr lang="en-US" sz="850" dirty="0"/>
          </a:p>
        </p:txBody>
      </p:sp>
      <p:sp>
        <p:nvSpPr>
          <p:cNvPr id="27" name="Text 24"/>
          <p:cNvSpPr/>
          <p:nvPr/>
        </p:nvSpPr>
        <p:spPr>
          <a:xfrm>
            <a:off x="7178040" y="850392"/>
            <a:ext cx="1828800" cy="201168"/>
          </a:xfrm>
          <a:prstGeom prst="rect">
            <a:avLst/>
          </a:prstGeom>
          <a:noFill/>
          <a:ln/>
        </p:spPr>
        <p:txBody>
          <a:bodyPr wrap="square" rtlCol="0" anchor="ctr"/>
          <a:lstStyle/>
          <a:p>
            <a:pPr marL="0" indent="0">
              <a:buNone/>
            </a:pPr>
            <a:r>
              <a:rPr lang="en-US" sz="700" dirty="0">
                <a:solidFill>
                  <a:srgbClr val="94A3B8"/>
                </a:solidFill>
              </a:rPr>
              <a:t>Shows coverage is per-shift, per-project</a:t>
            </a:r>
            <a:endParaRPr lang="en-US" sz="700" dirty="0"/>
          </a:p>
        </p:txBody>
      </p:sp>
      <p:sp>
        <p:nvSpPr>
          <p:cNvPr id="28" name="Shape 25"/>
          <p:cNvSpPr/>
          <p:nvPr/>
        </p:nvSpPr>
        <p:spPr>
          <a:xfrm>
            <a:off x="6876288" y="1152144"/>
            <a:ext cx="237744" cy="237744"/>
          </a:xfrm>
          <a:prstGeom prst="ellipse">
            <a:avLst/>
          </a:prstGeom>
          <a:solidFill>
            <a:srgbClr val="F59E0B"/>
          </a:solidFill>
          <a:ln w="12700">
            <a:solidFill>
              <a:srgbClr val="1E3A5F"/>
            </a:solidFill>
            <a:prstDash val="solid"/>
          </a:ln>
        </p:spPr>
        <p:txBody>
          <a:bodyPr/>
          <a:lstStyle/>
          <a:p>
            <a:endParaRPr lang="en-US"/>
          </a:p>
        </p:txBody>
      </p:sp>
      <p:sp>
        <p:nvSpPr>
          <p:cNvPr id="29" name="Text 26"/>
          <p:cNvSpPr/>
          <p:nvPr/>
        </p:nvSpPr>
        <p:spPr>
          <a:xfrm>
            <a:off x="6876288" y="1152144"/>
            <a:ext cx="237744" cy="237744"/>
          </a:xfrm>
          <a:prstGeom prst="rect">
            <a:avLst/>
          </a:prstGeom>
          <a:noFill/>
          <a:ln/>
        </p:spPr>
        <p:txBody>
          <a:bodyPr wrap="square" rtlCol="0" anchor="ctr"/>
          <a:lstStyle/>
          <a:p>
            <a:pPr marL="0" indent="0" algn="ctr">
              <a:buNone/>
            </a:pPr>
            <a:r>
              <a:rPr lang="en-US" sz="800" b="1" dirty="0">
                <a:solidFill>
                  <a:srgbClr val="0F172A"/>
                </a:solidFill>
              </a:rPr>
              <a:t>2</a:t>
            </a:r>
            <a:endParaRPr lang="en-US" sz="800" dirty="0"/>
          </a:p>
        </p:txBody>
      </p:sp>
      <p:sp>
        <p:nvSpPr>
          <p:cNvPr id="30" name="Text 27"/>
          <p:cNvSpPr/>
          <p:nvPr/>
        </p:nvSpPr>
        <p:spPr>
          <a:xfrm>
            <a:off x="7178040" y="1143000"/>
            <a:ext cx="1828800" cy="201168"/>
          </a:xfrm>
          <a:prstGeom prst="rect">
            <a:avLst/>
          </a:prstGeom>
          <a:noFill/>
          <a:ln/>
        </p:spPr>
        <p:txBody>
          <a:bodyPr wrap="square" rtlCol="0" anchor="ctr"/>
          <a:lstStyle/>
          <a:p>
            <a:pPr marL="0" indent="0">
              <a:buNone/>
            </a:pPr>
            <a:r>
              <a:rPr lang="en-US" sz="850" b="1" dirty="0">
                <a:solidFill>
                  <a:srgbClr val="FFFFFF"/>
                </a:solidFill>
              </a:rPr>
              <a:t>Shift Legend</a:t>
            </a:r>
            <a:endParaRPr lang="en-US" sz="850" dirty="0"/>
          </a:p>
        </p:txBody>
      </p:sp>
      <p:sp>
        <p:nvSpPr>
          <p:cNvPr id="31" name="Text 28"/>
          <p:cNvSpPr/>
          <p:nvPr/>
        </p:nvSpPr>
        <p:spPr>
          <a:xfrm>
            <a:off x="7178040" y="1344168"/>
            <a:ext cx="1828800" cy="201168"/>
          </a:xfrm>
          <a:prstGeom prst="rect">
            <a:avLst/>
          </a:prstGeom>
          <a:noFill/>
          <a:ln/>
        </p:spPr>
        <p:txBody>
          <a:bodyPr wrap="square" rtlCol="0" anchor="ctr"/>
          <a:lstStyle/>
          <a:p>
            <a:pPr marL="0" indent="0">
              <a:buNone/>
            </a:pPr>
            <a:r>
              <a:rPr lang="en-US" sz="700" dirty="0">
                <a:solidFill>
                  <a:srgbClr val="94A3B8"/>
                </a:solidFill>
              </a:rPr>
              <a:t>S1 Morning / S2 Afternoon / S3 Night</a:t>
            </a:r>
            <a:endParaRPr lang="en-US" sz="700" dirty="0"/>
          </a:p>
        </p:txBody>
      </p:sp>
      <p:sp>
        <p:nvSpPr>
          <p:cNvPr id="32" name="Shape 29"/>
          <p:cNvSpPr/>
          <p:nvPr/>
        </p:nvSpPr>
        <p:spPr>
          <a:xfrm>
            <a:off x="6876288" y="1645920"/>
            <a:ext cx="237744" cy="237744"/>
          </a:xfrm>
          <a:prstGeom prst="ellipse">
            <a:avLst/>
          </a:prstGeom>
          <a:solidFill>
            <a:srgbClr val="F59E0B"/>
          </a:solidFill>
          <a:ln w="12700">
            <a:solidFill>
              <a:srgbClr val="1E3A5F"/>
            </a:solidFill>
            <a:prstDash val="solid"/>
          </a:ln>
        </p:spPr>
        <p:txBody>
          <a:bodyPr/>
          <a:lstStyle/>
          <a:p>
            <a:endParaRPr lang="en-US"/>
          </a:p>
        </p:txBody>
      </p:sp>
      <p:sp>
        <p:nvSpPr>
          <p:cNvPr id="33" name="Text 30"/>
          <p:cNvSpPr/>
          <p:nvPr/>
        </p:nvSpPr>
        <p:spPr>
          <a:xfrm>
            <a:off x="6876288" y="1645920"/>
            <a:ext cx="237744" cy="237744"/>
          </a:xfrm>
          <a:prstGeom prst="rect">
            <a:avLst/>
          </a:prstGeom>
          <a:noFill/>
          <a:ln/>
        </p:spPr>
        <p:txBody>
          <a:bodyPr wrap="square" rtlCol="0" anchor="ctr"/>
          <a:lstStyle/>
          <a:p>
            <a:pPr marL="0" indent="0" algn="ctr">
              <a:buNone/>
            </a:pPr>
            <a:r>
              <a:rPr lang="en-US" sz="800" b="1" dirty="0">
                <a:solidFill>
                  <a:srgbClr val="0F172A"/>
                </a:solidFill>
              </a:rPr>
              <a:t>3</a:t>
            </a:r>
            <a:endParaRPr lang="en-US" sz="800" dirty="0"/>
          </a:p>
        </p:txBody>
      </p:sp>
      <p:sp>
        <p:nvSpPr>
          <p:cNvPr id="34" name="Text 31"/>
          <p:cNvSpPr/>
          <p:nvPr/>
        </p:nvSpPr>
        <p:spPr>
          <a:xfrm>
            <a:off x="7178040" y="1636776"/>
            <a:ext cx="1828800" cy="201168"/>
          </a:xfrm>
          <a:prstGeom prst="rect">
            <a:avLst/>
          </a:prstGeom>
          <a:noFill/>
          <a:ln/>
        </p:spPr>
        <p:txBody>
          <a:bodyPr wrap="square" rtlCol="0" anchor="ctr"/>
          <a:lstStyle/>
          <a:p>
            <a:pPr marL="0" indent="0">
              <a:buNone/>
            </a:pPr>
            <a:r>
              <a:rPr lang="en-US" sz="850" b="1" dirty="0">
                <a:solidFill>
                  <a:srgbClr val="FFFFFF"/>
                </a:solidFill>
              </a:rPr>
              <a:t>Project Section</a:t>
            </a:r>
            <a:endParaRPr lang="en-US" sz="850" dirty="0"/>
          </a:p>
        </p:txBody>
      </p:sp>
      <p:sp>
        <p:nvSpPr>
          <p:cNvPr id="35" name="Text 32"/>
          <p:cNvSpPr/>
          <p:nvPr/>
        </p:nvSpPr>
        <p:spPr>
          <a:xfrm>
            <a:off x="7178040" y="1837944"/>
            <a:ext cx="1828800" cy="201168"/>
          </a:xfrm>
          <a:prstGeom prst="rect">
            <a:avLst/>
          </a:prstGeom>
          <a:noFill/>
          <a:ln/>
        </p:spPr>
        <p:txBody>
          <a:bodyPr wrap="square" rtlCol="0" anchor="ctr"/>
          <a:lstStyle/>
          <a:p>
            <a:pPr marL="0" indent="0">
              <a:buNone/>
            </a:pPr>
            <a:r>
              <a:rPr lang="en-US" sz="700" dirty="0">
                <a:solidFill>
                  <a:srgbClr val="94A3B8"/>
                </a:solidFill>
              </a:rPr>
              <a:t>Each project group with team count</a:t>
            </a:r>
            <a:endParaRPr lang="en-US" sz="700" dirty="0"/>
          </a:p>
        </p:txBody>
      </p:sp>
      <p:sp>
        <p:nvSpPr>
          <p:cNvPr id="36" name="Shape 33"/>
          <p:cNvSpPr/>
          <p:nvPr/>
        </p:nvSpPr>
        <p:spPr>
          <a:xfrm>
            <a:off x="6876288" y="2139696"/>
            <a:ext cx="237744" cy="237744"/>
          </a:xfrm>
          <a:prstGeom prst="ellipse">
            <a:avLst/>
          </a:prstGeom>
          <a:solidFill>
            <a:srgbClr val="F59E0B"/>
          </a:solidFill>
          <a:ln w="12700">
            <a:solidFill>
              <a:srgbClr val="1E3A5F"/>
            </a:solidFill>
            <a:prstDash val="solid"/>
          </a:ln>
        </p:spPr>
        <p:txBody>
          <a:bodyPr/>
          <a:lstStyle/>
          <a:p>
            <a:endParaRPr lang="en-US"/>
          </a:p>
        </p:txBody>
      </p:sp>
      <p:sp>
        <p:nvSpPr>
          <p:cNvPr id="37" name="Text 34"/>
          <p:cNvSpPr/>
          <p:nvPr/>
        </p:nvSpPr>
        <p:spPr>
          <a:xfrm>
            <a:off x="6876288" y="2139696"/>
            <a:ext cx="237744" cy="237744"/>
          </a:xfrm>
          <a:prstGeom prst="rect">
            <a:avLst/>
          </a:prstGeom>
          <a:noFill/>
          <a:ln/>
        </p:spPr>
        <p:txBody>
          <a:bodyPr wrap="square" rtlCol="0" anchor="ctr"/>
          <a:lstStyle/>
          <a:p>
            <a:pPr marL="0" indent="0" algn="ctr">
              <a:buNone/>
            </a:pPr>
            <a:r>
              <a:rPr lang="en-US" sz="800" b="1" dirty="0">
                <a:solidFill>
                  <a:srgbClr val="0F172A"/>
                </a:solidFill>
              </a:rPr>
              <a:t>4</a:t>
            </a:r>
            <a:endParaRPr lang="en-US" sz="800" dirty="0"/>
          </a:p>
        </p:txBody>
      </p:sp>
      <p:sp>
        <p:nvSpPr>
          <p:cNvPr id="38" name="Text 35"/>
          <p:cNvSpPr/>
          <p:nvPr/>
        </p:nvSpPr>
        <p:spPr>
          <a:xfrm>
            <a:off x="7178040" y="2130552"/>
            <a:ext cx="1828800" cy="201168"/>
          </a:xfrm>
          <a:prstGeom prst="rect">
            <a:avLst/>
          </a:prstGeom>
          <a:noFill/>
          <a:ln/>
        </p:spPr>
        <p:txBody>
          <a:bodyPr wrap="square" rtlCol="0" anchor="ctr"/>
          <a:lstStyle/>
          <a:p>
            <a:pPr marL="0" indent="0">
              <a:buNone/>
            </a:pPr>
            <a:r>
              <a:rPr lang="en-US" sz="850" b="1" dirty="0">
                <a:solidFill>
                  <a:srgbClr val="FFFFFF"/>
                </a:solidFill>
              </a:rPr>
              <a:t>YCI SPOC</a:t>
            </a:r>
            <a:endParaRPr lang="en-US" sz="850" dirty="0"/>
          </a:p>
        </p:txBody>
      </p:sp>
      <p:sp>
        <p:nvSpPr>
          <p:cNvPr id="39" name="Text 36"/>
          <p:cNvSpPr/>
          <p:nvPr/>
        </p:nvSpPr>
        <p:spPr>
          <a:xfrm>
            <a:off x="7178040" y="2331720"/>
            <a:ext cx="1828800" cy="201168"/>
          </a:xfrm>
          <a:prstGeom prst="rect">
            <a:avLst/>
          </a:prstGeom>
          <a:noFill/>
          <a:ln/>
        </p:spPr>
        <p:txBody>
          <a:bodyPr wrap="square" rtlCol="0" anchor="ctr"/>
          <a:lstStyle/>
          <a:p>
            <a:pPr marL="0" indent="0">
              <a:buNone/>
            </a:pPr>
            <a:r>
              <a:rPr lang="en-US" sz="700" dirty="0">
                <a:solidFill>
                  <a:srgbClr val="94A3B8"/>
                </a:solidFill>
              </a:rPr>
              <a:t>Vendor point-of-contact with email</a:t>
            </a:r>
            <a:endParaRPr lang="en-US" sz="700" dirty="0"/>
          </a:p>
        </p:txBody>
      </p:sp>
      <p:sp>
        <p:nvSpPr>
          <p:cNvPr id="40" name="Shape 37"/>
          <p:cNvSpPr/>
          <p:nvPr/>
        </p:nvSpPr>
        <p:spPr>
          <a:xfrm>
            <a:off x="6876288" y="2633472"/>
            <a:ext cx="237744" cy="237744"/>
          </a:xfrm>
          <a:prstGeom prst="ellipse">
            <a:avLst/>
          </a:prstGeom>
          <a:solidFill>
            <a:srgbClr val="F59E0B"/>
          </a:solidFill>
          <a:ln w="12700">
            <a:solidFill>
              <a:srgbClr val="1E3A5F"/>
            </a:solidFill>
            <a:prstDash val="solid"/>
          </a:ln>
        </p:spPr>
        <p:txBody>
          <a:bodyPr/>
          <a:lstStyle/>
          <a:p>
            <a:endParaRPr lang="en-US"/>
          </a:p>
        </p:txBody>
      </p:sp>
      <p:sp>
        <p:nvSpPr>
          <p:cNvPr id="41" name="Text 38"/>
          <p:cNvSpPr/>
          <p:nvPr/>
        </p:nvSpPr>
        <p:spPr>
          <a:xfrm>
            <a:off x="6876288" y="2633472"/>
            <a:ext cx="237744" cy="237744"/>
          </a:xfrm>
          <a:prstGeom prst="rect">
            <a:avLst/>
          </a:prstGeom>
          <a:noFill/>
          <a:ln/>
        </p:spPr>
        <p:txBody>
          <a:bodyPr wrap="square" rtlCol="0" anchor="ctr"/>
          <a:lstStyle/>
          <a:p>
            <a:pPr marL="0" indent="0" algn="ctr">
              <a:buNone/>
            </a:pPr>
            <a:r>
              <a:rPr lang="en-US" sz="800" b="1" dirty="0">
                <a:solidFill>
                  <a:srgbClr val="0F172A"/>
                </a:solidFill>
              </a:rPr>
              <a:t>5</a:t>
            </a:r>
            <a:endParaRPr lang="en-US" sz="800" dirty="0"/>
          </a:p>
        </p:txBody>
      </p:sp>
      <p:sp>
        <p:nvSpPr>
          <p:cNvPr id="42" name="Text 39"/>
          <p:cNvSpPr/>
          <p:nvPr/>
        </p:nvSpPr>
        <p:spPr>
          <a:xfrm>
            <a:off x="7178040" y="2624328"/>
            <a:ext cx="1828800" cy="201168"/>
          </a:xfrm>
          <a:prstGeom prst="rect">
            <a:avLst/>
          </a:prstGeom>
          <a:noFill/>
          <a:ln/>
        </p:spPr>
        <p:txBody>
          <a:bodyPr wrap="square" rtlCol="0" anchor="ctr"/>
          <a:lstStyle/>
          <a:p>
            <a:pPr marL="0" indent="0">
              <a:buNone/>
            </a:pPr>
            <a:r>
              <a:rPr lang="en-US" sz="850" b="1" dirty="0">
                <a:solidFill>
                  <a:srgbClr val="FFFFFF"/>
                </a:solidFill>
              </a:rPr>
              <a:t>Client SME</a:t>
            </a:r>
            <a:endParaRPr lang="en-US" sz="850" dirty="0"/>
          </a:p>
        </p:txBody>
      </p:sp>
      <p:sp>
        <p:nvSpPr>
          <p:cNvPr id="43" name="Text 40"/>
          <p:cNvSpPr/>
          <p:nvPr/>
        </p:nvSpPr>
        <p:spPr>
          <a:xfrm>
            <a:off x="7178040" y="2825496"/>
            <a:ext cx="1828800" cy="201168"/>
          </a:xfrm>
          <a:prstGeom prst="rect">
            <a:avLst/>
          </a:prstGeom>
          <a:noFill/>
          <a:ln/>
        </p:spPr>
        <p:txBody>
          <a:bodyPr wrap="square" rtlCol="0" anchor="ctr"/>
          <a:lstStyle/>
          <a:p>
            <a:pPr marL="0" indent="0">
              <a:buNone/>
            </a:pPr>
            <a:r>
              <a:rPr lang="en-US" sz="700" dirty="0">
                <a:solidFill>
                  <a:srgbClr val="94A3B8"/>
                </a:solidFill>
              </a:rPr>
              <a:t>Corp counterpart (or 'Not assigned')</a:t>
            </a:r>
            <a:endParaRPr lang="en-US" sz="700" dirty="0"/>
          </a:p>
        </p:txBody>
      </p:sp>
      <p:sp>
        <p:nvSpPr>
          <p:cNvPr id="44" name="Shape 41"/>
          <p:cNvSpPr/>
          <p:nvPr/>
        </p:nvSpPr>
        <p:spPr>
          <a:xfrm>
            <a:off x="6876288" y="3127248"/>
            <a:ext cx="237744" cy="237744"/>
          </a:xfrm>
          <a:prstGeom prst="ellipse">
            <a:avLst/>
          </a:prstGeom>
          <a:solidFill>
            <a:srgbClr val="F59E0B"/>
          </a:solidFill>
          <a:ln w="12700">
            <a:solidFill>
              <a:srgbClr val="1E3A5F"/>
            </a:solidFill>
            <a:prstDash val="solid"/>
          </a:ln>
        </p:spPr>
        <p:txBody>
          <a:bodyPr/>
          <a:lstStyle/>
          <a:p>
            <a:endParaRPr lang="en-US"/>
          </a:p>
        </p:txBody>
      </p:sp>
      <p:sp>
        <p:nvSpPr>
          <p:cNvPr id="45" name="Text 42"/>
          <p:cNvSpPr/>
          <p:nvPr/>
        </p:nvSpPr>
        <p:spPr>
          <a:xfrm>
            <a:off x="6876288" y="3127248"/>
            <a:ext cx="237744" cy="237744"/>
          </a:xfrm>
          <a:prstGeom prst="rect">
            <a:avLst/>
          </a:prstGeom>
          <a:noFill/>
          <a:ln/>
        </p:spPr>
        <p:txBody>
          <a:bodyPr wrap="square" rtlCol="0" anchor="ctr"/>
          <a:lstStyle/>
          <a:p>
            <a:pPr marL="0" indent="0" algn="ctr">
              <a:buNone/>
            </a:pPr>
            <a:r>
              <a:rPr lang="en-US" sz="800" b="1" dirty="0">
                <a:solidFill>
                  <a:srgbClr val="0F172A"/>
                </a:solidFill>
              </a:rPr>
              <a:t>6</a:t>
            </a:r>
            <a:endParaRPr lang="en-US" sz="800" dirty="0"/>
          </a:p>
        </p:txBody>
      </p:sp>
      <p:sp>
        <p:nvSpPr>
          <p:cNvPr id="46" name="Text 43"/>
          <p:cNvSpPr/>
          <p:nvPr/>
        </p:nvSpPr>
        <p:spPr>
          <a:xfrm>
            <a:off x="7178040" y="3118104"/>
            <a:ext cx="1828800" cy="201168"/>
          </a:xfrm>
          <a:prstGeom prst="rect">
            <a:avLst/>
          </a:prstGeom>
          <a:noFill/>
          <a:ln/>
        </p:spPr>
        <p:txBody>
          <a:bodyPr wrap="square" rtlCol="0" anchor="ctr"/>
          <a:lstStyle/>
          <a:p>
            <a:pPr marL="0" indent="0">
              <a:buNone/>
            </a:pPr>
            <a:r>
              <a:rPr lang="en-US" sz="850" b="1" dirty="0">
                <a:solidFill>
                  <a:srgbClr val="FFFFFF"/>
                </a:solidFill>
              </a:rPr>
              <a:t>Payments Project</a:t>
            </a:r>
            <a:endParaRPr lang="en-US" sz="850" dirty="0"/>
          </a:p>
        </p:txBody>
      </p:sp>
      <p:sp>
        <p:nvSpPr>
          <p:cNvPr id="47" name="Text 44"/>
          <p:cNvSpPr/>
          <p:nvPr/>
        </p:nvSpPr>
        <p:spPr>
          <a:xfrm>
            <a:off x="7178040" y="3319272"/>
            <a:ext cx="1828800" cy="201168"/>
          </a:xfrm>
          <a:prstGeom prst="rect">
            <a:avLst/>
          </a:prstGeom>
          <a:noFill/>
          <a:ln/>
        </p:spPr>
        <p:txBody>
          <a:bodyPr wrap="square" rtlCol="0" anchor="ctr"/>
          <a:lstStyle/>
          <a:p>
            <a:pPr marL="0" indent="0">
              <a:buNone/>
            </a:pPr>
            <a:r>
              <a:rPr lang="en-US" sz="700" dirty="0">
                <a:solidFill>
                  <a:srgbClr val="94A3B8"/>
                </a:solidFill>
              </a:rPr>
              <a:t>Coverage for Payment &amp; Identity team</a:t>
            </a:r>
            <a:endParaRPr lang="en-US" sz="700" dirty="0"/>
          </a:p>
        </p:txBody>
      </p:sp>
      <p:sp>
        <p:nvSpPr>
          <p:cNvPr id="48" name="Shape 45"/>
          <p:cNvSpPr/>
          <p:nvPr/>
        </p:nvSpPr>
        <p:spPr>
          <a:xfrm>
            <a:off x="6876288" y="3621024"/>
            <a:ext cx="237744" cy="237744"/>
          </a:xfrm>
          <a:prstGeom prst="ellipse">
            <a:avLst/>
          </a:prstGeom>
          <a:solidFill>
            <a:srgbClr val="F59E0B"/>
          </a:solidFill>
          <a:ln w="12700">
            <a:solidFill>
              <a:srgbClr val="1E3A5F"/>
            </a:solidFill>
            <a:prstDash val="solid"/>
          </a:ln>
        </p:spPr>
        <p:txBody>
          <a:bodyPr/>
          <a:lstStyle/>
          <a:p>
            <a:endParaRPr lang="en-US"/>
          </a:p>
        </p:txBody>
      </p:sp>
      <p:sp>
        <p:nvSpPr>
          <p:cNvPr id="49" name="Text 46"/>
          <p:cNvSpPr/>
          <p:nvPr/>
        </p:nvSpPr>
        <p:spPr>
          <a:xfrm>
            <a:off x="6876288" y="3621024"/>
            <a:ext cx="237744" cy="237744"/>
          </a:xfrm>
          <a:prstGeom prst="rect">
            <a:avLst/>
          </a:prstGeom>
          <a:noFill/>
          <a:ln/>
        </p:spPr>
        <p:txBody>
          <a:bodyPr wrap="square" rtlCol="0" anchor="ctr"/>
          <a:lstStyle/>
          <a:p>
            <a:pPr marL="0" indent="0" algn="ctr">
              <a:buNone/>
            </a:pPr>
            <a:r>
              <a:rPr lang="en-US" sz="800" b="1" dirty="0">
                <a:solidFill>
                  <a:srgbClr val="0F172A"/>
                </a:solidFill>
              </a:rPr>
              <a:t>7</a:t>
            </a:r>
            <a:endParaRPr lang="en-US" sz="800" dirty="0"/>
          </a:p>
        </p:txBody>
      </p:sp>
      <p:sp>
        <p:nvSpPr>
          <p:cNvPr id="50" name="Text 47"/>
          <p:cNvSpPr/>
          <p:nvPr/>
        </p:nvSpPr>
        <p:spPr>
          <a:xfrm>
            <a:off x="7178040" y="3611880"/>
            <a:ext cx="1828800" cy="201168"/>
          </a:xfrm>
          <a:prstGeom prst="rect">
            <a:avLst/>
          </a:prstGeom>
          <a:noFill/>
          <a:ln/>
        </p:spPr>
        <p:txBody>
          <a:bodyPr wrap="square" rtlCol="0" anchor="ctr"/>
          <a:lstStyle/>
          <a:p>
            <a:pPr marL="0" indent="0">
              <a:buNone/>
            </a:pPr>
            <a:r>
              <a:rPr lang="en-US" sz="850" b="1" dirty="0">
                <a:solidFill>
                  <a:srgbClr val="FFFFFF"/>
                </a:solidFill>
              </a:rPr>
              <a:t>Discovery Project</a:t>
            </a:r>
            <a:endParaRPr lang="en-US" sz="850" dirty="0"/>
          </a:p>
        </p:txBody>
      </p:sp>
      <p:sp>
        <p:nvSpPr>
          <p:cNvPr id="51" name="Text 48"/>
          <p:cNvSpPr/>
          <p:nvPr/>
        </p:nvSpPr>
        <p:spPr>
          <a:xfrm>
            <a:off x="7178040" y="3813048"/>
            <a:ext cx="1828800" cy="201168"/>
          </a:xfrm>
          <a:prstGeom prst="rect">
            <a:avLst/>
          </a:prstGeom>
          <a:noFill/>
          <a:ln/>
        </p:spPr>
        <p:txBody>
          <a:bodyPr wrap="square" rtlCol="0" anchor="ctr"/>
          <a:lstStyle/>
          <a:p>
            <a:pPr marL="0" indent="0">
              <a:buNone/>
            </a:pPr>
            <a:r>
              <a:rPr lang="en-US" sz="700" dirty="0">
                <a:solidFill>
                  <a:srgbClr val="94A3B8"/>
                </a:solidFill>
              </a:rPr>
              <a:t>Coverage for Browse + Profile team</a:t>
            </a:r>
            <a:endParaRPr lang="en-US" sz="700" dirty="0"/>
          </a:p>
        </p:txBody>
      </p:sp>
      <p:sp>
        <p:nvSpPr>
          <p:cNvPr id="52" name="Shape 49"/>
          <p:cNvSpPr/>
          <p:nvPr/>
        </p:nvSpPr>
        <p:spPr>
          <a:xfrm>
            <a:off x="6876288" y="4114800"/>
            <a:ext cx="237744" cy="237744"/>
          </a:xfrm>
          <a:prstGeom prst="ellipse">
            <a:avLst/>
          </a:prstGeom>
          <a:solidFill>
            <a:srgbClr val="F59E0B"/>
          </a:solidFill>
          <a:ln w="12700">
            <a:solidFill>
              <a:srgbClr val="1E3A5F"/>
            </a:solidFill>
            <a:prstDash val="solid"/>
          </a:ln>
        </p:spPr>
        <p:txBody>
          <a:bodyPr/>
          <a:lstStyle/>
          <a:p>
            <a:endParaRPr lang="en-US"/>
          </a:p>
        </p:txBody>
      </p:sp>
      <p:sp>
        <p:nvSpPr>
          <p:cNvPr id="53" name="Text 50"/>
          <p:cNvSpPr/>
          <p:nvPr/>
        </p:nvSpPr>
        <p:spPr>
          <a:xfrm>
            <a:off x="6876288" y="4114800"/>
            <a:ext cx="237744" cy="237744"/>
          </a:xfrm>
          <a:prstGeom prst="rect">
            <a:avLst/>
          </a:prstGeom>
          <a:noFill/>
          <a:ln/>
        </p:spPr>
        <p:txBody>
          <a:bodyPr wrap="square" rtlCol="0" anchor="ctr"/>
          <a:lstStyle/>
          <a:p>
            <a:pPr marL="0" indent="0" algn="ctr">
              <a:buNone/>
            </a:pPr>
            <a:r>
              <a:rPr lang="en-US" sz="800" b="1" dirty="0">
                <a:solidFill>
                  <a:srgbClr val="0F172A"/>
                </a:solidFill>
              </a:rPr>
              <a:t>8</a:t>
            </a:r>
            <a:endParaRPr lang="en-US" sz="800" dirty="0"/>
          </a:p>
        </p:txBody>
      </p:sp>
      <p:sp>
        <p:nvSpPr>
          <p:cNvPr id="54" name="Text 51"/>
          <p:cNvSpPr/>
          <p:nvPr/>
        </p:nvSpPr>
        <p:spPr>
          <a:xfrm>
            <a:off x="7178040" y="4105656"/>
            <a:ext cx="1828800" cy="201168"/>
          </a:xfrm>
          <a:prstGeom prst="rect">
            <a:avLst/>
          </a:prstGeom>
          <a:noFill/>
          <a:ln/>
        </p:spPr>
        <p:txBody>
          <a:bodyPr wrap="square" rtlCol="0" anchor="ctr"/>
          <a:lstStyle/>
          <a:p>
            <a:pPr marL="0" indent="0">
              <a:buNone/>
            </a:pPr>
            <a:r>
              <a:rPr lang="en-US" sz="850" b="1" dirty="0">
                <a:solidFill>
                  <a:srgbClr val="FFFFFF"/>
                </a:solidFill>
              </a:rPr>
              <a:t>Assigned SME</a:t>
            </a:r>
            <a:endParaRPr lang="en-US" sz="850" dirty="0"/>
          </a:p>
        </p:txBody>
      </p:sp>
      <p:sp>
        <p:nvSpPr>
          <p:cNvPr id="55" name="Text 52"/>
          <p:cNvSpPr/>
          <p:nvPr/>
        </p:nvSpPr>
        <p:spPr>
          <a:xfrm>
            <a:off x="7178040" y="4306824"/>
            <a:ext cx="1828800" cy="201168"/>
          </a:xfrm>
          <a:prstGeom prst="rect">
            <a:avLst/>
          </a:prstGeom>
          <a:noFill/>
          <a:ln/>
        </p:spPr>
        <p:txBody>
          <a:bodyPr wrap="square" rtlCol="0" anchor="ctr"/>
          <a:lstStyle/>
          <a:p>
            <a:pPr marL="0" indent="0">
              <a:buNone/>
            </a:pPr>
            <a:r>
              <a:rPr lang="en-US" sz="700" dirty="0">
                <a:solidFill>
                  <a:srgbClr val="94A3B8"/>
                </a:solidFill>
              </a:rPr>
              <a:t>Sarah Mitchell — actual Corp contact</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23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4F46E5"/>
          </a:solidFill>
          <a:ln w="12700">
            <a:solidFill>
              <a:srgbClr val="4F46E5"/>
            </a:solidFill>
            <a:prstDash val="solid"/>
          </a:ln>
        </p:spPr>
        <p:txBody>
          <a:bodyPr/>
          <a:lstStyle/>
          <a:p>
            <a:endParaRPr lang="en-US"/>
          </a:p>
        </p:txBody>
      </p:sp>
      <p:sp>
        <p:nvSpPr>
          <p:cNvPr id="3" name="Text 1"/>
          <p:cNvSpPr/>
          <p:nvPr/>
        </p:nvSpPr>
        <p:spPr>
          <a:xfrm>
            <a:off x="274320" y="91440"/>
            <a:ext cx="8229600" cy="402336"/>
          </a:xfrm>
          <a:prstGeom prst="rect">
            <a:avLst/>
          </a:prstGeom>
          <a:noFill/>
          <a:ln/>
        </p:spPr>
        <p:txBody>
          <a:bodyPr wrap="square" rtlCol="0" anchor="ctr"/>
          <a:lstStyle/>
          <a:p>
            <a:pPr marL="0" indent="0">
              <a:buNone/>
            </a:pPr>
            <a:r>
              <a:rPr lang="en-US" sz="2000" b="1" dirty="0">
                <a:solidFill>
                  <a:srgbClr val="FFFFFF"/>
                </a:solidFill>
              </a:rPr>
              <a:t>ShiftBuddy vs. Excel + Email</a:t>
            </a:r>
            <a:endParaRPr lang="en-US" sz="2000" dirty="0"/>
          </a:p>
        </p:txBody>
      </p:sp>
      <p:sp>
        <p:nvSpPr>
          <p:cNvPr id="4" name="Shape 2"/>
          <p:cNvSpPr/>
          <p:nvPr/>
        </p:nvSpPr>
        <p:spPr>
          <a:xfrm>
            <a:off x="182880" y="658368"/>
            <a:ext cx="8778240" cy="310896"/>
          </a:xfrm>
          <a:prstGeom prst="rect">
            <a:avLst/>
          </a:prstGeom>
          <a:solidFill>
            <a:srgbClr val="182D46"/>
          </a:solidFill>
          <a:ln w="12700">
            <a:solidFill>
              <a:srgbClr val="182D46"/>
            </a:solidFill>
            <a:prstDash val="solid"/>
          </a:ln>
        </p:spPr>
        <p:txBody>
          <a:bodyPr/>
          <a:lstStyle/>
          <a:p>
            <a:endParaRPr lang="en-US"/>
          </a:p>
        </p:txBody>
      </p:sp>
      <p:sp>
        <p:nvSpPr>
          <p:cNvPr id="5" name="Text 3"/>
          <p:cNvSpPr/>
          <p:nvPr/>
        </p:nvSpPr>
        <p:spPr>
          <a:xfrm>
            <a:off x="274320" y="694944"/>
            <a:ext cx="2286000" cy="237744"/>
          </a:xfrm>
          <a:prstGeom prst="rect">
            <a:avLst/>
          </a:prstGeom>
          <a:noFill/>
          <a:ln/>
        </p:spPr>
        <p:txBody>
          <a:bodyPr wrap="square" rtlCol="0" anchor="ctr"/>
          <a:lstStyle/>
          <a:p>
            <a:pPr marL="0" indent="0">
              <a:buNone/>
            </a:pPr>
            <a:r>
              <a:rPr lang="en-US" sz="800" b="1" dirty="0">
                <a:solidFill>
                  <a:srgbClr val="94A3B8"/>
                </a:solidFill>
              </a:rPr>
              <a:t>Capability</a:t>
            </a:r>
            <a:endParaRPr lang="en-US" sz="800" dirty="0"/>
          </a:p>
        </p:txBody>
      </p:sp>
      <p:sp>
        <p:nvSpPr>
          <p:cNvPr id="6" name="Text 4"/>
          <p:cNvSpPr/>
          <p:nvPr/>
        </p:nvSpPr>
        <p:spPr>
          <a:xfrm>
            <a:off x="2651760" y="694944"/>
            <a:ext cx="3017520" cy="237744"/>
          </a:xfrm>
          <a:prstGeom prst="rect">
            <a:avLst/>
          </a:prstGeom>
          <a:noFill/>
          <a:ln/>
        </p:spPr>
        <p:txBody>
          <a:bodyPr wrap="square" rtlCol="0" anchor="ctr"/>
          <a:lstStyle/>
          <a:p>
            <a:pPr marL="0" indent="0">
              <a:buNone/>
            </a:pPr>
            <a:r>
              <a:rPr lang="en-US" sz="800" b="1" dirty="0">
                <a:solidFill>
                  <a:srgbClr val="F87171"/>
                </a:solidFill>
              </a:rPr>
              <a:t>Excel + Email  (Before)</a:t>
            </a:r>
            <a:endParaRPr lang="en-US" sz="800" dirty="0"/>
          </a:p>
        </p:txBody>
      </p:sp>
      <p:sp>
        <p:nvSpPr>
          <p:cNvPr id="7" name="Text 5"/>
          <p:cNvSpPr/>
          <p:nvPr/>
        </p:nvSpPr>
        <p:spPr>
          <a:xfrm>
            <a:off x="5760720" y="694944"/>
            <a:ext cx="3108960" cy="237744"/>
          </a:xfrm>
          <a:prstGeom prst="rect">
            <a:avLst/>
          </a:prstGeom>
          <a:noFill/>
          <a:ln/>
        </p:spPr>
        <p:txBody>
          <a:bodyPr wrap="square" rtlCol="0" anchor="ctr"/>
          <a:lstStyle/>
          <a:p>
            <a:pPr marL="0" indent="0">
              <a:buNone/>
            </a:pPr>
            <a:r>
              <a:rPr lang="en-US" sz="800" b="1" dirty="0">
                <a:solidFill>
                  <a:srgbClr val="6EE7B7"/>
                </a:solidFill>
              </a:rPr>
              <a:t>ShiftBuddy  (Now)</a:t>
            </a:r>
            <a:endParaRPr lang="en-US" sz="800" dirty="0"/>
          </a:p>
        </p:txBody>
      </p:sp>
      <p:sp>
        <p:nvSpPr>
          <p:cNvPr id="8" name="Shape 6"/>
          <p:cNvSpPr/>
          <p:nvPr/>
        </p:nvSpPr>
        <p:spPr>
          <a:xfrm>
            <a:off x="182880" y="987552"/>
            <a:ext cx="8778240" cy="548640"/>
          </a:xfrm>
          <a:prstGeom prst="rect">
            <a:avLst/>
          </a:prstGeom>
          <a:solidFill>
            <a:srgbClr val="152234"/>
          </a:solidFill>
          <a:ln w="12700">
            <a:solidFill>
              <a:srgbClr val="182D46"/>
            </a:solidFill>
            <a:prstDash val="solid"/>
          </a:ln>
        </p:spPr>
        <p:txBody>
          <a:bodyPr/>
          <a:lstStyle/>
          <a:p>
            <a:endParaRPr lang="en-US"/>
          </a:p>
        </p:txBody>
      </p:sp>
      <p:sp>
        <p:nvSpPr>
          <p:cNvPr id="9" name="Text 7"/>
          <p:cNvSpPr/>
          <p:nvPr/>
        </p:nvSpPr>
        <p:spPr>
          <a:xfrm>
            <a:off x="274320" y="1078992"/>
            <a:ext cx="2286000" cy="365760"/>
          </a:xfrm>
          <a:prstGeom prst="rect">
            <a:avLst/>
          </a:prstGeom>
          <a:noFill/>
          <a:ln/>
        </p:spPr>
        <p:txBody>
          <a:bodyPr wrap="square" rtlCol="0" anchor="ctr"/>
          <a:lstStyle/>
          <a:p>
            <a:pPr marL="0" indent="0">
              <a:buNone/>
            </a:pPr>
            <a:r>
              <a:rPr lang="en-US" sz="900" b="1" dirty="0">
                <a:solidFill>
                  <a:srgbClr val="FFFFFF"/>
                </a:solidFill>
              </a:rPr>
              <a:t>Handover Process</a:t>
            </a:r>
            <a:endParaRPr lang="en-US" sz="900" dirty="0"/>
          </a:p>
        </p:txBody>
      </p:sp>
      <p:sp>
        <p:nvSpPr>
          <p:cNvPr id="10" name="Text 8"/>
          <p:cNvSpPr/>
          <p:nvPr/>
        </p:nvSpPr>
        <p:spPr>
          <a:xfrm>
            <a:off x="2651760" y="1042416"/>
            <a:ext cx="3017520" cy="457200"/>
          </a:xfrm>
          <a:prstGeom prst="rect">
            <a:avLst/>
          </a:prstGeom>
          <a:noFill/>
          <a:ln/>
        </p:spPr>
        <p:txBody>
          <a:bodyPr wrap="square" rtlCol="0" anchor="ctr"/>
          <a:lstStyle/>
          <a:p>
            <a:pPr marL="0" indent="0">
              <a:buNone/>
            </a:pPr>
            <a:r>
              <a:rPr lang="en-US" sz="800" dirty="0">
                <a:solidFill>
                  <a:srgbClr val="94A3B8"/>
                </a:solidFill>
              </a:rPr>
              <a:t>Email thread — no ack tracking, easy to miss</a:t>
            </a:r>
            <a:endParaRPr lang="en-US" sz="800" dirty="0"/>
          </a:p>
        </p:txBody>
      </p:sp>
      <p:sp>
        <p:nvSpPr>
          <p:cNvPr id="11" name="Text 9"/>
          <p:cNvSpPr/>
          <p:nvPr/>
        </p:nvSpPr>
        <p:spPr>
          <a:xfrm>
            <a:off x="5760720" y="1042416"/>
            <a:ext cx="3108960" cy="457200"/>
          </a:xfrm>
          <a:prstGeom prst="rect">
            <a:avLst/>
          </a:prstGeom>
          <a:noFill/>
          <a:ln/>
        </p:spPr>
        <p:txBody>
          <a:bodyPr wrap="square" rtlCol="0" anchor="ctr"/>
          <a:lstStyle/>
          <a:p>
            <a:pPr marL="0" indent="0">
              <a:buNone/>
            </a:pPr>
            <a:r>
              <a:rPr lang="en-US" sz="800" dirty="0">
                <a:solidFill>
                  <a:srgbClr val="6EE7B7"/>
                </a:solidFill>
              </a:rPr>
              <a:t>Structured form + acknowledgement timer + audit log</a:t>
            </a:r>
            <a:endParaRPr lang="en-US" sz="800" dirty="0"/>
          </a:p>
        </p:txBody>
      </p:sp>
      <p:sp>
        <p:nvSpPr>
          <p:cNvPr id="12" name="Shape 10"/>
          <p:cNvSpPr/>
          <p:nvPr/>
        </p:nvSpPr>
        <p:spPr>
          <a:xfrm>
            <a:off x="182880" y="1572768"/>
            <a:ext cx="8778240" cy="548640"/>
          </a:xfrm>
          <a:prstGeom prst="rect">
            <a:avLst/>
          </a:prstGeom>
          <a:solidFill>
            <a:srgbClr val="182D46"/>
          </a:solidFill>
          <a:ln w="12700">
            <a:solidFill>
              <a:srgbClr val="182D46"/>
            </a:solidFill>
            <a:prstDash val="solid"/>
          </a:ln>
        </p:spPr>
        <p:txBody>
          <a:bodyPr/>
          <a:lstStyle/>
          <a:p>
            <a:endParaRPr lang="en-US"/>
          </a:p>
        </p:txBody>
      </p:sp>
      <p:sp>
        <p:nvSpPr>
          <p:cNvPr id="13" name="Text 11"/>
          <p:cNvSpPr/>
          <p:nvPr/>
        </p:nvSpPr>
        <p:spPr>
          <a:xfrm>
            <a:off x="274320" y="1664208"/>
            <a:ext cx="2286000" cy="365760"/>
          </a:xfrm>
          <a:prstGeom prst="rect">
            <a:avLst/>
          </a:prstGeom>
          <a:noFill/>
          <a:ln/>
        </p:spPr>
        <p:txBody>
          <a:bodyPr wrap="square" rtlCol="0" anchor="ctr"/>
          <a:lstStyle/>
          <a:p>
            <a:pPr marL="0" indent="0">
              <a:buNone/>
            </a:pPr>
            <a:r>
              <a:rPr lang="en-US" sz="900" b="1" dirty="0">
                <a:solidFill>
                  <a:srgbClr val="FFFFFF"/>
                </a:solidFill>
              </a:rPr>
              <a:t>Incident Logging</a:t>
            </a:r>
            <a:endParaRPr lang="en-US" sz="900" dirty="0"/>
          </a:p>
        </p:txBody>
      </p:sp>
      <p:sp>
        <p:nvSpPr>
          <p:cNvPr id="14" name="Text 12"/>
          <p:cNvSpPr/>
          <p:nvPr/>
        </p:nvSpPr>
        <p:spPr>
          <a:xfrm>
            <a:off x="2651760" y="1627632"/>
            <a:ext cx="3017520" cy="457200"/>
          </a:xfrm>
          <a:prstGeom prst="rect">
            <a:avLst/>
          </a:prstGeom>
          <a:noFill/>
          <a:ln/>
        </p:spPr>
        <p:txBody>
          <a:bodyPr wrap="square" rtlCol="0" anchor="ctr"/>
          <a:lstStyle/>
          <a:p>
            <a:pPr marL="0" indent="0">
              <a:buNone/>
            </a:pPr>
            <a:r>
              <a:rPr lang="en-US" sz="800" dirty="0">
                <a:solidFill>
                  <a:srgbClr val="94A3B8"/>
                </a:solidFill>
              </a:rPr>
              <a:t>Slack message or Excel cell — no severity, no link</a:t>
            </a:r>
            <a:endParaRPr lang="en-US" sz="800" dirty="0"/>
          </a:p>
        </p:txBody>
      </p:sp>
      <p:sp>
        <p:nvSpPr>
          <p:cNvPr id="15" name="Text 13"/>
          <p:cNvSpPr/>
          <p:nvPr/>
        </p:nvSpPr>
        <p:spPr>
          <a:xfrm>
            <a:off x="5760720" y="1627632"/>
            <a:ext cx="3108960" cy="457200"/>
          </a:xfrm>
          <a:prstGeom prst="rect">
            <a:avLst/>
          </a:prstGeom>
          <a:noFill/>
          <a:ln/>
        </p:spPr>
        <p:txBody>
          <a:bodyPr wrap="square" rtlCol="0" anchor="ctr"/>
          <a:lstStyle/>
          <a:p>
            <a:pPr marL="0" indent="0">
              <a:buNone/>
            </a:pPr>
            <a:r>
              <a:rPr lang="en-US" sz="800" dirty="0">
                <a:solidFill>
                  <a:srgbClr val="6EE7B7"/>
                </a:solidFill>
              </a:rPr>
              <a:t>Unified feed: PagerDuty, SNOW, Slack, Teams</a:t>
            </a:r>
            <a:endParaRPr lang="en-US" sz="800" dirty="0"/>
          </a:p>
        </p:txBody>
      </p:sp>
      <p:sp>
        <p:nvSpPr>
          <p:cNvPr id="16" name="Shape 14"/>
          <p:cNvSpPr/>
          <p:nvPr/>
        </p:nvSpPr>
        <p:spPr>
          <a:xfrm>
            <a:off x="182880" y="2157984"/>
            <a:ext cx="8778240" cy="548640"/>
          </a:xfrm>
          <a:prstGeom prst="rect">
            <a:avLst/>
          </a:prstGeom>
          <a:solidFill>
            <a:srgbClr val="152234"/>
          </a:solidFill>
          <a:ln w="12700">
            <a:solidFill>
              <a:srgbClr val="182D46"/>
            </a:solidFill>
            <a:prstDash val="solid"/>
          </a:ln>
        </p:spPr>
        <p:txBody>
          <a:bodyPr/>
          <a:lstStyle/>
          <a:p>
            <a:endParaRPr lang="en-US"/>
          </a:p>
        </p:txBody>
      </p:sp>
      <p:sp>
        <p:nvSpPr>
          <p:cNvPr id="17" name="Text 15"/>
          <p:cNvSpPr/>
          <p:nvPr/>
        </p:nvSpPr>
        <p:spPr>
          <a:xfrm>
            <a:off x="274320" y="2249424"/>
            <a:ext cx="2286000" cy="365760"/>
          </a:xfrm>
          <a:prstGeom prst="rect">
            <a:avLst/>
          </a:prstGeom>
          <a:noFill/>
          <a:ln/>
        </p:spPr>
        <p:txBody>
          <a:bodyPr wrap="square" rtlCol="0" anchor="ctr"/>
          <a:lstStyle/>
          <a:p>
            <a:pPr marL="0" indent="0">
              <a:buNone/>
            </a:pPr>
            <a:r>
              <a:rPr lang="en-US" sz="900" b="1" dirty="0">
                <a:solidFill>
                  <a:srgbClr val="FFFFFF"/>
                </a:solidFill>
              </a:rPr>
              <a:t>SLA Visibility</a:t>
            </a:r>
            <a:endParaRPr lang="en-US" sz="900" dirty="0"/>
          </a:p>
        </p:txBody>
      </p:sp>
      <p:sp>
        <p:nvSpPr>
          <p:cNvPr id="18" name="Text 16"/>
          <p:cNvSpPr/>
          <p:nvPr/>
        </p:nvSpPr>
        <p:spPr>
          <a:xfrm>
            <a:off x="2651760" y="2212848"/>
            <a:ext cx="3017520" cy="457200"/>
          </a:xfrm>
          <a:prstGeom prst="rect">
            <a:avLst/>
          </a:prstGeom>
          <a:noFill/>
          <a:ln/>
        </p:spPr>
        <p:txBody>
          <a:bodyPr wrap="square" rtlCol="0" anchor="ctr"/>
          <a:lstStyle/>
          <a:p>
            <a:pPr marL="0" indent="0">
              <a:buNone/>
            </a:pPr>
            <a:r>
              <a:rPr lang="en-US" sz="800" dirty="0">
                <a:solidFill>
                  <a:srgbClr val="94A3B8"/>
                </a:solidFill>
              </a:rPr>
              <a:t>Monthly manual Excel report — always stale</a:t>
            </a:r>
            <a:endParaRPr lang="en-US" sz="800" dirty="0"/>
          </a:p>
        </p:txBody>
      </p:sp>
      <p:sp>
        <p:nvSpPr>
          <p:cNvPr id="19" name="Text 17"/>
          <p:cNvSpPr/>
          <p:nvPr/>
        </p:nvSpPr>
        <p:spPr>
          <a:xfrm>
            <a:off x="5760720" y="2212848"/>
            <a:ext cx="3108960" cy="457200"/>
          </a:xfrm>
          <a:prstGeom prst="rect">
            <a:avLst/>
          </a:prstGeom>
          <a:noFill/>
          <a:ln/>
        </p:spPr>
        <p:txBody>
          <a:bodyPr wrap="square" rtlCol="0" anchor="ctr"/>
          <a:lstStyle/>
          <a:p>
            <a:pPr marL="0" indent="0">
              <a:buNone/>
            </a:pPr>
            <a:r>
              <a:rPr lang="en-US" sz="800" dirty="0">
                <a:solidFill>
                  <a:srgbClr val="6EE7B7"/>
                </a:solidFill>
              </a:rPr>
              <a:t>Live analytics: resolution %, avg time, ack rate</a:t>
            </a:r>
            <a:endParaRPr lang="en-US" sz="800" dirty="0"/>
          </a:p>
        </p:txBody>
      </p:sp>
      <p:sp>
        <p:nvSpPr>
          <p:cNvPr id="20" name="Shape 18"/>
          <p:cNvSpPr/>
          <p:nvPr/>
        </p:nvSpPr>
        <p:spPr>
          <a:xfrm>
            <a:off x="182880" y="2743200"/>
            <a:ext cx="8778240" cy="548640"/>
          </a:xfrm>
          <a:prstGeom prst="rect">
            <a:avLst/>
          </a:prstGeom>
          <a:solidFill>
            <a:srgbClr val="182D46"/>
          </a:solidFill>
          <a:ln w="12700">
            <a:solidFill>
              <a:srgbClr val="182D46"/>
            </a:solidFill>
            <a:prstDash val="solid"/>
          </a:ln>
        </p:spPr>
        <p:txBody>
          <a:bodyPr/>
          <a:lstStyle/>
          <a:p>
            <a:endParaRPr lang="en-US"/>
          </a:p>
        </p:txBody>
      </p:sp>
      <p:sp>
        <p:nvSpPr>
          <p:cNvPr id="21" name="Text 19"/>
          <p:cNvSpPr/>
          <p:nvPr/>
        </p:nvSpPr>
        <p:spPr>
          <a:xfrm>
            <a:off x="274320" y="2834640"/>
            <a:ext cx="2286000" cy="365760"/>
          </a:xfrm>
          <a:prstGeom prst="rect">
            <a:avLst/>
          </a:prstGeom>
          <a:noFill/>
          <a:ln/>
        </p:spPr>
        <p:txBody>
          <a:bodyPr wrap="square" rtlCol="0" anchor="ctr"/>
          <a:lstStyle/>
          <a:p>
            <a:pPr marL="0" indent="0">
              <a:buNone/>
            </a:pPr>
            <a:r>
              <a:rPr lang="en-US" sz="900" b="1" dirty="0">
                <a:solidFill>
                  <a:srgbClr val="FFFFFF"/>
                </a:solidFill>
              </a:rPr>
              <a:t>Roster Planning</a:t>
            </a:r>
            <a:endParaRPr lang="en-US" sz="900" dirty="0"/>
          </a:p>
        </p:txBody>
      </p:sp>
      <p:sp>
        <p:nvSpPr>
          <p:cNvPr id="22" name="Text 20"/>
          <p:cNvSpPr/>
          <p:nvPr/>
        </p:nvSpPr>
        <p:spPr>
          <a:xfrm>
            <a:off x="2651760" y="2798064"/>
            <a:ext cx="3017520" cy="457200"/>
          </a:xfrm>
          <a:prstGeom prst="rect">
            <a:avLst/>
          </a:prstGeom>
          <a:noFill/>
          <a:ln/>
        </p:spPr>
        <p:txBody>
          <a:bodyPr wrap="square" rtlCol="0" anchor="ctr"/>
          <a:lstStyle/>
          <a:p>
            <a:pPr marL="0" indent="0">
              <a:buNone/>
            </a:pPr>
            <a:r>
              <a:rPr lang="en-US" sz="800" dirty="0">
                <a:solidFill>
                  <a:srgbClr val="94A3B8"/>
                </a:solidFill>
              </a:rPr>
              <a:t>Shared Excel — version conflicts, no holidays</a:t>
            </a:r>
            <a:endParaRPr lang="en-US" sz="800" dirty="0"/>
          </a:p>
        </p:txBody>
      </p:sp>
      <p:sp>
        <p:nvSpPr>
          <p:cNvPr id="23" name="Text 21"/>
          <p:cNvSpPr/>
          <p:nvPr/>
        </p:nvSpPr>
        <p:spPr>
          <a:xfrm>
            <a:off x="5760720" y="2798064"/>
            <a:ext cx="3108960" cy="457200"/>
          </a:xfrm>
          <a:prstGeom prst="rect">
            <a:avLst/>
          </a:prstGeom>
          <a:noFill/>
          <a:ln/>
        </p:spPr>
        <p:txBody>
          <a:bodyPr wrap="square" rtlCol="0" anchor="ctr"/>
          <a:lstStyle/>
          <a:p>
            <a:pPr marL="0" indent="0">
              <a:buNone/>
            </a:pPr>
            <a:r>
              <a:rPr lang="en-US" sz="800" dirty="0">
                <a:solidFill>
                  <a:srgbClr val="6EE7B7"/>
                </a:solidFill>
              </a:rPr>
              <a:t>Visual calendar with India + US holiday overlays</a:t>
            </a:r>
            <a:endParaRPr lang="en-US" sz="800" dirty="0"/>
          </a:p>
        </p:txBody>
      </p:sp>
      <p:sp>
        <p:nvSpPr>
          <p:cNvPr id="24" name="Shape 22"/>
          <p:cNvSpPr/>
          <p:nvPr/>
        </p:nvSpPr>
        <p:spPr>
          <a:xfrm>
            <a:off x="182880" y="3328416"/>
            <a:ext cx="8778240" cy="548640"/>
          </a:xfrm>
          <a:prstGeom prst="rect">
            <a:avLst/>
          </a:prstGeom>
          <a:solidFill>
            <a:srgbClr val="152234"/>
          </a:solidFill>
          <a:ln w="12700">
            <a:solidFill>
              <a:srgbClr val="182D46"/>
            </a:solidFill>
            <a:prstDash val="solid"/>
          </a:ln>
        </p:spPr>
        <p:txBody>
          <a:bodyPr/>
          <a:lstStyle/>
          <a:p>
            <a:endParaRPr lang="en-US"/>
          </a:p>
        </p:txBody>
      </p:sp>
      <p:sp>
        <p:nvSpPr>
          <p:cNvPr id="25" name="Text 23"/>
          <p:cNvSpPr/>
          <p:nvPr/>
        </p:nvSpPr>
        <p:spPr>
          <a:xfrm>
            <a:off x="274320" y="3419856"/>
            <a:ext cx="2286000" cy="365760"/>
          </a:xfrm>
          <a:prstGeom prst="rect">
            <a:avLst/>
          </a:prstGeom>
          <a:noFill/>
          <a:ln/>
        </p:spPr>
        <p:txBody>
          <a:bodyPr wrap="square" rtlCol="0" anchor="ctr"/>
          <a:lstStyle/>
          <a:p>
            <a:pPr marL="0" indent="0">
              <a:buNone/>
            </a:pPr>
            <a:r>
              <a:rPr lang="en-US" sz="900" b="1" dirty="0">
                <a:solidFill>
                  <a:srgbClr val="FFFFFF"/>
                </a:solidFill>
              </a:rPr>
              <a:t>Coverage Check</a:t>
            </a:r>
            <a:endParaRPr lang="en-US" sz="900" dirty="0"/>
          </a:p>
        </p:txBody>
      </p:sp>
      <p:sp>
        <p:nvSpPr>
          <p:cNvPr id="26" name="Text 24"/>
          <p:cNvSpPr/>
          <p:nvPr/>
        </p:nvSpPr>
        <p:spPr>
          <a:xfrm>
            <a:off x="2651760" y="3383280"/>
            <a:ext cx="3017520" cy="457200"/>
          </a:xfrm>
          <a:prstGeom prst="rect">
            <a:avLst/>
          </a:prstGeom>
          <a:noFill/>
          <a:ln/>
        </p:spPr>
        <p:txBody>
          <a:bodyPr wrap="square" rtlCol="0" anchor="ctr"/>
          <a:lstStyle/>
          <a:p>
            <a:pPr marL="0" indent="0">
              <a:buNone/>
            </a:pPr>
            <a:r>
              <a:rPr lang="en-US" sz="800" dirty="0">
                <a:solidFill>
                  <a:srgbClr val="94A3B8"/>
                </a:solidFill>
              </a:rPr>
              <a:t>Separate tab — updated manually, often wrong</a:t>
            </a:r>
            <a:endParaRPr lang="en-US" sz="800" dirty="0"/>
          </a:p>
        </p:txBody>
      </p:sp>
      <p:sp>
        <p:nvSpPr>
          <p:cNvPr id="27" name="Text 25"/>
          <p:cNvSpPr/>
          <p:nvPr/>
        </p:nvSpPr>
        <p:spPr>
          <a:xfrm>
            <a:off x="5760720" y="3383280"/>
            <a:ext cx="3108960" cy="457200"/>
          </a:xfrm>
          <a:prstGeom prst="rect">
            <a:avLst/>
          </a:prstGeom>
          <a:noFill/>
          <a:ln/>
        </p:spPr>
        <p:txBody>
          <a:bodyPr wrap="square" rtlCol="0" anchor="ctr"/>
          <a:lstStyle/>
          <a:p>
            <a:pPr marL="0" indent="0">
              <a:buNone/>
            </a:pPr>
            <a:r>
              <a:rPr lang="en-US" sz="800" dirty="0">
                <a:solidFill>
                  <a:srgbClr val="6EE7B7"/>
                </a:solidFill>
              </a:rPr>
              <a:t>Live matrix: YCI SPOC + Client SME per shift</a:t>
            </a:r>
            <a:endParaRPr lang="en-US" sz="800" dirty="0"/>
          </a:p>
        </p:txBody>
      </p:sp>
      <p:sp>
        <p:nvSpPr>
          <p:cNvPr id="28" name="Shape 26"/>
          <p:cNvSpPr/>
          <p:nvPr/>
        </p:nvSpPr>
        <p:spPr>
          <a:xfrm>
            <a:off x="182880" y="3913632"/>
            <a:ext cx="8778240" cy="548640"/>
          </a:xfrm>
          <a:prstGeom prst="rect">
            <a:avLst/>
          </a:prstGeom>
          <a:solidFill>
            <a:srgbClr val="182D46"/>
          </a:solidFill>
          <a:ln w="12700">
            <a:solidFill>
              <a:srgbClr val="182D46"/>
            </a:solidFill>
            <a:prstDash val="solid"/>
          </a:ln>
        </p:spPr>
        <p:txBody>
          <a:bodyPr/>
          <a:lstStyle/>
          <a:p>
            <a:endParaRPr lang="en-US"/>
          </a:p>
        </p:txBody>
      </p:sp>
      <p:sp>
        <p:nvSpPr>
          <p:cNvPr id="29" name="Text 27"/>
          <p:cNvSpPr/>
          <p:nvPr/>
        </p:nvSpPr>
        <p:spPr>
          <a:xfrm>
            <a:off x="274320" y="4005072"/>
            <a:ext cx="2286000" cy="365760"/>
          </a:xfrm>
          <a:prstGeom prst="rect">
            <a:avLst/>
          </a:prstGeom>
          <a:noFill/>
          <a:ln/>
        </p:spPr>
        <p:txBody>
          <a:bodyPr wrap="square" rtlCol="0" anchor="ctr"/>
          <a:lstStyle/>
          <a:p>
            <a:pPr marL="0" indent="0">
              <a:buNone/>
            </a:pPr>
            <a:r>
              <a:rPr lang="en-US" sz="900" b="1" dirty="0">
                <a:solidFill>
                  <a:srgbClr val="FFFFFF"/>
                </a:solidFill>
              </a:rPr>
              <a:t>Role-Based Access</a:t>
            </a:r>
            <a:endParaRPr lang="en-US" sz="900" dirty="0"/>
          </a:p>
        </p:txBody>
      </p:sp>
      <p:sp>
        <p:nvSpPr>
          <p:cNvPr id="30" name="Text 28"/>
          <p:cNvSpPr/>
          <p:nvPr/>
        </p:nvSpPr>
        <p:spPr>
          <a:xfrm>
            <a:off x="2651760" y="3968496"/>
            <a:ext cx="3017520" cy="457200"/>
          </a:xfrm>
          <a:prstGeom prst="rect">
            <a:avLst/>
          </a:prstGeom>
          <a:noFill/>
          <a:ln/>
        </p:spPr>
        <p:txBody>
          <a:bodyPr wrap="square" rtlCol="0" anchor="ctr"/>
          <a:lstStyle/>
          <a:p>
            <a:pPr marL="0" indent="0">
              <a:buNone/>
            </a:pPr>
            <a:r>
              <a:rPr lang="en-US" sz="800" dirty="0">
                <a:solidFill>
                  <a:srgbClr val="94A3B8"/>
                </a:solidFill>
              </a:rPr>
              <a:t>Everyone sees everything — or nothing</a:t>
            </a:r>
            <a:endParaRPr lang="en-US" sz="800" dirty="0"/>
          </a:p>
        </p:txBody>
      </p:sp>
      <p:sp>
        <p:nvSpPr>
          <p:cNvPr id="31" name="Text 29"/>
          <p:cNvSpPr/>
          <p:nvPr/>
        </p:nvSpPr>
        <p:spPr>
          <a:xfrm>
            <a:off x="5760720" y="3968496"/>
            <a:ext cx="3108960" cy="457200"/>
          </a:xfrm>
          <a:prstGeom prst="rect">
            <a:avLst/>
          </a:prstGeom>
          <a:noFill/>
          <a:ln/>
        </p:spPr>
        <p:txBody>
          <a:bodyPr wrap="square" rtlCol="0" anchor="ctr"/>
          <a:lstStyle/>
          <a:p>
            <a:pPr marL="0" indent="0">
              <a:buNone/>
            </a:pPr>
            <a:r>
              <a:rPr lang="en-US" sz="800" dirty="0">
                <a:solidFill>
                  <a:srgbClr val="6EE7B7"/>
                </a:solidFill>
              </a:rPr>
              <a:t>5 role tiers: Contractor to Client Stakeholder</a:t>
            </a:r>
            <a:endParaRPr lang="en-US" sz="800" dirty="0"/>
          </a:p>
        </p:txBody>
      </p:sp>
      <p:sp>
        <p:nvSpPr>
          <p:cNvPr id="32" name="Shape 30"/>
          <p:cNvSpPr/>
          <p:nvPr/>
        </p:nvSpPr>
        <p:spPr>
          <a:xfrm>
            <a:off x="182880" y="4498848"/>
            <a:ext cx="8778240" cy="548640"/>
          </a:xfrm>
          <a:prstGeom prst="rect">
            <a:avLst/>
          </a:prstGeom>
          <a:solidFill>
            <a:srgbClr val="152234"/>
          </a:solidFill>
          <a:ln w="12700">
            <a:solidFill>
              <a:srgbClr val="182D46"/>
            </a:solidFill>
            <a:prstDash val="solid"/>
          </a:ln>
        </p:spPr>
        <p:txBody>
          <a:bodyPr/>
          <a:lstStyle/>
          <a:p>
            <a:endParaRPr lang="en-US"/>
          </a:p>
        </p:txBody>
      </p:sp>
      <p:sp>
        <p:nvSpPr>
          <p:cNvPr id="33" name="Text 31"/>
          <p:cNvSpPr/>
          <p:nvPr/>
        </p:nvSpPr>
        <p:spPr>
          <a:xfrm>
            <a:off x="274320" y="4590288"/>
            <a:ext cx="2286000" cy="365760"/>
          </a:xfrm>
          <a:prstGeom prst="rect">
            <a:avLst/>
          </a:prstGeom>
          <a:noFill/>
          <a:ln/>
        </p:spPr>
        <p:txBody>
          <a:bodyPr wrap="square" rtlCol="0" anchor="ctr"/>
          <a:lstStyle/>
          <a:p>
            <a:pPr marL="0" indent="0">
              <a:buNone/>
            </a:pPr>
            <a:r>
              <a:rPr lang="en-US" sz="900" b="1" dirty="0">
                <a:solidFill>
                  <a:srgbClr val="FFFFFF"/>
                </a:solidFill>
              </a:rPr>
              <a:t>Audit Trail</a:t>
            </a:r>
            <a:endParaRPr lang="en-US" sz="900" dirty="0"/>
          </a:p>
        </p:txBody>
      </p:sp>
      <p:sp>
        <p:nvSpPr>
          <p:cNvPr id="34" name="Text 32"/>
          <p:cNvSpPr/>
          <p:nvPr/>
        </p:nvSpPr>
        <p:spPr>
          <a:xfrm>
            <a:off x="2651760" y="4553712"/>
            <a:ext cx="3017520" cy="457200"/>
          </a:xfrm>
          <a:prstGeom prst="rect">
            <a:avLst/>
          </a:prstGeom>
          <a:noFill/>
          <a:ln/>
        </p:spPr>
        <p:txBody>
          <a:bodyPr wrap="square" rtlCol="0" anchor="ctr"/>
          <a:lstStyle/>
          <a:p>
            <a:pPr marL="0" indent="0">
              <a:buNone/>
            </a:pPr>
            <a:r>
              <a:rPr lang="en-US" sz="800" dirty="0">
                <a:solidFill>
                  <a:srgbClr val="94A3B8"/>
                </a:solidFill>
              </a:rPr>
              <a:t>No log — deleted rows leave no trace</a:t>
            </a:r>
            <a:endParaRPr lang="en-US" sz="800" dirty="0"/>
          </a:p>
        </p:txBody>
      </p:sp>
      <p:sp>
        <p:nvSpPr>
          <p:cNvPr id="35" name="Text 33"/>
          <p:cNvSpPr/>
          <p:nvPr/>
        </p:nvSpPr>
        <p:spPr>
          <a:xfrm>
            <a:off x="5760720" y="4553712"/>
            <a:ext cx="3108960" cy="457200"/>
          </a:xfrm>
          <a:prstGeom prst="rect">
            <a:avLst/>
          </a:prstGeom>
          <a:noFill/>
          <a:ln/>
        </p:spPr>
        <p:txBody>
          <a:bodyPr wrap="square" rtlCol="0" anchor="ctr"/>
          <a:lstStyle/>
          <a:p>
            <a:pPr marL="0" indent="0">
              <a:buNone/>
            </a:pPr>
            <a:r>
              <a:rPr lang="en-US" sz="800" dirty="0">
                <a:solidFill>
                  <a:srgbClr val="6EE7B7"/>
                </a:solidFill>
              </a:rPr>
              <a:t>Timestamped diary, handover records, ack history</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239"/>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4F46E5"/>
          </a:solidFill>
          <a:ln w="12700">
            <a:solidFill>
              <a:srgbClr val="4F46E5"/>
            </a:solidFill>
            <a:prstDash val="solid"/>
          </a:ln>
        </p:spPr>
        <p:txBody>
          <a:bodyPr/>
          <a:lstStyle/>
          <a:p>
            <a:endParaRPr lang="en-US"/>
          </a:p>
        </p:txBody>
      </p:sp>
      <p:sp>
        <p:nvSpPr>
          <p:cNvPr id="3" name="Shape 1"/>
          <p:cNvSpPr/>
          <p:nvPr/>
        </p:nvSpPr>
        <p:spPr>
          <a:xfrm>
            <a:off x="5943600" y="-1371600"/>
            <a:ext cx="4572000" cy="4572000"/>
          </a:xfrm>
          <a:prstGeom prst="ellipse">
            <a:avLst/>
          </a:prstGeom>
          <a:solidFill>
            <a:srgbClr val="111E2F"/>
          </a:solidFill>
          <a:ln w="12700">
            <a:solidFill>
              <a:srgbClr val="111E2F"/>
            </a:solidFill>
            <a:prstDash val="solid"/>
          </a:ln>
        </p:spPr>
        <p:txBody>
          <a:bodyPr/>
          <a:lstStyle/>
          <a:p>
            <a:endParaRPr lang="en-US"/>
          </a:p>
        </p:txBody>
      </p:sp>
      <p:sp>
        <p:nvSpPr>
          <p:cNvPr id="4" name="Text 2"/>
          <p:cNvSpPr/>
          <p:nvPr/>
        </p:nvSpPr>
        <p:spPr>
          <a:xfrm>
            <a:off x="365760" y="457200"/>
            <a:ext cx="5486400" cy="77724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ShiftBuddy</a:t>
            </a:r>
            <a:endParaRPr lang="en-US" sz="3600" dirty="0"/>
          </a:p>
        </p:txBody>
      </p:sp>
      <p:sp>
        <p:nvSpPr>
          <p:cNvPr id="5" name="Text 3"/>
          <p:cNvSpPr/>
          <p:nvPr/>
        </p:nvSpPr>
        <p:spPr>
          <a:xfrm>
            <a:off x="365760" y="1234440"/>
            <a:ext cx="6400800" cy="365760"/>
          </a:xfrm>
          <a:prstGeom prst="rect">
            <a:avLst/>
          </a:prstGeom>
          <a:noFill/>
          <a:ln/>
        </p:spPr>
        <p:txBody>
          <a:bodyPr wrap="square" rtlCol="0" anchor="ctr"/>
          <a:lstStyle/>
          <a:p>
            <a:pPr marL="0" indent="0">
              <a:buNone/>
            </a:pPr>
            <a:r>
              <a:rPr lang="en-US" sz="1500" dirty="0">
                <a:solidFill>
                  <a:srgbClr val="93C5FD"/>
                </a:solidFill>
              </a:rPr>
              <a:t>Ready to replace Excel — starting this sprint.</a:t>
            </a:r>
            <a:endParaRPr lang="en-US" sz="1500" dirty="0"/>
          </a:p>
        </p:txBody>
      </p:sp>
      <p:sp>
        <p:nvSpPr>
          <p:cNvPr id="6" name="Shape 4"/>
          <p:cNvSpPr/>
          <p:nvPr/>
        </p:nvSpPr>
        <p:spPr>
          <a:xfrm>
            <a:off x="365760" y="1691640"/>
            <a:ext cx="5486400" cy="0"/>
          </a:xfrm>
          <a:prstGeom prst="line">
            <a:avLst/>
          </a:prstGeom>
          <a:noFill/>
          <a:ln w="25400">
            <a:solidFill>
              <a:srgbClr val="4F46E5"/>
            </a:solidFill>
            <a:prstDash val="solid"/>
          </a:ln>
        </p:spPr>
        <p:txBody>
          <a:bodyPr/>
          <a:lstStyle/>
          <a:p>
            <a:endParaRPr lang="en-US"/>
          </a:p>
        </p:txBody>
      </p:sp>
      <p:sp>
        <p:nvSpPr>
          <p:cNvPr id="7" name="Shape 5"/>
          <p:cNvSpPr/>
          <p:nvPr/>
        </p:nvSpPr>
        <p:spPr>
          <a:xfrm>
            <a:off x="365760" y="1828800"/>
            <a:ext cx="457200" cy="457200"/>
          </a:xfrm>
          <a:prstGeom prst="ellipse">
            <a:avLst/>
          </a:prstGeom>
          <a:solidFill>
            <a:srgbClr val="4F46E5"/>
          </a:solidFill>
          <a:ln w="12700">
            <a:solidFill>
              <a:srgbClr val="4F46E5"/>
            </a:solidFill>
            <a:prstDash val="solid"/>
          </a:ln>
        </p:spPr>
        <p:txBody>
          <a:bodyPr/>
          <a:lstStyle/>
          <a:p>
            <a:endParaRPr lang="en-US"/>
          </a:p>
        </p:txBody>
      </p:sp>
      <p:sp>
        <p:nvSpPr>
          <p:cNvPr id="8" name="Text 6"/>
          <p:cNvSpPr/>
          <p:nvPr/>
        </p:nvSpPr>
        <p:spPr>
          <a:xfrm>
            <a:off x="365760" y="1828800"/>
            <a:ext cx="457200" cy="457200"/>
          </a:xfrm>
          <a:prstGeom prst="rect">
            <a:avLst/>
          </a:prstGeom>
          <a:noFill/>
          <a:ln/>
        </p:spPr>
        <p:txBody>
          <a:bodyPr wrap="square" rtlCol="0" anchor="ctr"/>
          <a:lstStyle/>
          <a:p>
            <a:pPr marL="0" indent="0" algn="ctr">
              <a:buNone/>
            </a:pPr>
            <a:r>
              <a:rPr lang="en-US" sz="1800" b="1" dirty="0">
                <a:solidFill>
                  <a:srgbClr val="FFFFFF"/>
                </a:solidFill>
              </a:rPr>
              <a:t>1</a:t>
            </a:r>
            <a:endParaRPr lang="en-US" sz="1800" dirty="0"/>
          </a:p>
        </p:txBody>
      </p:sp>
      <p:sp>
        <p:nvSpPr>
          <p:cNvPr id="9" name="Text 7"/>
          <p:cNvSpPr/>
          <p:nvPr/>
        </p:nvSpPr>
        <p:spPr>
          <a:xfrm>
            <a:off x="960120" y="1865376"/>
            <a:ext cx="7772400" cy="256032"/>
          </a:xfrm>
          <a:prstGeom prst="rect">
            <a:avLst/>
          </a:prstGeom>
          <a:noFill/>
          <a:ln/>
        </p:spPr>
        <p:txBody>
          <a:bodyPr wrap="square" rtlCol="0" anchor="ctr"/>
          <a:lstStyle/>
          <a:p>
            <a:pPr marL="0" indent="0">
              <a:buNone/>
            </a:pPr>
            <a:r>
              <a:rPr lang="en-US" sz="1300" b="1" dirty="0">
                <a:solidFill>
                  <a:srgbClr val="FFFFFF"/>
                </a:solidFill>
              </a:rPr>
              <a:t>Pilot Onboarding</a:t>
            </a:r>
            <a:endParaRPr lang="en-US" sz="1300" dirty="0"/>
          </a:p>
        </p:txBody>
      </p:sp>
      <p:sp>
        <p:nvSpPr>
          <p:cNvPr id="10" name="Text 8"/>
          <p:cNvSpPr/>
          <p:nvPr/>
        </p:nvSpPr>
        <p:spPr>
          <a:xfrm>
            <a:off x="960120" y="2130552"/>
            <a:ext cx="7772400" cy="365760"/>
          </a:xfrm>
          <a:prstGeom prst="rect">
            <a:avLst/>
          </a:prstGeom>
          <a:noFill/>
          <a:ln/>
        </p:spPr>
        <p:txBody>
          <a:bodyPr wrap="square" rtlCol="0" anchor="ctr"/>
          <a:lstStyle/>
          <a:p>
            <a:pPr marL="0" indent="0">
              <a:buNone/>
            </a:pPr>
            <a:r>
              <a:rPr lang="en-US" sz="950" dirty="0">
                <a:solidFill>
                  <a:srgbClr val="94A3B8"/>
                </a:solidFill>
              </a:rPr>
              <a:t>Select 1–2 projects for 2-week pilot. Team submits diaries + handovers via ShiftBuddy only.</a:t>
            </a:r>
            <a:endParaRPr lang="en-US" sz="950" dirty="0"/>
          </a:p>
        </p:txBody>
      </p:sp>
      <p:sp>
        <p:nvSpPr>
          <p:cNvPr id="11" name="Shape 9"/>
          <p:cNvSpPr/>
          <p:nvPr/>
        </p:nvSpPr>
        <p:spPr>
          <a:xfrm>
            <a:off x="365760" y="2596896"/>
            <a:ext cx="457200" cy="457200"/>
          </a:xfrm>
          <a:prstGeom prst="ellipse">
            <a:avLst/>
          </a:prstGeom>
          <a:solidFill>
            <a:srgbClr val="4F46E5"/>
          </a:solidFill>
          <a:ln w="12700">
            <a:solidFill>
              <a:srgbClr val="4F46E5"/>
            </a:solidFill>
            <a:prstDash val="solid"/>
          </a:ln>
        </p:spPr>
        <p:txBody>
          <a:bodyPr/>
          <a:lstStyle/>
          <a:p>
            <a:endParaRPr lang="en-US"/>
          </a:p>
        </p:txBody>
      </p:sp>
      <p:sp>
        <p:nvSpPr>
          <p:cNvPr id="12" name="Text 10"/>
          <p:cNvSpPr/>
          <p:nvPr/>
        </p:nvSpPr>
        <p:spPr>
          <a:xfrm>
            <a:off x="365760" y="2596896"/>
            <a:ext cx="457200" cy="457200"/>
          </a:xfrm>
          <a:prstGeom prst="rect">
            <a:avLst/>
          </a:prstGeom>
          <a:noFill/>
          <a:ln/>
        </p:spPr>
        <p:txBody>
          <a:bodyPr wrap="square" rtlCol="0" anchor="ctr"/>
          <a:lstStyle/>
          <a:p>
            <a:pPr marL="0" indent="0" algn="ctr">
              <a:buNone/>
            </a:pPr>
            <a:r>
              <a:rPr lang="en-US" sz="1800" b="1" dirty="0">
                <a:solidFill>
                  <a:srgbClr val="FFFFFF"/>
                </a:solidFill>
              </a:rPr>
              <a:t>2</a:t>
            </a:r>
            <a:endParaRPr lang="en-US" sz="1800" dirty="0"/>
          </a:p>
        </p:txBody>
      </p:sp>
      <p:sp>
        <p:nvSpPr>
          <p:cNvPr id="13" name="Text 11"/>
          <p:cNvSpPr/>
          <p:nvPr/>
        </p:nvSpPr>
        <p:spPr>
          <a:xfrm>
            <a:off x="960120" y="2633472"/>
            <a:ext cx="7772400" cy="256032"/>
          </a:xfrm>
          <a:prstGeom prst="rect">
            <a:avLst/>
          </a:prstGeom>
          <a:noFill/>
          <a:ln/>
        </p:spPr>
        <p:txBody>
          <a:bodyPr wrap="square" rtlCol="0" anchor="ctr"/>
          <a:lstStyle/>
          <a:p>
            <a:pPr marL="0" indent="0">
              <a:buNone/>
            </a:pPr>
            <a:r>
              <a:rPr lang="en-US" sz="1300" b="1" dirty="0">
                <a:solidFill>
                  <a:srgbClr val="FFFFFF"/>
                </a:solidFill>
              </a:rPr>
              <a:t>Role Configuration</a:t>
            </a:r>
            <a:endParaRPr lang="en-US" sz="1300" dirty="0"/>
          </a:p>
        </p:txBody>
      </p:sp>
      <p:sp>
        <p:nvSpPr>
          <p:cNvPr id="14" name="Text 12"/>
          <p:cNvSpPr/>
          <p:nvPr/>
        </p:nvSpPr>
        <p:spPr>
          <a:xfrm>
            <a:off x="960120" y="2898648"/>
            <a:ext cx="7772400" cy="365760"/>
          </a:xfrm>
          <a:prstGeom prst="rect">
            <a:avLst/>
          </a:prstGeom>
          <a:noFill/>
          <a:ln/>
        </p:spPr>
        <p:txBody>
          <a:bodyPr wrap="square" rtlCol="0" anchor="ctr"/>
          <a:lstStyle/>
          <a:p>
            <a:pPr marL="0" indent="0">
              <a:buNone/>
            </a:pPr>
            <a:r>
              <a:rPr lang="en-US" sz="950" dirty="0">
                <a:solidFill>
                  <a:srgbClr val="94A3B8"/>
                </a:solidFill>
              </a:rPr>
              <a:t>Set up user accounts and assign roles: Contractor, Lead, Manager, Client Stakeholder.</a:t>
            </a:r>
            <a:endParaRPr lang="en-US" sz="950" dirty="0"/>
          </a:p>
        </p:txBody>
      </p:sp>
      <p:sp>
        <p:nvSpPr>
          <p:cNvPr id="15" name="Shape 13"/>
          <p:cNvSpPr/>
          <p:nvPr/>
        </p:nvSpPr>
        <p:spPr>
          <a:xfrm>
            <a:off x="365760" y="3364992"/>
            <a:ext cx="457200" cy="457200"/>
          </a:xfrm>
          <a:prstGeom prst="ellipse">
            <a:avLst/>
          </a:prstGeom>
          <a:solidFill>
            <a:srgbClr val="4F46E5"/>
          </a:solidFill>
          <a:ln w="12700">
            <a:solidFill>
              <a:srgbClr val="4F46E5"/>
            </a:solidFill>
            <a:prstDash val="solid"/>
          </a:ln>
        </p:spPr>
        <p:txBody>
          <a:bodyPr/>
          <a:lstStyle/>
          <a:p>
            <a:endParaRPr lang="en-US"/>
          </a:p>
        </p:txBody>
      </p:sp>
      <p:sp>
        <p:nvSpPr>
          <p:cNvPr id="16" name="Text 14"/>
          <p:cNvSpPr/>
          <p:nvPr/>
        </p:nvSpPr>
        <p:spPr>
          <a:xfrm>
            <a:off x="365760" y="3364992"/>
            <a:ext cx="457200" cy="457200"/>
          </a:xfrm>
          <a:prstGeom prst="rect">
            <a:avLst/>
          </a:prstGeom>
          <a:noFill/>
          <a:ln/>
        </p:spPr>
        <p:txBody>
          <a:bodyPr wrap="square" rtlCol="0" anchor="ctr"/>
          <a:lstStyle/>
          <a:p>
            <a:pPr marL="0" indent="0" algn="ctr">
              <a:buNone/>
            </a:pPr>
            <a:r>
              <a:rPr lang="en-US" sz="1800" b="1" dirty="0">
                <a:solidFill>
                  <a:srgbClr val="FFFFFF"/>
                </a:solidFill>
              </a:rPr>
              <a:t>3</a:t>
            </a:r>
            <a:endParaRPr lang="en-US" sz="1800" dirty="0"/>
          </a:p>
        </p:txBody>
      </p:sp>
      <p:sp>
        <p:nvSpPr>
          <p:cNvPr id="17" name="Text 15"/>
          <p:cNvSpPr/>
          <p:nvPr/>
        </p:nvSpPr>
        <p:spPr>
          <a:xfrm>
            <a:off x="960120" y="3401568"/>
            <a:ext cx="7772400" cy="256032"/>
          </a:xfrm>
          <a:prstGeom prst="rect">
            <a:avLst/>
          </a:prstGeom>
          <a:noFill/>
          <a:ln/>
        </p:spPr>
        <p:txBody>
          <a:bodyPr wrap="square" rtlCol="0" anchor="ctr"/>
          <a:lstStyle/>
          <a:p>
            <a:pPr marL="0" indent="0">
              <a:buNone/>
            </a:pPr>
            <a:r>
              <a:rPr lang="en-US" sz="1300" b="1" dirty="0">
                <a:solidFill>
                  <a:srgbClr val="FFFFFF"/>
                </a:solidFill>
              </a:rPr>
              <a:t>Roster Migration</a:t>
            </a:r>
            <a:endParaRPr lang="en-US" sz="1300" dirty="0"/>
          </a:p>
        </p:txBody>
      </p:sp>
      <p:sp>
        <p:nvSpPr>
          <p:cNvPr id="18" name="Text 16"/>
          <p:cNvSpPr/>
          <p:nvPr/>
        </p:nvSpPr>
        <p:spPr>
          <a:xfrm>
            <a:off x="960120" y="3666744"/>
            <a:ext cx="7772400" cy="365760"/>
          </a:xfrm>
          <a:prstGeom prst="rect">
            <a:avLst/>
          </a:prstGeom>
          <a:noFill/>
          <a:ln/>
        </p:spPr>
        <p:txBody>
          <a:bodyPr wrap="square" rtlCol="0" anchor="ctr"/>
          <a:lstStyle/>
          <a:p>
            <a:pPr marL="0" indent="0">
              <a:buNone/>
            </a:pPr>
            <a:r>
              <a:rPr lang="en-US" sz="950" dirty="0">
                <a:solidFill>
                  <a:srgbClr val="94A3B8"/>
                </a:solidFill>
              </a:rPr>
              <a:t>Import current Excel roster into Roster Planner. Historical SNOW incidents via CSV bulk-load.</a:t>
            </a:r>
            <a:endParaRPr lang="en-US" sz="950" dirty="0"/>
          </a:p>
        </p:txBody>
      </p:sp>
      <p:sp>
        <p:nvSpPr>
          <p:cNvPr id="19" name="Shape 17"/>
          <p:cNvSpPr/>
          <p:nvPr/>
        </p:nvSpPr>
        <p:spPr>
          <a:xfrm>
            <a:off x="365760" y="4133088"/>
            <a:ext cx="457200" cy="457200"/>
          </a:xfrm>
          <a:prstGeom prst="ellipse">
            <a:avLst/>
          </a:prstGeom>
          <a:solidFill>
            <a:srgbClr val="4F46E5"/>
          </a:solidFill>
          <a:ln w="12700">
            <a:solidFill>
              <a:srgbClr val="4F46E5"/>
            </a:solidFill>
            <a:prstDash val="solid"/>
          </a:ln>
        </p:spPr>
        <p:txBody>
          <a:bodyPr/>
          <a:lstStyle/>
          <a:p>
            <a:endParaRPr lang="en-US"/>
          </a:p>
        </p:txBody>
      </p:sp>
      <p:sp>
        <p:nvSpPr>
          <p:cNvPr id="20" name="Text 18"/>
          <p:cNvSpPr/>
          <p:nvPr/>
        </p:nvSpPr>
        <p:spPr>
          <a:xfrm>
            <a:off x="365760" y="4133088"/>
            <a:ext cx="457200" cy="457200"/>
          </a:xfrm>
          <a:prstGeom prst="rect">
            <a:avLst/>
          </a:prstGeom>
          <a:noFill/>
          <a:ln/>
        </p:spPr>
        <p:txBody>
          <a:bodyPr wrap="square" rtlCol="0" anchor="ctr"/>
          <a:lstStyle/>
          <a:p>
            <a:pPr marL="0" indent="0" algn="ctr">
              <a:buNone/>
            </a:pPr>
            <a:r>
              <a:rPr lang="en-US" sz="1800" b="1" dirty="0">
                <a:solidFill>
                  <a:srgbClr val="FFFFFF"/>
                </a:solidFill>
              </a:rPr>
              <a:t>4</a:t>
            </a:r>
            <a:endParaRPr lang="en-US" sz="1800" dirty="0"/>
          </a:p>
        </p:txBody>
      </p:sp>
      <p:sp>
        <p:nvSpPr>
          <p:cNvPr id="21" name="Text 19"/>
          <p:cNvSpPr/>
          <p:nvPr/>
        </p:nvSpPr>
        <p:spPr>
          <a:xfrm>
            <a:off x="960120" y="4169664"/>
            <a:ext cx="7772400" cy="256032"/>
          </a:xfrm>
          <a:prstGeom prst="rect">
            <a:avLst/>
          </a:prstGeom>
          <a:noFill/>
          <a:ln/>
        </p:spPr>
        <p:txBody>
          <a:bodyPr wrap="square" rtlCol="0" anchor="ctr"/>
          <a:lstStyle/>
          <a:p>
            <a:pPr marL="0" indent="0">
              <a:buNone/>
            </a:pPr>
            <a:r>
              <a:rPr lang="en-US" sz="1300" b="1" dirty="0">
                <a:solidFill>
                  <a:srgbClr val="FFFFFF"/>
                </a:solidFill>
              </a:rPr>
              <a:t>Analytics Baseline</a:t>
            </a:r>
            <a:endParaRPr lang="en-US" sz="1300" dirty="0"/>
          </a:p>
        </p:txBody>
      </p:sp>
      <p:sp>
        <p:nvSpPr>
          <p:cNvPr id="22" name="Text 20"/>
          <p:cNvSpPr/>
          <p:nvPr/>
        </p:nvSpPr>
        <p:spPr>
          <a:xfrm>
            <a:off x="960120" y="4434840"/>
            <a:ext cx="7772400" cy="365760"/>
          </a:xfrm>
          <a:prstGeom prst="rect">
            <a:avLst/>
          </a:prstGeom>
          <a:noFill/>
          <a:ln/>
        </p:spPr>
        <p:txBody>
          <a:bodyPr wrap="square" rtlCol="0" anchor="ctr"/>
          <a:lstStyle/>
          <a:p>
            <a:pPr marL="0" indent="0">
              <a:buNone/>
            </a:pPr>
            <a:r>
              <a:rPr lang="en-US" sz="950" dirty="0">
                <a:solidFill>
                  <a:srgbClr val="94A3B8"/>
                </a:solidFill>
              </a:rPr>
              <a:t>Review first weekly analytics report vs last month's manual Excel figures side by side.</a:t>
            </a:r>
            <a:endParaRPr lang="en-US" sz="950" dirty="0"/>
          </a:p>
        </p:txBody>
      </p:sp>
      <p:sp>
        <p:nvSpPr>
          <p:cNvPr id="23" name="Text 21"/>
          <p:cNvSpPr/>
          <p:nvPr/>
        </p:nvSpPr>
        <p:spPr>
          <a:xfrm>
            <a:off x="365760" y="4773168"/>
            <a:ext cx="2743200" cy="292608"/>
          </a:xfrm>
          <a:prstGeom prst="rect">
            <a:avLst/>
          </a:prstGeom>
          <a:noFill/>
          <a:ln/>
        </p:spPr>
        <p:txBody>
          <a:bodyPr wrap="square" rtlCol="0" anchor="ctr"/>
          <a:lstStyle/>
          <a:p>
            <a:pPr marL="0" indent="0">
              <a:buNone/>
            </a:pPr>
            <a:r>
              <a:rPr lang="en-US" sz="1400" i="1" dirty="0">
                <a:solidFill>
                  <a:srgbClr val="6EE7B7"/>
                </a:solidFill>
              </a:rPr>
              <a:t>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3291</TotalTime>
  <Words>2878</Words>
  <Application>Microsoft Macintosh PowerPoint</Application>
  <PresentationFormat>Widescreen</PresentationFormat>
  <Paragraphs>415</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11017</cp:lastModifiedBy>
  <cp:revision>2</cp:revision>
  <dcterms:created xsi:type="dcterms:W3CDTF">2026-05-28T12:39:55Z</dcterms:created>
  <dcterms:modified xsi:type="dcterms:W3CDTF">2026-05-30T19:36:09Z</dcterms:modified>
</cp:coreProperties>
</file>